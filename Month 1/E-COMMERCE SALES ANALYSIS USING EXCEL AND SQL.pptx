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912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770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34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5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762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723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61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102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81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36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7181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53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8123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527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512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63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B944B-C83B-477F-8432-E41E3DD2BA15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BC44369-D8D6-4CD2-AE0D-6FD89C140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5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  <p:sldLayoutId id="2147483951" r:id="rId13"/>
    <p:sldLayoutId id="2147483952" r:id="rId14"/>
    <p:sldLayoutId id="2147483953" r:id="rId15"/>
    <p:sldLayoutId id="214748395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86A5-DDE4-AE46-69C2-82DE3E002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2" y="757084"/>
            <a:ext cx="9047746" cy="1456727"/>
          </a:xfrm>
        </p:spPr>
        <p:txBody>
          <a:bodyPr/>
          <a:lstStyle/>
          <a:p>
            <a:pPr algn="ctr"/>
            <a:r>
              <a:rPr lang="en-I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 SALES ANALYSIS USING EXCEL AND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E1742-DFC8-CC3E-F1FF-97A2F5B96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8513" y="4644190"/>
            <a:ext cx="2743201" cy="1065506"/>
          </a:xfr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SUMBITTED BY :</a:t>
            </a:r>
          </a:p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TEAM 1</a:t>
            </a:r>
          </a:p>
        </p:txBody>
      </p:sp>
      <p:pic>
        <p:nvPicPr>
          <p:cNvPr id="5" name="Picture 4" descr="Excel | Prism">
            <a:extLst>
              <a:ext uri="{FF2B5EF4-FFF2-40B4-BE49-F238E27FC236}">
                <a16:creationId xmlns:a16="http://schemas.microsoft.com/office/drawing/2014/main" id="{8EACB4E8-B8AA-B6E3-54A6-D58C67F2F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714" y="1602160"/>
            <a:ext cx="832289" cy="554859"/>
          </a:xfrm>
          <a:prstGeom prst="rect">
            <a:avLst/>
          </a:prstGeom>
        </p:spPr>
      </p:pic>
      <p:pic>
        <p:nvPicPr>
          <p:cNvPr id="6" name="Picture 5" descr="Iconic Logo Design For Sql Database App With, Drive, Access, Information  PNG Transparent Image and Clipart for Free Download">
            <a:extLst>
              <a:ext uri="{FF2B5EF4-FFF2-40B4-BE49-F238E27FC236}">
                <a16:creationId xmlns:a16="http://schemas.microsoft.com/office/drawing/2014/main" id="{312B9231-A56E-9B1C-D782-562A5B551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258" y="1485447"/>
            <a:ext cx="728364" cy="728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DE1325-BF24-0879-FBF8-4AA3071FEB7D}"/>
              </a:ext>
            </a:extLst>
          </p:cNvPr>
          <p:cNvSpPr txBox="1"/>
          <p:nvPr/>
        </p:nvSpPr>
        <p:spPr>
          <a:xfrm>
            <a:off x="3786139" y="2824858"/>
            <a:ext cx="3283974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MAINPROJECT</a:t>
            </a:r>
          </a:p>
        </p:txBody>
      </p:sp>
    </p:spTree>
    <p:extLst>
      <p:ext uri="{BB962C8B-B14F-4D97-AF65-F5344CB8AC3E}">
        <p14:creationId xmlns:p14="http://schemas.microsoft.com/office/powerpoint/2010/main" val="425708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21AB-FA2B-BB21-FC27-B1D3720D7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4" y="344690"/>
            <a:ext cx="8596668" cy="47194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DBAEF-6A58-D4C4-E3D4-32690F262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40543"/>
            <a:ext cx="5693969" cy="490082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e-commerce sales, customers, products, and inventory data.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real-world business transactions and customer purchase information.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was used for data cleaning, calculations, pivot tables, and dashboard creation.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was used to query and analyze large volumes of data efficiently.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convert raw data into meaningful business insights.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Various KPIs were created to evaluate business performance.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 output helps management make data-driven decisions.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nventory Generic color lineal-color icon | Freepik">
            <a:extLst>
              <a:ext uri="{FF2B5EF4-FFF2-40B4-BE49-F238E27FC236}">
                <a16:creationId xmlns:a16="http://schemas.microsoft.com/office/drawing/2014/main" id="{2DEC8969-E955-C6FB-3EDD-7DC59DB19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040" y="1567468"/>
            <a:ext cx="2684546" cy="258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3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4BC1-8EE2-B877-9B85-1CCBAF11E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28" y="344129"/>
            <a:ext cx="8596668" cy="64892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913F6-9AD4-60CC-EE8D-54EB38E5D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6013"/>
            <a:ext cx="5320343" cy="4635349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sales performance across different product categories.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high-value customers based on spending patterns.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impact of discounts on overall revenue.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inventory levels and identify stock shortages.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customer purchasing behavior and trends.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visual dashboards for easy business monitoring.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actionable insights for improving profitability.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Objectives Images - Free Download on Magnific (formerly Freepik)">
            <a:extLst>
              <a:ext uri="{FF2B5EF4-FFF2-40B4-BE49-F238E27FC236}">
                <a16:creationId xmlns:a16="http://schemas.microsoft.com/office/drawing/2014/main" id="{BEDA9D21-E22D-59BD-FA98-CDAE041B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839" y="1406013"/>
            <a:ext cx="2686357" cy="269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50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ADB7-E319-3605-C5EB-CA014FD62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96" y="236535"/>
            <a:ext cx="8596668" cy="58010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5CB18-5529-1DF2-F64C-991362613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1149"/>
            <a:ext cx="6106924" cy="4350214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an E-Commerce dataset consisting of customer, product, and sales information.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Sales table contains transaction details such as order date, quantity, and revenue.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table contains customer demographics and purchasing history.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Product table includes category, price, stock quantity, and ratings.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summary data is used for trend and performance analysis.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contains more than 500 records and multiple business attributes.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tables are interconnected to support comprehensive analysis.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735440-EB97-648E-83BF-A47F0525E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258" y="2454441"/>
            <a:ext cx="3434563" cy="271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8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8ACC-672E-8C19-7147-42B099991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40" y="344690"/>
            <a:ext cx="8596668" cy="47194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3B642-9975-A607-4BE6-3CE8730C4D96}"/>
              </a:ext>
            </a:extLst>
          </p:cNvPr>
          <p:cNvSpPr/>
          <p:nvPr/>
        </p:nvSpPr>
        <p:spPr>
          <a:xfrm>
            <a:off x="6867835" y="2254606"/>
            <a:ext cx="2172929" cy="7417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 CHECK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073AB-B626-FFCE-3FC2-F71CE48BA614}"/>
              </a:ext>
            </a:extLst>
          </p:cNvPr>
          <p:cNvSpPr/>
          <p:nvPr/>
        </p:nvSpPr>
        <p:spPr>
          <a:xfrm>
            <a:off x="3996814" y="1155852"/>
            <a:ext cx="2172929" cy="7417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DATASET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EFEF1D-5F20-37EC-5FBA-2A61348EA930}"/>
              </a:ext>
            </a:extLst>
          </p:cNvPr>
          <p:cNvSpPr/>
          <p:nvPr/>
        </p:nvSpPr>
        <p:spPr>
          <a:xfrm>
            <a:off x="6867835" y="4434348"/>
            <a:ext cx="2172929" cy="7417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06318-23BE-A100-D93D-48511848144C}"/>
              </a:ext>
            </a:extLst>
          </p:cNvPr>
          <p:cNvSpPr/>
          <p:nvPr/>
        </p:nvSpPr>
        <p:spPr>
          <a:xfrm>
            <a:off x="639098" y="2254606"/>
            <a:ext cx="2172929" cy="7417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CALCULATED COLUMNS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6D6AA9-E077-C06E-9800-9D6EC99B6FD5}"/>
              </a:ext>
            </a:extLst>
          </p:cNvPr>
          <p:cNvSpPr/>
          <p:nvPr/>
        </p:nvSpPr>
        <p:spPr>
          <a:xfrm>
            <a:off x="3996811" y="3320007"/>
            <a:ext cx="2172929" cy="7417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DATASET READY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4AA38-22B4-789D-A607-58DFE14865CC}"/>
              </a:ext>
            </a:extLst>
          </p:cNvPr>
          <p:cNvSpPr/>
          <p:nvPr/>
        </p:nvSpPr>
        <p:spPr>
          <a:xfrm>
            <a:off x="639097" y="4434348"/>
            <a:ext cx="2172929" cy="7417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9F8B9-EB04-CF56-8006-9033B5D90FF2}"/>
              </a:ext>
            </a:extLst>
          </p:cNvPr>
          <p:cNvSpPr/>
          <p:nvPr/>
        </p:nvSpPr>
        <p:spPr>
          <a:xfrm>
            <a:off x="3996811" y="5588520"/>
            <a:ext cx="2172929" cy="74177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FORMAT STANDARDIZATION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DE2CF8-1A4C-C65F-9AF8-68C1AD9D7D5F}"/>
              </a:ext>
            </a:extLst>
          </p:cNvPr>
          <p:cNvCxnSpPr>
            <a:stCxn id="5" idx="3"/>
          </p:cNvCxnSpPr>
          <p:nvPr/>
        </p:nvCxnSpPr>
        <p:spPr>
          <a:xfrm>
            <a:off x="6169743" y="1526739"/>
            <a:ext cx="3392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386ACC-3403-8ED4-E921-6883396BFC58}"/>
              </a:ext>
            </a:extLst>
          </p:cNvPr>
          <p:cNvCxnSpPr/>
          <p:nvPr/>
        </p:nvCxnSpPr>
        <p:spPr>
          <a:xfrm>
            <a:off x="9040764" y="2625493"/>
            <a:ext cx="3392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356119-B9F3-A010-E4F3-75EAEA30C21F}"/>
              </a:ext>
            </a:extLst>
          </p:cNvPr>
          <p:cNvCxnSpPr/>
          <p:nvPr/>
        </p:nvCxnSpPr>
        <p:spPr>
          <a:xfrm>
            <a:off x="2812026" y="4768645"/>
            <a:ext cx="3392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51BC37-7E2E-9767-CED9-27764065AB2D}"/>
              </a:ext>
            </a:extLst>
          </p:cNvPr>
          <p:cNvCxnSpPr/>
          <p:nvPr/>
        </p:nvCxnSpPr>
        <p:spPr>
          <a:xfrm>
            <a:off x="6169740" y="3690894"/>
            <a:ext cx="3392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4D5DD8-01B7-E7D9-BC24-3DCC0D88C8C1}"/>
              </a:ext>
            </a:extLst>
          </p:cNvPr>
          <p:cNvCxnSpPr/>
          <p:nvPr/>
        </p:nvCxnSpPr>
        <p:spPr>
          <a:xfrm>
            <a:off x="6169740" y="6029913"/>
            <a:ext cx="3392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F6B1A7-47E3-69CA-C5DF-B129AB6ACB89}"/>
              </a:ext>
            </a:extLst>
          </p:cNvPr>
          <p:cNvCxnSpPr/>
          <p:nvPr/>
        </p:nvCxnSpPr>
        <p:spPr>
          <a:xfrm>
            <a:off x="9040764" y="4822160"/>
            <a:ext cx="3392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911B1B0-44E7-BC80-ED19-E897E8CCE435}"/>
              </a:ext>
            </a:extLst>
          </p:cNvPr>
          <p:cNvCxnSpPr/>
          <p:nvPr/>
        </p:nvCxnSpPr>
        <p:spPr>
          <a:xfrm>
            <a:off x="2812026" y="2514881"/>
            <a:ext cx="33921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B5276C5-7032-0509-5DF9-FE26EBAB5C57}"/>
              </a:ext>
            </a:extLst>
          </p:cNvPr>
          <p:cNvSpPr txBox="1"/>
          <p:nvPr/>
        </p:nvSpPr>
        <p:spPr>
          <a:xfrm>
            <a:off x="6744929" y="1229032"/>
            <a:ext cx="2064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Customer, Product, Sales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04C186-7C95-69CE-F1C3-7567505186B6}"/>
              </a:ext>
            </a:extLst>
          </p:cNvPr>
          <p:cNvSpPr txBox="1"/>
          <p:nvPr/>
        </p:nvSpPr>
        <p:spPr>
          <a:xfrm>
            <a:off x="3151236" y="4543625"/>
            <a:ext cx="2064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accuracy and consistency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0845F0-9196-2625-D7BA-DCC80302B182}"/>
              </a:ext>
            </a:extLst>
          </p:cNvPr>
          <p:cNvSpPr txBox="1"/>
          <p:nvPr/>
        </p:nvSpPr>
        <p:spPr>
          <a:xfrm>
            <a:off x="6617107" y="5807074"/>
            <a:ext cx="2064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date and number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Formates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C83350-ECB4-7DDF-0B07-661EF11C6661}"/>
              </a:ext>
            </a:extLst>
          </p:cNvPr>
          <p:cNvSpPr txBox="1"/>
          <p:nvPr/>
        </p:nvSpPr>
        <p:spPr>
          <a:xfrm>
            <a:off x="9379974" y="4543625"/>
            <a:ext cx="2064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repeated records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4A2ACB-79D0-D3BE-3956-59CC786C380D}"/>
              </a:ext>
            </a:extLst>
          </p:cNvPr>
          <p:cNvSpPr txBox="1"/>
          <p:nvPr/>
        </p:nvSpPr>
        <p:spPr>
          <a:xfrm>
            <a:off x="3161356" y="2314375"/>
            <a:ext cx="20647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Profit, Revenue, Customer level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8B6BA2-96FE-8359-AEB1-DE4CB188291A}"/>
              </a:ext>
            </a:extLst>
          </p:cNvPr>
          <p:cNvSpPr txBox="1"/>
          <p:nvPr/>
        </p:nvSpPr>
        <p:spPr>
          <a:xfrm>
            <a:off x="6508952" y="3503023"/>
            <a:ext cx="2064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Analysis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35AD57-E9AD-8B37-863C-852C183E4555}"/>
              </a:ext>
            </a:extLst>
          </p:cNvPr>
          <p:cNvSpPr txBox="1"/>
          <p:nvPr/>
        </p:nvSpPr>
        <p:spPr>
          <a:xfrm>
            <a:off x="9478297" y="2514881"/>
            <a:ext cx="1612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null values</a:t>
            </a:r>
          </a:p>
        </p:txBody>
      </p:sp>
    </p:spTree>
    <p:extLst>
      <p:ext uri="{BB962C8B-B14F-4D97-AF65-F5344CB8AC3E}">
        <p14:creationId xmlns:p14="http://schemas.microsoft.com/office/powerpoint/2010/main" val="1176393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6544-AE61-C08A-4EA7-B33A03B83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66" y="275304"/>
            <a:ext cx="8596668" cy="98322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ANALYSIS &amp; FORMULA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IMPLEMENTATAION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D7FF2E-65A4-F75F-F134-F43CC20BDB41}"/>
              </a:ext>
            </a:extLst>
          </p:cNvPr>
          <p:cNvSpPr/>
          <p:nvPr/>
        </p:nvSpPr>
        <p:spPr>
          <a:xfrm>
            <a:off x="382365" y="1823881"/>
            <a:ext cx="2075698" cy="105205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DATASET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0CC6B27-C51E-DCA2-F99B-5EA0F27D390B}"/>
              </a:ext>
            </a:extLst>
          </p:cNvPr>
          <p:cNvSpPr/>
          <p:nvPr/>
        </p:nvSpPr>
        <p:spPr>
          <a:xfrm>
            <a:off x="5585406" y="1809129"/>
            <a:ext cx="2237385" cy="105205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BULID PIVOT TABLES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7A8A480-B112-D7D8-01B5-FA1E8A359A67}"/>
              </a:ext>
            </a:extLst>
          </p:cNvPr>
          <p:cNvSpPr/>
          <p:nvPr/>
        </p:nvSpPr>
        <p:spPr>
          <a:xfrm>
            <a:off x="382365" y="5276499"/>
            <a:ext cx="2075698" cy="105205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NEW COLUMNS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2777FD-AF93-56D7-CCA0-57AB1DD67432}"/>
              </a:ext>
            </a:extLst>
          </p:cNvPr>
          <p:cNvSpPr/>
          <p:nvPr/>
        </p:nvSpPr>
        <p:spPr>
          <a:xfrm>
            <a:off x="382365" y="3473246"/>
            <a:ext cx="2075699" cy="105205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FORMULAS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48B1D7-4B9D-D42E-1DA8-CCDAFC41B650}"/>
              </a:ext>
            </a:extLst>
          </p:cNvPr>
          <p:cNvSpPr/>
          <p:nvPr/>
        </p:nvSpPr>
        <p:spPr>
          <a:xfrm>
            <a:off x="5585406" y="3473246"/>
            <a:ext cx="2237383" cy="105205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CHARTS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A8D7DC-90FA-CECE-195A-B5C523A5BCC7}"/>
              </a:ext>
            </a:extLst>
          </p:cNvPr>
          <p:cNvSpPr/>
          <p:nvPr/>
        </p:nvSpPr>
        <p:spPr>
          <a:xfrm>
            <a:off x="5585406" y="5276499"/>
            <a:ext cx="2215263" cy="105205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DASHBOARDS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3B6862-C51A-E029-47ED-7AB0CA4944B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2458063" y="2349906"/>
            <a:ext cx="3146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9F4701-070E-92B6-D258-970F3013B079}"/>
              </a:ext>
            </a:extLst>
          </p:cNvPr>
          <p:cNvCxnSpPr/>
          <p:nvPr/>
        </p:nvCxnSpPr>
        <p:spPr>
          <a:xfrm>
            <a:off x="2458061" y="3999271"/>
            <a:ext cx="3146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2D7D3C-8656-A23A-2BAB-E3DA25086CDB}"/>
              </a:ext>
            </a:extLst>
          </p:cNvPr>
          <p:cNvCxnSpPr/>
          <p:nvPr/>
        </p:nvCxnSpPr>
        <p:spPr>
          <a:xfrm>
            <a:off x="2458061" y="5802524"/>
            <a:ext cx="3146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6E4648-391C-DEF1-DB3B-8A6EF1DB38AB}"/>
              </a:ext>
            </a:extLst>
          </p:cNvPr>
          <p:cNvCxnSpPr/>
          <p:nvPr/>
        </p:nvCxnSpPr>
        <p:spPr>
          <a:xfrm>
            <a:off x="7837537" y="2335154"/>
            <a:ext cx="3146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5EF1E0-4F7B-914F-8945-83A0F637003D}"/>
              </a:ext>
            </a:extLst>
          </p:cNvPr>
          <p:cNvCxnSpPr/>
          <p:nvPr/>
        </p:nvCxnSpPr>
        <p:spPr>
          <a:xfrm>
            <a:off x="7837537" y="4011556"/>
            <a:ext cx="3146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90417C-1692-A929-F8DD-48955C045499}"/>
              </a:ext>
            </a:extLst>
          </p:cNvPr>
          <p:cNvCxnSpPr/>
          <p:nvPr/>
        </p:nvCxnSpPr>
        <p:spPr>
          <a:xfrm>
            <a:off x="7808043" y="5779876"/>
            <a:ext cx="3146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8526266-B6A5-D33F-F6AD-55170B89ADD7}"/>
              </a:ext>
            </a:extLst>
          </p:cNvPr>
          <p:cNvSpPr txBox="1"/>
          <p:nvPr/>
        </p:nvSpPr>
        <p:spPr>
          <a:xfrm>
            <a:off x="2879078" y="3786632"/>
            <a:ext cx="17993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Calculations, Discount Calculation, Profit estimation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16483E-1205-8C7F-8F01-806B998EEB06}"/>
              </a:ext>
            </a:extLst>
          </p:cNvPr>
          <p:cNvSpPr txBox="1"/>
          <p:nvPr/>
        </p:nvSpPr>
        <p:spPr>
          <a:xfrm>
            <a:off x="2881397" y="5629415"/>
            <a:ext cx="1799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Level, Age Group, Stock Status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E8726F-F1B7-1BC7-BADD-831A8F452C25}"/>
              </a:ext>
            </a:extLst>
          </p:cNvPr>
          <p:cNvSpPr txBox="1"/>
          <p:nvPr/>
        </p:nvSpPr>
        <p:spPr>
          <a:xfrm>
            <a:off x="8166918" y="2086803"/>
            <a:ext cx="1799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Summary, Customer Summary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09CC37-2549-3576-BCDE-41B11BD52237}"/>
              </a:ext>
            </a:extLst>
          </p:cNvPr>
          <p:cNvSpPr txBox="1"/>
          <p:nvPr/>
        </p:nvSpPr>
        <p:spPr>
          <a:xfrm>
            <a:off x="8152172" y="3787807"/>
            <a:ext cx="1799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 Trend ,  Product Performance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4DFDB1-61F1-51DE-1C75-FE2B2117AE9A}"/>
              </a:ext>
            </a:extLst>
          </p:cNvPr>
          <p:cNvSpPr txBox="1"/>
          <p:nvPr/>
        </p:nvSpPr>
        <p:spPr>
          <a:xfrm>
            <a:off x="8137425" y="5625987"/>
            <a:ext cx="17993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KPIs,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9F6BE8-3835-61AC-C731-A6FC83FB142A}"/>
              </a:ext>
            </a:extLst>
          </p:cNvPr>
          <p:cNvSpPr txBox="1"/>
          <p:nvPr/>
        </p:nvSpPr>
        <p:spPr>
          <a:xfrm>
            <a:off x="2772696" y="2194525"/>
            <a:ext cx="17993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dataset</a:t>
            </a:r>
          </a:p>
        </p:txBody>
      </p:sp>
    </p:spTree>
    <p:extLst>
      <p:ext uri="{BB962C8B-B14F-4D97-AF65-F5344CB8AC3E}">
        <p14:creationId xmlns:p14="http://schemas.microsoft.com/office/powerpoint/2010/main" val="403023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F2F7-482B-0EBA-CCA3-4F7357D36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86" y="285135"/>
            <a:ext cx="8596668" cy="6096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ANALYSIS PROCESS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A535CB1B-343E-A92E-86BE-231ACDBF2C80}"/>
              </a:ext>
            </a:extLst>
          </p:cNvPr>
          <p:cNvSpPr/>
          <p:nvPr/>
        </p:nvSpPr>
        <p:spPr>
          <a:xfrm>
            <a:off x="179206" y="1307690"/>
            <a:ext cx="9812594" cy="3234813"/>
          </a:xfrm>
          <a:prstGeom prst="homePlat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D50B8-1D90-BCAF-C1C0-ED726AD24FC3}"/>
              </a:ext>
            </a:extLst>
          </p:cNvPr>
          <p:cNvSpPr txBox="1"/>
          <p:nvPr/>
        </p:nvSpPr>
        <p:spPr>
          <a:xfrm>
            <a:off x="3130490" y="1976426"/>
            <a:ext cx="1504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Queries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F8AC0E-B912-1A0D-112F-9E9CD7821FB9}"/>
              </a:ext>
            </a:extLst>
          </p:cNvPr>
          <p:cNvSpPr txBox="1"/>
          <p:nvPr/>
        </p:nvSpPr>
        <p:spPr>
          <a:xfrm>
            <a:off x="4433263" y="2170946"/>
            <a:ext cx="1504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Filters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6751C-CE9D-5E4A-B732-5DADB92E00AB}"/>
              </a:ext>
            </a:extLst>
          </p:cNvPr>
          <p:cNvSpPr txBox="1"/>
          <p:nvPr/>
        </p:nvSpPr>
        <p:spPr>
          <a:xfrm>
            <a:off x="6724179" y="2741770"/>
            <a:ext cx="1504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Functions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49338-0AA6-C00B-EFFA-785D6A0A6548}"/>
              </a:ext>
            </a:extLst>
          </p:cNvPr>
          <p:cNvSpPr txBox="1"/>
          <p:nvPr/>
        </p:nvSpPr>
        <p:spPr>
          <a:xfrm>
            <a:off x="5584723" y="2484295"/>
            <a:ext cx="1504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F92B57-79E2-432B-0CC9-DE71898B5799}"/>
              </a:ext>
            </a:extLst>
          </p:cNvPr>
          <p:cNvSpPr txBox="1"/>
          <p:nvPr/>
        </p:nvSpPr>
        <p:spPr>
          <a:xfrm>
            <a:off x="8095779" y="3010068"/>
            <a:ext cx="1504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CCA644-D3CD-CF22-4C34-0779FF769272}"/>
              </a:ext>
            </a:extLst>
          </p:cNvPr>
          <p:cNvSpPr txBox="1"/>
          <p:nvPr/>
        </p:nvSpPr>
        <p:spPr>
          <a:xfrm>
            <a:off x="1747972" y="1717476"/>
            <a:ext cx="1504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5BD32-AE91-7087-E0A1-7CA1B0F90431}"/>
              </a:ext>
            </a:extLst>
          </p:cNvPr>
          <p:cNvSpPr txBox="1"/>
          <p:nvPr/>
        </p:nvSpPr>
        <p:spPr>
          <a:xfrm>
            <a:off x="268757" y="1548199"/>
            <a:ext cx="1504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Dataset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72C81B-37DE-F012-EEC7-8A199C6B8FA6}"/>
              </a:ext>
            </a:extLst>
          </p:cNvPr>
          <p:cNvCxnSpPr/>
          <p:nvPr/>
        </p:nvCxnSpPr>
        <p:spPr>
          <a:xfrm>
            <a:off x="1773092" y="1356852"/>
            <a:ext cx="0" cy="31856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2CF61B-1E5F-AF60-39A0-A6C3B211A756}"/>
              </a:ext>
            </a:extLst>
          </p:cNvPr>
          <p:cNvCxnSpPr/>
          <p:nvPr/>
        </p:nvCxnSpPr>
        <p:spPr>
          <a:xfrm>
            <a:off x="3165987" y="1356852"/>
            <a:ext cx="0" cy="31856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20D32D-B6FE-6698-4F68-3E18AFE9DE77}"/>
              </a:ext>
            </a:extLst>
          </p:cNvPr>
          <p:cNvCxnSpPr>
            <a:cxnSpLocks/>
          </p:cNvCxnSpPr>
          <p:nvPr/>
        </p:nvCxnSpPr>
        <p:spPr>
          <a:xfrm>
            <a:off x="4424516" y="1331609"/>
            <a:ext cx="17494" cy="32348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B2576A-CD58-3337-A076-4C44DF19723A}"/>
              </a:ext>
            </a:extLst>
          </p:cNvPr>
          <p:cNvCxnSpPr>
            <a:cxnSpLocks/>
          </p:cNvCxnSpPr>
          <p:nvPr/>
        </p:nvCxnSpPr>
        <p:spPr>
          <a:xfrm>
            <a:off x="5614219" y="1356852"/>
            <a:ext cx="0" cy="31856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D2D5844-612F-D141-E27A-B51224D1F6CF}"/>
              </a:ext>
            </a:extLst>
          </p:cNvPr>
          <p:cNvCxnSpPr>
            <a:cxnSpLocks/>
          </p:cNvCxnSpPr>
          <p:nvPr/>
        </p:nvCxnSpPr>
        <p:spPr>
          <a:xfrm>
            <a:off x="6794090" y="1331609"/>
            <a:ext cx="0" cy="32108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01360E-E066-BEDD-8B55-987D2AC622DD}"/>
              </a:ext>
            </a:extLst>
          </p:cNvPr>
          <p:cNvCxnSpPr>
            <a:cxnSpLocks/>
          </p:cNvCxnSpPr>
          <p:nvPr/>
        </p:nvCxnSpPr>
        <p:spPr>
          <a:xfrm>
            <a:off x="8032955" y="1331609"/>
            <a:ext cx="0" cy="32348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156E00E-050B-D21E-5EA3-10F3FEDE1C4B}"/>
              </a:ext>
            </a:extLst>
          </p:cNvPr>
          <p:cNvSpPr txBox="1"/>
          <p:nvPr/>
        </p:nvSpPr>
        <p:spPr>
          <a:xfrm>
            <a:off x="299362" y="2053370"/>
            <a:ext cx="1417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the given dataset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FABDC5-1952-FB4E-310D-C4B84A8921EB}"/>
              </a:ext>
            </a:extLst>
          </p:cNvPr>
          <p:cNvSpPr txBox="1"/>
          <p:nvPr/>
        </p:nvSpPr>
        <p:spPr>
          <a:xfrm>
            <a:off x="4430033" y="2835721"/>
            <a:ext cx="11186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Clause Filter Records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0D36E2-AB2A-3414-B4A4-FA575B9223AD}"/>
              </a:ext>
            </a:extLst>
          </p:cNvPr>
          <p:cNvSpPr txBox="1"/>
          <p:nvPr/>
        </p:nvSpPr>
        <p:spPr>
          <a:xfrm>
            <a:off x="5595139" y="3136055"/>
            <a:ext cx="1417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3DF468-06DC-48E6-6CA4-7367035C44C3}"/>
              </a:ext>
            </a:extLst>
          </p:cNvPr>
          <p:cNvSpPr txBox="1"/>
          <p:nvPr/>
        </p:nvSpPr>
        <p:spPr>
          <a:xfrm>
            <a:off x="6767349" y="3482771"/>
            <a:ext cx="1417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AVG()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DB7922-3327-9EAB-6F36-F6359D59EC4E}"/>
              </a:ext>
            </a:extLst>
          </p:cNvPr>
          <p:cNvSpPr txBox="1"/>
          <p:nvPr/>
        </p:nvSpPr>
        <p:spPr>
          <a:xfrm>
            <a:off x="8038473" y="2091089"/>
            <a:ext cx="1417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 profit Trends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322A86-F398-5142-08B5-9CAC3DD4FB3A}"/>
              </a:ext>
            </a:extLst>
          </p:cNvPr>
          <p:cNvSpPr txBox="1"/>
          <p:nvPr/>
        </p:nvSpPr>
        <p:spPr>
          <a:xfrm>
            <a:off x="1778610" y="2351561"/>
            <a:ext cx="1417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table, Product Table, Sales Table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CF00E9-0968-A9FA-6B9B-D4600690D2F1}"/>
              </a:ext>
            </a:extLst>
          </p:cNvPr>
          <p:cNvSpPr txBox="1"/>
          <p:nvPr/>
        </p:nvSpPr>
        <p:spPr>
          <a:xfrm>
            <a:off x="3157323" y="2629677"/>
            <a:ext cx="1417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Data</a:t>
            </a:r>
          </a:p>
        </p:txBody>
      </p:sp>
    </p:spTree>
    <p:extLst>
      <p:ext uri="{BB962C8B-B14F-4D97-AF65-F5344CB8AC3E}">
        <p14:creationId xmlns:p14="http://schemas.microsoft.com/office/powerpoint/2010/main" val="371625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AC93-EA46-65F1-413E-F094C4A17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205" y="265471"/>
            <a:ext cx="8596668" cy="69809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 KPI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9544C-B646-8345-3EC7-59AC87A67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7523"/>
            <a:ext cx="5625143" cy="4723839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KPI measures overall business income.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Total Orders KPI tracks the number of customer transactions.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KPI evaluates customer spending behavior.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 Selling Products KPI identifies best-performing products.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Return Rate KPI monitors product return performance.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 KPI categorizes customers based on spending.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 Status KPI helps prevent stock shortages and overstocking.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C89617-4FEF-2828-C8F3-89BBE35D768B}"/>
              </a:ext>
            </a:extLst>
          </p:cNvPr>
          <p:cNvSpPr/>
          <p:nvPr/>
        </p:nvSpPr>
        <p:spPr>
          <a:xfrm>
            <a:off x="7624917" y="1071155"/>
            <a:ext cx="1976284" cy="6980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163608-E5F9-60EA-4A47-189F62191CB0}"/>
              </a:ext>
            </a:extLst>
          </p:cNvPr>
          <p:cNvSpPr/>
          <p:nvPr/>
        </p:nvSpPr>
        <p:spPr>
          <a:xfrm>
            <a:off x="7624917" y="2064353"/>
            <a:ext cx="1976284" cy="6980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CALCULATION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1D3595-9A08-3DFF-4F66-ABB9E77A7FF2}"/>
              </a:ext>
            </a:extLst>
          </p:cNvPr>
          <p:cNvSpPr/>
          <p:nvPr/>
        </p:nvSpPr>
        <p:spPr>
          <a:xfrm>
            <a:off x="7624917" y="3057552"/>
            <a:ext cx="1976284" cy="6980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C2116C-EA55-B066-FCC1-BE5A6477BB35}"/>
              </a:ext>
            </a:extLst>
          </p:cNvPr>
          <p:cNvSpPr/>
          <p:nvPr/>
        </p:nvSpPr>
        <p:spPr>
          <a:xfrm>
            <a:off x="7624917" y="4050750"/>
            <a:ext cx="1976284" cy="6980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38C950-93A4-65A7-8A75-FAA13D3156E9}"/>
              </a:ext>
            </a:extLst>
          </p:cNvPr>
          <p:cNvSpPr/>
          <p:nvPr/>
        </p:nvSpPr>
        <p:spPr>
          <a:xfrm>
            <a:off x="7624917" y="5043948"/>
            <a:ext cx="1976284" cy="6980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AC768FF-9C39-3D1A-8590-703071841EF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613059" y="1769245"/>
            <a:ext cx="0" cy="295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7BB5AA-6F75-E284-7CB9-BBCBE218C2AD}"/>
              </a:ext>
            </a:extLst>
          </p:cNvPr>
          <p:cNvCxnSpPr/>
          <p:nvPr/>
        </p:nvCxnSpPr>
        <p:spPr>
          <a:xfrm>
            <a:off x="8593395" y="2762443"/>
            <a:ext cx="0" cy="295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6FDB94-616A-7981-A366-B1CA9CF683FD}"/>
              </a:ext>
            </a:extLst>
          </p:cNvPr>
          <p:cNvCxnSpPr/>
          <p:nvPr/>
        </p:nvCxnSpPr>
        <p:spPr>
          <a:xfrm>
            <a:off x="8524569" y="3755642"/>
            <a:ext cx="0" cy="295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B93768-D09E-4940-2CE7-89B764DA7C90}"/>
              </a:ext>
            </a:extLst>
          </p:cNvPr>
          <p:cNvCxnSpPr/>
          <p:nvPr/>
        </p:nvCxnSpPr>
        <p:spPr>
          <a:xfrm>
            <a:off x="8524569" y="4748840"/>
            <a:ext cx="0" cy="2951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742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7F6D-63CC-4D92-2182-9E91FAD82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85" y="383458"/>
            <a:ext cx="8596668" cy="599768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407D9-C490-FEED-1424-F8D626AF4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6181"/>
            <a:ext cx="5222021" cy="4645181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customers contribute a significant portion of total revenue.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and fashion categories generate the highest sales.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campaigns increase customer purchase frequency.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delivery positively impacts customer satisfaction.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products experience frequent stock shortages.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is higher among loyalty program members.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sales trends reveal seasonal demand fluctuations.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320C44-210A-4190-CDB5-7B4B67085547}"/>
              </a:ext>
            </a:extLst>
          </p:cNvPr>
          <p:cNvSpPr/>
          <p:nvPr/>
        </p:nvSpPr>
        <p:spPr>
          <a:xfrm>
            <a:off x="7016406" y="958646"/>
            <a:ext cx="2194776" cy="81607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BOX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C755B8-8EB5-0E11-4747-EED7A8740220}"/>
              </a:ext>
            </a:extLst>
          </p:cNvPr>
          <p:cNvSpPr/>
          <p:nvPr/>
        </p:nvSpPr>
        <p:spPr>
          <a:xfrm>
            <a:off x="7016406" y="2069692"/>
            <a:ext cx="2194776" cy="81607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BOX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04E57C-6946-DE35-4FDE-170DC9BDCB84}"/>
              </a:ext>
            </a:extLst>
          </p:cNvPr>
          <p:cNvSpPr/>
          <p:nvPr/>
        </p:nvSpPr>
        <p:spPr>
          <a:xfrm>
            <a:off x="7030064" y="3283975"/>
            <a:ext cx="2194776" cy="81607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BOX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FA25C7-61CB-59A4-77FF-AE4350F1959A}"/>
              </a:ext>
            </a:extLst>
          </p:cNvPr>
          <p:cNvSpPr/>
          <p:nvPr/>
        </p:nvSpPr>
        <p:spPr>
          <a:xfrm>
            <a:off x="7030064" y="4498258"/>
            <a:ext cx="2194776" cy="81607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BOX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471B75-BAAA-E041-D273-43BBF35A39C1}"/>
              </a:ext>
            </a:extLst>
          </p:cNvPr>
          <p:cNvSpPr/>
          <p:nvPr/>
        </p:nvSpPr>
        <p:spPr>
          <a:xfrm>
            <a:off x="7030064" y="5609304"/>
            <a:ext cx="2194776" cy="81607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BOX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248A72-2845-5C36-93D0-A86970C0728D}"/>
              </a:ext>
            </a:extLst>
          </p:cNvPr>
          <p:cNvCxnSpPr>
            <a:cxnSpLocks/>
          </p:cNvCxnSpPr>
          <p:nvPr/>
        </p:nvCxnSpPr>
        <p:spPr>
          <a:xfrm>
            <a:off x="8020387" y="1774723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6291A4-6C07-0CDD-723B-04F34DC77742}"/>
              </a:ext>
            </a:extLst>
          </p:cNvPr>
          <p:cNvCxnSpPr>
            <a:cxnSpLocks/>
          </p:cNvCxnSpPr>
          <p:nvPr/>
        </p:nvCxnSpPr>
        <p:spPr>
          <a:xfrm>
            <a:off x="8020387" y="2885769"/>
            <a:ext cx="0" cy="398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76FB0E-AF90-6B08-FF48-C2528606C0A5}"/>
              </a:ext>
            </a:extLst>
          </p:cNvPr>
          <p:cNvCxnSpPr>
            <a:cxnSpLocks/>
          </p:cNvCxnSpPr>
          <p:nvPr/>
        </p:nvCxnSpPr>
        <p:spPr>
          <a:xfrm>
            <a:off x="8020387" y="4100052"/>
            <a:ext cx="0" cy="398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D3C84D-E8DA-4FDB-2B8D-B4387C4A5D33}"/>
              </a:ext>
            </a:extLst>
          </p:cNvPr>
          <p:cNvCxnSpPr/>
          <p:nvPr/>
        </p:nvCxnSpPr>
        <p:spPr>
          <a:xfrm>
            <a:off x="8020387" y="531433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98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90FC-093A-FBCB-A2C1-81A09FAB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53" y="393291"/>
            <a:ext cx="8596668" cy="658761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8BCD8-204F-637B-D517-9916AD9B7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3497"/>
            <a:ext cx="8596668" cy="448786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performed end-to-end e-commerce data analysis.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 and SQL were effectively used for business intelligence tasks.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improved data visualization and reporting.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Business insights helped identify revenue and growth opportunities.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 analysis supported better stock management decisions.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Future enhancements can include Power BI integration.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models can be implemented for sales forecasting and customer churn prediction.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50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162</TotalTime>
  <Words>640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Trebuchet MS</vt:lpstr>
      <vt:lpstr>Wingdings 3</vt:lpstr>
      <vt:lpstr>Facet</vt:lpstr>
      <vt:lpstr>E-COMMERCE SALES ANALYSIS USING EXCEL AND SQL</vt:lpstr>
      <vt:lpstr>INTRODUCTION</vt:lpstr>
      <vt:lpstr>OBJECTIVES</vt:lpstr>
      <vt:lpstr>DATASET DESCRIPTION</vt:lpstr>
      <vt:lpstr>DATA CLEANING AND PREPROCESSING</vt:lpstr>
      <vt:lpstr>EXCEL ANALYSIS &amp; FORMULA IMPLEMENTATAION</vt:lpstr>
      <vt:lpstr>SQL ANALYSIS PROCESS</vt:lpstr>
      <vt:lpstr>DASHBOARDS KPI STRUCTURE</vt:lpstr>
      <vt:lpstr>BUSINESS INSIGHTS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Ezhilarasi K</dc:creator>
  <cp:lastModifiedBy>Ezhilarasi K</cp:lastModifiedBy>
  <cp:revision>2</cp:revision>
  <dcterms:created xsi:type="dcterms:W3CDTF">2026-06-12T05:16:18Z</dcterms:created>
  <dcterms:modified xsi:type="dcterms:W3CDTF">2026-06-12T08:15:31Z</dcterms:modified>
</cp:coreProperties>
</file>