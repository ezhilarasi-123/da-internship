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7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334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6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875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96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8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96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45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14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4436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98928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53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645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84625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362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97597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95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72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93589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2908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166914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6038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18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964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02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59930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728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DD34742B-BA86-411B-953D-584BB8ED6E4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542F0CF-0DD3-4BDC-B544-04781415A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439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C075-5906-0483-F7FC-56F3C52B1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593" y="1050761"/>
            <a:ext cx="9673459" cy="175583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&amp; Risk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0F8AD-3750-7CFF-45A4-04261DDC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3982" y="3967569"/>
            <a:ext cx="3830874" cy="149661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EZHILARASI 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TEAM - 1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8C7FD-C33D-AC2A-4D9F-7C1A37CF9E06}"/>
              </a:ext>
            </a:extLst>
          </p:cNvPr>
          <p:cNvSpPr txBox="1"/>
          <p:nvPr/>
        </p:nvSpPr>
        <p:spPr>
          <a:xfrm>
            <a:off x="4129548" y="3055374"/>
            <a:ext cx="3490452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- MINIPROJECT - 2</a:t>
            </a:r>
          </a:p>
        </p:txBody>
      </p:sp>
    </p:spTree>
    <p:extLst>
      <p:ext uri="{BB962C8B-B14F-4D97-AF65-F5344CB8AC3E}">
        <p14:creationId xmlns:p14="http://schemas.microsoft.com/office/powerpoint/2010/main" val="109840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BCC9-454C-C7C8-A7E1-7B1CD84D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75" y="533407"/>
            <a:ext cx="9942409" cy="87619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6046-0210-8A32-7EC1-268E3E29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552" y="1409600"/>
            <a:ext cx="9942409" cy="4305300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whether a customer is likely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or stay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classification techniques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different ML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customers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factors influencing churn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website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12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59C4-3F82-6CCA-3333-C3C0E734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664332"/>
            <a:ext cx="9942409" cy="87619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B041-B1BC-4922-4829-2E28C3E3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12" y="1540525"/>
            <a:ext cx="9942409" cy="4305300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ML classification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 &amp; ROC-AUC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models and select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best-performing 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customer churn probability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recommendations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high-risk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8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BAF3-D059-1E00-115D-730CC316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28" y="419100"/>
            <a:ext cx="9942409" cy="87619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9C77-0577-6EF4-BDEC-78B85FD78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291" y="1148530"/>
            <a:ext cx="6397104" cy="5045792"/>
          </a:xfrm>
        </p:spPr>
        <p:txBody>
          <a:bodyPr>
            <a:normAutofit fontScale="70000" lnSpcReduction="2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1.Churn Distribution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proportion of customers who churned versus those who remained, helping understand the target-class distribution.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Contract vs Churn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churn varies across different contract types and helps identify contract categories with higher customer attrition.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Tenure vs Churn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relationship between customer tenure and churn, helping identify whether newer or long-term customers are more likely to leave.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Monthly Charges vs Churn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monthly charges between churned and retained customers to identify potential pricing-related churn patterns.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Correlation Heatmap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relationships between numerical features and helps identify variables that may have stronger associations with customer churn.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D3DA4-1FA4-BFA6-9AB6-A6EBE5C6E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25" y="574349"/>
            <a:ext cx="2533616" cy="1634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66741-B697-311B-7A24-A0EC56A3B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340" y="547333"/>
            <a:ext cx="2662990" cy="1661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4431D9-235A-1E49-07D7-CC579C43A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25" y="2374232"/>
            <a:ext cx="2533616" cy="1780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AEA999-F4F7-1658-A9B0-D0F4737EF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395" y="4320394"/>
            <a:ext cx="4954715" cy="2326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8E3F1F-7C97-CC4C-1C95-24C21E957C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340" y="2374232"/>
            <a:ext cx="2662990" cy="17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1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A145-BEBA-6D3F-29A1-AF969B373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38" y="361950"/>
            <a:ext cx="5506162" cy="6134100"/>
          </a:xfrm>
        </p:spPr>
        <p:txBody>
          <a:bodyPr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Model Accuracy Comparison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accuracy of all four models and identifies which model correctly classifies the highest percentage of customers.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F1-Score Comparison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F1-scores of the four models to identify the model that provides the best balance between precision and recall.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ROC-AUC Performance Comparison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ROC-AUC values to show how effectively each model distinguishes between churn and non-churn customers.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Comprehensive Machine Learning Performance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overall comparison of Accuracy, Precision, Recall, F1-score, ROC-AUC, RMSE and R² across all four models.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Top Customer Churn Influencing Factors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most important customer features contributing to churn prediction and helps identify the major drivers of customer attrition.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048EE-25BF-05CA-32D8-96A83A35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6310"/>
            <a:ext cx="3121238" cy="1547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D4BD25-7E5C-D0A0-6B58-CA25F8AF1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842" y="506309"/>
            <a:ext cx="2603737" cy="1547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02561A-67B9-A62C-F359-A50533F5D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54442"/>
            <a:ext cx="3121238" cy="1556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EB4218-33D4-B3BA-D6D7-FAF690B72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842" y="2454442"/>
            <a:ext cx="2603736" cy="1556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CC0814-B8B8-D0A1-6E27-C0E82FA165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4820"/>
            <a:ext cx="5935578" cy="229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5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26F4-BAC0-AC04-2BA9-8E515135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60" y="476302"/>
            <a:ext cx="9942409" cy="646646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74DF8-5727-5393-4887-75E65AA9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60" y="2133600"/>
            <a:ext cx="3241465" cy="3539613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baseline classification model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distance-based classification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ensemble decision-tree model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advanced boosting model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243248-0AB5-B5C3-AD3A-9E6929C66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00990"/>
              </p:ext>
            </p:extLst>
          </p:nvPr>
        </p:nvGraphicFramePr>
        <p:xfrm>
          <a:off x="3577389" y="1267326"/>
          <a:ext cx="8470232" cy="4989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779">
                  <a:extLst>
                    <a:ext uri="{9D8B030D-6E8A-4147-A177-3AD203B41FA5}">
                      <a16:colId xmlns:a16="http://schemas.microsoft.com/office/drawing/2014/main" val="3587149885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735587835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3294948729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2025147926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1770948377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3617651315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98153755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353113542"/>
                    </a:ext>
                  </a:extLst>
                </a:gridCol>
              </a:tblGrid>
              <a:tr h="997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R^2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248818"/>
                  </a:ext>
                </a:extLst>
              </a:tr>
              <a:tr h="997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0.799148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0.654237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0" i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0.516043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0" i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0.576981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0.841125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0.372298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0.289130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756635"/>
                  </a:ext>
                </a:extLst>
              </a:tr>
              <a:tr h="997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0779276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0.589744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0.571034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0.805464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0.392533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0.209753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152372"/>
                  </a:ext>
                </a:extLst>
              </a:tr>
              <a:tr h="997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0.792761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0.646429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0.483957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0.553517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0.830516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0.376647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0.272424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21484"/>
                  </a:ext>
                </a:extLst>
              </a:tr>
              <a:tr h="997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0.804826</a:t>
                      </a:r>
                    </a:p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0.678700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0.502674</a:t>
                      </a:r>
                      <a:endParaRPr lang="en-IN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0.577573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0.846347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0.367823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0.306114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435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93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E44C-CB97-D693-1208-A0A7400D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8" y="419100"/>
            <a:ext cx="9942409" cy="87619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1C66-C13F-07FB-EE29-AD8A23B70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863" y="1276350"/>
            <a:ext cx="5441994" cy="4305300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best model generates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Probability vs Stay Probability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categorizes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/ Medium / High 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Recommendations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customer analysis through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04534C-E8C2-D74D-70DC-90C4C49A844D}"/>
              </a:ext>
            </a:extLst>
          </p:cNvPr>
          <p:cNvSpPr/>
          <p:nvPr/>
        </p:nvSpPr>
        <p:spPr>
          <a:xfrm>
            <a:off x="8568813" y="303328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217B1E-7D17-EE21-464D-8D4040BF27E0}"/>
              </a:ext>
            </a:extLst>
          </p:cNvPr>
          <p:cNvSpPr/>
          <p:nvPr/>
        </p:nvSpPr>
        <p:spPr>
          <a:xfrm>
            <a:off x="8579122" y="1276350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4745DE-F711-47B2-5D0E-AE8441046D56}"/>
              </a:ext>
            </a:extLst>
          </p:cNvPr>
          <p:cNvSpPr/>
          <p:nvPr/>
        </p:nvSpPr>
        <p:spPr>
          <a:xfrm>
            <a:off x="8568813" y="2309125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ML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0C8565-1BBC-2E47-D516-D3F20822B886}"/>
              </a:ext>
            </a:extLst>
          </p:cNvPr>
          <p:cNvSpPr/>
          <p:nvPr/>
        </p:nvSpPr>
        <p:spPr>
          <a:xfrm>
            <a:off x="8579122" y="3276183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Prediction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A4AFEB-7306-99B9-0387-157848F52532}"/>
              </a:ext>
            </a:extLst>
          </p:cNvPr>
          <p:cNvSpPr/>
          <p:nvPr/>
        </p:nvSpPr>
        <p:spPr>
          <a:xfrm>
            <a:off x="8568813" y="4224083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Probability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324D36-91A8-7AD9-A9C4-DB4AB47FB962}"/>
              </a:ext>
            </a:extLst>
          </p:cNvPr>
          <p:cNvSpPr/>
          <p:nvPr/>
        </p:nvSpPr>
        <p:spPr>
          <a:xfrm>
            <a:off x="8579122" y="5171983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Risk Level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76D761-AD82-19BF-1383-E203D89FBBF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9532374" y="922760"/>
            <a:ext cx="10309" cy="3535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4FA052-3D09-AE9F-1D3E-5A2CF395B36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532374" y="2928557"/>
            <a:ext cx="0" cy="3676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BA4977-24DB-D2B8-29C5-A880F5B9471F}"/>
              </a:ext>
            </a:extLst>
          </p:cNvPr>
          <p:cNvCxnSpPr>
            <a:cxnSpLocks/>
          </p:cNvCxnSpPr>
          <p:nvPr/>
        </p:nvCxnSpPr>
        <p:spPr>
          <a:xfrm>
            <a:off x="9532374" y="1895782"/>
            <a:ext cx="0" cy="400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3D6D7F-988F-6286-8A4D-32D19D4985C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532374" y="3849142"/>
            <a:ext cx="0" cy="374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BA98534-5B8B-B7AC-28C6-14FA1BE68A57}"/>
              </a:ext>
            </a:extLst>
          </p:cNvPr>
          <p:cNvSpPr/>
          <p:nvPr/>
        </p:nvSpPr>
        <p:spPr>
          <a:xfrm>
            <a:off x="8568813" y="6129184"/>
            <a:ext cx="1927122" cy="6194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Risk Level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43AC52-5951-B645-BC06-6C952621921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532374" y="4843515"/>
            <a:ext cx="0" cy="328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93015A-03CF-C9AD-A7FE-C444873819CB}"/>
              </a:ext>
            </a:extLst>
          </p:cNvPr>
          <p:cNvCxnSpPr>
            <a:cxnSpLocks/>
          </p:cNvCxnSpPr>
          <p:nvPr/>
        </p:nvCxnSpPr>
        <p:spPr>
          <a:xfrm>
            <a:off x="9546046" y="5791415"/>
            <a:ext cx="0" cy="328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23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6FB20-B582-5C8A-7F77-8A337C1A3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17" y="343226"/>
            <a:ext cx="2829778" cy="1821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D713F-E10A-3428-E67F-90894C791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006" y="343225"/>
            <a:ext cx="2576283" cy="1821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AAD736-B663-1790-A8EC-EE08E9036E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312" y="343225"/>
            <a:ext cx="2353978" cy="1821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423541-425B-A440-F11E-0A6CED307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313" y="343225"/>
            <a:ext cx="3146995" cy="18210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810156-38B8-3D19-1026-8A0B7C473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2" y="2350046"/>
            <a:ext cx="2829778" cy="17688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E0F118-A50F-FC32-FDAB-C0D5FF6925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46656" y="2350045"/>
            <a:ext cx="2576283" cy="18136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82D887-3D10-CB74-8408-5A56427D96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061" y="2342563"/>
            <a:ext cx="2353979" cy="1843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8990A9-C4E9-5592-DF48-86DD2B5963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313" y="2342563"/>
            <a:ext cx="3146995" cy="18210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8A2F39-B2F3-1778-22E9-7D55428ED0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0" y="4693683"/>
            <a:ext cx="3286704" cy="17688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BE1F59-85AF-AA6D-CCC6-FFEADB5500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708" y="4700986"/>
            <a:ext cx="3286704" cy="17688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529EABF-B64C-C676-7137-03A6E8E7B8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313" y="4700986"/>
            <a:ext cx="3146995" cy="17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8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1DE-7086-AC79-C6EC-14684348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568078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IN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240F-1321-A65B-2B20-F2B019241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638" y="1444271"/>
            <a:ext cx="9942409" cy="4305300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trained and compared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ML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best-performing 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evaluation metrics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customer churn probability for individual customers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factors contributing to churn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ML-powered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businesses in taking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customer retention actions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098600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100</TotalTime>
  <Words>518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Neue Haas Grotesk Text Pro</vt:lpstr>
      <vt:lpstr>Times New Roman</vt:lpstr>
      <vt:lpstr>Wingdings</vt:lpstr>
      <vt:lpstr>Film Burn</vt:lpstr>
      <vt:lpstr>CUSTOMER CHURN PREDICTION &amp; Risk Analytics</vt:lpstr>
      <vt:lpstr>Introduction</vt:lpstr>
      <vt:lpstr>Objectives</vt:lpstr>
      <vt:lpstr>Data Analysis &amp; Visualization</vt:lpstr>
      <vt:lpstr>PowerPoint Presentation</vt:lpstr>
      <vt:lpstr>Model Building &amp; Performance Comparison</vt:lpstr>
      <vt:lpstr>Prediction &amp; Streamlit Website</vt:lpstr>
      <vt:lpstr>PowerPoint Presentation</vt:lpstr>
      <vt:lpstr>Results &amp;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Ezhilarasi K</dc:creator>
  <cp:lastModifiedBy>Ezhilarasi K</cp:lastModifiedBy>
  <cp:revision>2</cp:revision>
  <dcterms:created xsi:type="dcterms:W3CDTF">2026-08-19T06:55:02Z</dcterms:created>
  <dcterms:modified xsi:type="dcterms:W3CDTF">2026-08-26T04:16:04Z</dcterms:modified>
</cp:coreProperties>
</file>