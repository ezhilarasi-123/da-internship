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3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4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5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6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7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Cycles</c:v>
                </c:pt>
              </c:strCache>
            </c:strRef>
          </c:tx>
          <c:spPr>
            <a:solidFill>
              <a:srgbClr val="065A8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3293D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Pumps</c:v>
                  </c:pt>
                  <c:pt idx="1">
                    <c:v>Robotic Arms</c:v>
                  </c:pt>
                  <c:pt idx="2">
                    <c:v>Compressors</c:v>
                  </c:pt>
                  <c:pt idx="3">
                    <c:v>CNC Machines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6114</c:v>
                </c:pt>
                <c:pt idx="1">
                  <c:v>6003</c:v>
                </c:pt>
                <c:pt idx="2">
                  <c:v>5988</c:v>
                </c:pt>
                <c:pt idx="3">
                  <c:v>5937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3293D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768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AF1F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768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Mode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65A82"/>
              </a:solidFill>
              <a:effectLst/>
            </c:spPr>
          </c:dPt>
          <c:dPt>
            <c:idx val="1"/>
            <c:bubble3D val="0"/>
            <c:spPr>
              <a:solidFill>
                <a:srgbClr val="1C7293"/>
              </a:solidFill>
              <a:effectLst/>
            </c:spPr>
          </c:dPt>
          <c:dPt>
            <c:idx val="2"/>
            <c:bubble3D val="0"/>
            <c:spPr>
              <a:solidFill>
                <a:srgbClr val="F2A93B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Normal (11,632)</c:v>
                </c:pt>
                <c:pt idx="1">
                  <c:v>Idle (6,218)</c:v>
                </c:pt>
                <c:pt idx="2">
                  <c:v>Peak / Overload (6,192)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11632</c:v>
                </c:pt>
                <c:pt idx="1">
                  <c:v>6218</c:v>
                </c:pt>
                <c:pt idx="2">
                  <c:v>6192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50">
              <a:solidFill>
                <a:srgbClr val="13293D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Records</c:v>
                </c:pt>
              </c:strCache>
            </c:strRef>
          </c:tx>
          <c:spPr>
            <a:solidFill>
              <a:srgbClr val="065A8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50" u="none">
                    <a:solidFill>
                      <a:srgbClr val="13293D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65A82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D64545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2A93B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C7293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7B5EA7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No Failure</c:v>
                  </c:pt>
                  <c:pt idx="1">
                    <c:v>Bearing
Degradation</c:v>
                  </c:pt>
                  <c:pt idx="2">
                    <c:v>Motor
Overheat</c:v>
                  </c:pt>
                  <c:pt idx="3">
                    <c:v>Hydraulic
Anomaly</c:v>
                  </c:pt>
                  <c:pt idx="4">
                    <c:v>Electrical
Phase Drop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20482</c:v>
                </c:pt>
                <c:pt idx="1">
                  <c:v>1117</c:v>
                </c:pt>
                <c:pt idx="2">
                  <c:v>1060</c:v>
                </c:pt>
                <c:pt idx="3">
                  <c:v>728</c:v>
                </c:pt>
                <c:pt idx="4">
                  <c:v>655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50" u="none">
                  <a:solidFill>
                    <a:srgbClr val="13293D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5B768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AF1F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768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Motor Temp (°C)</c:v>
                </c:pt>
              </c:strCache>
            </c:strRef>
          </c:tx>
          <c:spPr>
            <a:solidFill>
              <a:srgbClr val="F2A93B"/>
            </a:solidFill>
            <a:ln w="31750" cap="flat">
              <a:solidFill>
                <a:srgbClr val="F2A93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F2A93B"/>
              </a:solidFill>
              <a:ln w="9525" cap="flat">
                <a:solidFill>
                  <a:srgbClr val="F2A93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0</c:v>
                  </c:pt>
                  <c:pt idx="1">
                    <c:v>100</c:v>
                  </c:pt>
                  <c:pt idx="2">
                    <c:v>200</c:v>
                  </c:pt>
                  <c:pt idx="3">
                    <c:v>300</c:v>
                  </c:pt>
                  <c:pt idx="4">
                    <c:v>400</c:v>
                  </c:pt>
                  <c:pt idx="5">
                    <c:v>450</c:v>
                  </c:pt>
                  <c:pt idx="6">
                    <c:v>500</c:v>
                  </c:pt>
                  <c:pt idx="7">
                    <c:v>600</c:v>
                  </c:pt>
                  <c:pt idx="8">
                    <c:v>700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42</c:v>
                </c:pt>
                <c:pt idx="1">
                  <c:v>45</c:v>
                </c:pt>
                <c:pt idx="2">
                  <c:v>48</c:v>
                </c:pt>
                <c:pt idx="3">
                  <c:v>52</c:v>
                </c:pt>
                <c:pt idx="4">
                  <c:v>58</c:v>
                </c:pt>
                <c:pt idx="5">
                  <c:v>65</c:v>
                </c:pt>
                <c:pt idx="6">
                  <c:v>74</c:v>
                </c:pt>
                <c:pt idx="7">
                  <c:v>82</c:v>
                </c:pt>
                <c:pt idx="8">
                  <c:v>90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Vibration RMS (×10)</c:v>
                </c:pt>
              </c:strCache>
            </c:strRef>
          </c:tx>
          <c:spPr>
            <a:solidFill>
              <a:srgbClr val="1C7293"/>
            </a:solidFill>
            <a:ln w="31750" cap="flat">
              <a:solidFill>
                <a:srgbClr val="1C7293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1C7293"/>
              </a:solidFill>
              <a:ln w="9525" cap="flat">
                <a:solidFill>
                  <a:srgbClr val="1C7293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0</c:v>
                  </c:pt>
                  <c:pt idx="1">
                    <c:v>100</c:v>
                  </c:pt>
                  <c:pt idx="2">
                    <c:v>200</c:v>
                  </c:pt>
                  <c:pt idx="3">
                    <c:v>300</c:v>
                  </c:pt>
                  <c:pt idx="4">
                    <c:v>400</c:v>
                  </c:pt>
                  <c:pt idx="5">
                    <c:v>450</c:v>
                  </c:pt>
                  <c:pt idx="6">
                    <c:v>500</c:v>
                  </c:pt>
                  <c:pt idx="7">
                    <c:v>600</c:v>
                  </c:pt>
                  <c:pt idx="8">
                    <c:v>700</c:v>
                  </c:pt>
                </c:lvl>
              </c:multiLvlStrCache>
            </c:multiLvl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8</c:v>
                </c:pt>
                <c:pt idx="1">
                  <c:v>10</c:v>
                </c:pt>
                <c:pt idx="2">
                  <c:v>13</c:v>
                </c:pt>
                <c:pt idx="3">
                  <c:v>16</c:v>
                </c:pt>
                <c:pt idx="4">
                  <c:v>19</c:v>
                </c:pt>
                <c:pt idx="5">
                  <c:v>22</c:v>
                </c:pt>
                <c:pt idx="6">
                  <c:v>30</c:v>
                </c:pt>
                <c:pt idx="7">
                  <c:v>40</c:v>
                </c:pt>
                <c:pt idx="8">
                  <c:v>52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Failure Risk (%)</c:v>
                </c:pt>
              </c:strCache>
            </c:strRef>
          </c:tx>
          <c:spPr>
            <a:solidFill>
              <a:srgbClr val="D64545"/>
            </a:solidFill>
            <a:ln w="31750" cap="flat">
              <a:solidFill>
                <a:srgbClr val="D64545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D64545"/>
              </a:solidFill>
              <a:ln w="9525" cap="flat">
                <a:solidFill>
                  <a:srgbClr val="D64545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0</c:v>
                  </c:pt>
                  <c:pt idx="1">
                    <c:v>100</c:v>
                  </c:pt>
                  <c:pt idx="2">
                    <c:v>200</c:v>
                  </c:pt>
                  <c:pt idx="3">
                    <c:v>300</c:v>
                  </c:pt>
                  <c:pt idx="4">
                    <c:v>400</c:v>
                  </c:pt>
                  <c:pt idx="5">
                    <c:v>450</c:v>
                  </c:pt>
                  <c:pt idx="6">
                    <c:v>500</c:v>
                  </c:pt>
                  <c:pt idx="7">
                    <c:v>600</c:v>
                  </c:pt>
                  <c:pt idx="8">
                    <c:v>700</c:v>
                  </c:pt>
                </c:lvl>
              </c:multiLvlStrCache>
            </c:multiLvlStrRef>
          </c:cat>
          <c:val>
            <c:numRef>
              <c:f>Sheet1!$D$2:$D$10</c:f>
              <c:numCache>
                <c:formatCode>General</c:formatCode>
                <c:ptCount val="9"/>
                <c:pt idx="0">
                  <c:v>3</c:v>
                </c:pt>
                <c:pt idx="1">
                  <c:v>5</c:v>
                </c:pt>
                <c:pt idx="2">
                  <c:v>7</c:v>
                </c:pt>
                <c:pt idx="3">
                  <c:v>10</c:v>
                </c:pt>
                <c:pt idx="4">
                  <c:v>14</c:v>
                </c:pt>
                <c:pt idx="5">
                  <c:v>19</c:v>
                </c:pt>
                <c:pt idx="6">
                  <c:v>31</c:v>
                </c:pt>
                <c:pt idx="7">
                  <c:v>46</c:v>
                </c:pt>
                <c:pt idx="8">
                  <c:v>63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5B7688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5B7688"/>
                    </a:solidFill>
                    <a:latin typeface="Arial"/>
                  </a:rPr>
                  <a:t>Operating hours since last maintenance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768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AF1F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768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50">
              <a:solidFill>
                <a:srgbClr val="13293D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Est. total cost ($M)</c:v>
                </c:pt>
              </c:strCache>
            </c:strRef>
          </c:tx>
          <c:spPr>
            <a:solidFill>
              <a:srgbClr val="065A82"/>
            </a:solidFill>
            <a:effectLst/>
          </c:spPr>
          <c:invertIfNegative val="0"/>
          <c:dLbls>
            <c:numFmt formatCode="&quot;$&quot;0.00&quot;M&quot;" sourceLinked="0"/>
            <c:txPr>
              <a:bodyPr/>
              <a:lstStyle/>
              <a:p>
                <a:pPr>
                  <a:defRPr b="0" i="0" strike="noStrike" sz="1050" u="none">
                    <a:solidFill>
                      <a:srgbClr val="13293D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Pumps</c:v>
                  </c:pt>
                  <c:pt idx="1">
                    <c:v>Robotic
Arms</c:v>
                  </c:pt>
                  <c:pt idx="2">
                    <c:v>Compressors</c:v>
                  </c:pt>
                  <c:pt idx="3">
                    <c:v>CNC
Machines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3.82</c:v>
                </c:pt>
                <c:pt idx="1">
                  <c:v>3.55</c:v>
                </c:pt>
                <c:pt idx="2">
                  <c:v>3.7</c:v>
                </c:pt>
                <c:pt idx="3">
                  <c:v>3.57</c:v>
                </c:pt>
              </c:numCache>
            </c:numRef>
          </c:val>
        </c:ser>
        <c:dLbls>
          <c:numFmt formatCode="&quot;$&quot;0.00&quot;M&quot;" sourceLinked="0"/>
          <c:txPr>
            <a:bodyPr/>
            <a:lstStyle/>
            <a:p>
              <a:pPr>
                <a:defRPr b="0" i="0" strike="noStrike" sz="1050" u="none">
                  <a:solidFill>
                    <a:srgbClr val="13293D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768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AF1F4"/>
              </a:solidFill>
              <a:prstDash val="solid"/>
              <a:round/>
            </a:ln>
          </c:spPr>
        </c:majorGridlines>
        <c:numFmt formatCode="&quot;$&quot;0.0&quot;M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768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Machine-cycles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0-5</c:v>
                  </c:pt>
                  <c:pt idx="1">
                    <c:v>5-15</c:v>
                  </c:pt>
                  <c:pt idx="2">
                    <c:v>15-25</c:v>
                  </c:pt>
                  <c:pt idx="3">
                    <c:v>25-35</c:v>
                  </c:pt>
                  <c:pt idx="4">
                    <c:v>35-45</c:v>
                  </c:pt>
                  <c:pt idx="5">
                    <c:v>45-55</c:v>
                  </c:pt>
                  <c:pt idx="6">
                    <c:v>55-65</c:v>
                  </c:pt>
                  <c:pt idx="7">
                    <c:v>65-75</c:v>
                  </c:pt>
                  <c:pt idx="8">
                    <c:v>75-85</c:v>
                  </c:pt>
                  <c:pt idx="9">
                    <c:v>85-98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6100</c:v>
                </c:pt>
                <c:pt idx="1">
                  <c:v>3200</c:v>
                </c:pt>
                <c:pt idx="2">
                  <c:v>2950</c:v>
                </c:pt>
                <c:pt idx="3">
                  <c:v>2600</c:v>
                </c:pt>
                <c:pt idx="4">
                  <c:v>2300</c:v>
                </c:pt>
                <c:pt idx="5">
                  <c:v>2150</c:v>
                </c:pt>
                <c:pt idx="6">
                  <c:v>1850</c:v>
                </c:pt>
                <c:pt idx="7">
                  <c:v>1400</c:v>
                </c:pt>
                <c:pt idx="8">
                  <c:v>900</c:v>
                </c:pt>
                <c:pt idx="9">
                  <c:v>592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5B7688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5B7688"/>
                    </a:solidFill>
                    <a:latin typeface="Arial"/>
                  </a:rPr>
                  <a:t>RUL (hours)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5B768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AF1F4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5B7688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5B7688"/>
                    </a:solidFill>
                    <a:latin typeface="Arial"/>
                  </a:rPr>
                  <a:t>Cycle count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768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Correlation strength</c:v>
                </c:pt>
              </c:strCache>
            </c:strRef>
          </c:tx>
          <c:spPr>
            <a:solidFill>
              <a:srgbClr val="065A82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3293D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65A82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C7293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2A93B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21C0A3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Motor
Temperature</c:v>
                  </c:pt>
                  <c:pt idx="1">
                    <c:v>Hours Since
Maintenance</c:v>
                  </c:pt>
                  <c:pt idx="2">
                    <c:v>Vibration
RMS</c:v>
                  </c:pt>
                  <c:pt idx="3">
                    <c:v>Current
Phase Avg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0.407</c:v>
                </c:pt>
                <c:pt idx="1">
                  <c:v>0.307</c:v>
                </c:pt>
                <c:pt idx="2">
                  <c:v>0.219</c:v>
                </c:pt>
                <c:pt idx="3">
                  <c:v>0.15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1100" u="none">
                  <a:solidFill>
                    <a:srgbClr val="13293D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768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AF1F4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950" b="0" i="0" u="none" strike="noStrike">
                    <a:solidFill>
                      <a:srgbClr val="5B7688"/>
                    </a:solidFill>
                    <a:latin typeface="Arial"/>
                  </a:defRPr>
                </a:pPr>
                <a:r>
                  <a:rPr sz="950" b="0" i="0" u="none" strike="noStrike">
                    <a:solidFill>
                      <a:srgbClr val="5B7688"/>
                    </a:solidFill>
                    <a:latin typeface="Arial"/>
                  </a:rPr>
                  <a:t>|correlation| with cost / RUL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768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image" Target="../media/image-5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image" Target="../media/image-6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image" Target="../media/image-7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3291840"/>
            <a:ext cx="5943600" cy="5943600"/>
          </a:xfrm>
          <a:prstGeom prst="ellipse">
            <a:avLst/>
          </a:prstGeom>
          <a:solidFill>
            <a:srgbClr val="065A82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4206240"/>
            <a:ext cx="4114800" cy="4114800"/>
          </a:xfrm>
          <a:prstGeom prst="ellipse">
            <a:avLst/>
          </a:prstGeom>
          <a:solidFill>
            <a:srgbClr val="1C7293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424160" y="4937760"/>
            <a:ext cx="2560320" cy="2560320"/>
          </a:xfrm>
          <a:prstGeom prst="ellipse">
            <a:avLst/>
          </a:prstGeom>
          <a:solidFill>
            <a:srgbClr val="21C0A3">
              <a:alpha val="5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914400"/>
            <a:ext cx="4480560" cy="384048"/>
          </a:xfrm>
          <a:prstGeom prst="roundRect">
            <a:avLst>
              <a:gd name="adj" fmla="val 50000"/>
            </a:avLst>
          </a:prstGeom>
          <a:solidFill>
            <a:srgbClr val="123A5C"/>
          </a:solidFill>
          <a:ln w="9525">
            <a:solidFill>
              <a:srgbClr val="21C0A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41248" y="1069848"/>
            <a:ext cx="91440" cy="91440"/>
          </a:xfrm>
          <a:prstGeom prst="ellipse">
            <a:avLst/>
          </a:prstGeom>
          <a:solidFill>
            <a:srgbClr val="21C0A3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91440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" kern="0" dirty="0">
                <a:solidFill>
                  <a:srgbClr val="21C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ACTIVE — XGBOOST v1.7.6 | EXTRA TREES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1463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9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ANALYTICS DASHBOARD • ENTERPRISE BI EDITION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1783080"/>
            <a:ext cx="9144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PredictX</a:t>
            </a:r>
            <a:endParaRPr lang="en-US" sz="5800" dirty="0"/>
          </a:p>
        </p:txBody>
      </p:sp>
      <p:sp>
        <p:nvSpPr>
          <p:cNvPr id="10" name="Text 8"/>
          <p:cNvSpPr/>
          <p:nvPr/>
        </p:nvSpPr>
        <p:spPr>
          <a:xfrm>
            <a:off x="640080" y="278892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 Machine Predictive Maintenance Analytics &amp; ML Intelligence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40080" y="329184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A9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telemetry analysis, 24-hour failure risk forecasting, and Remaining Useful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A9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 (RUL) intelligence across a 20-machine industrial fleet.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4251960"/>
            <a:ext cx="2926080" cy="0"/>
          </a:xfrm>
          <a:prstGeom prst="line">
            <a:avLst/>
          </a:prstGeom>
          <a:noFill/>
          <a:ln w="25400">
            <a:solidFill>
              <a:srgbClr val="21C0A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44348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24,042 Cycles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606040" y="44348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Machines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0" y="44348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2024 – Dec 2024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59893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7C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Analyst Internship — Major Project Presentation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918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566928"/>
            <a:ext cx="9784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Fleet Performance at a Glance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207008"/>
            <a:ext cx="10881360" cy="18288"/>
          </a:xfrm>
          <a:prstGeom prst="rect">
            <a:avLst/>
          </a:prstGeom>
          <a:solidFill>
            <a:srgbClr val="E2ECF1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417320"/>
            <a:ext cx="2048256" cy="2148840"/>
          </a:xfrm>
          <a:prstGeom prst="roundRect">
            <a:avLst>
              <a:gd name="adj" fmla="val 3571"/>
            </a:avLst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600200"/>
            <a:ext cx="17739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24,042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777240" y="2286000"/>
            <a:ext cx="1773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 Telemetry Cycles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7240" y="2880360"/>
            <a:ext cx="17739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70" dirty="0">
                <a:solidFill>
                  <a:srgbClr val="FFFFFF">
                    <a:alpha val="9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active assets • 100% imputed clean</a:t>
            </a:r>
            <a:endParaRPr lang="en-US" sz="870" dirty="0"/>
          </a:p>
        </p:txBody>
      </p:sp>
      <p:sp>
        <p:nvSpPr>
          <p:cNvPr id="9" name="Shape 7"/>
          <p:cNvSpPr/>
          <p:nvPr/>
        </p:nvSpPr>
        <p:spPr>
          <a:xfrm>
            <a:off x="2830068" y="1417320"/>
            <a:ext cx="2048256" cy="2148840"/>
          </a:xfrm>
          <a:prstGeom prst="roundRect">
            <a:avLst>
              <a:gd name="adj" fmla="val 3571"/>
            </a:avLst>
          </a:prstGeom>
          <a:solidFill>
            <a:srgbClr val="D64545"/>
          </a:solidFill>
          <a:ln/>
        </p:spPr>
      </p:sp>
      <p:sp>
        <p:nvSpPr>
          <p:cNvPr id="10" name="Text 8"/>
          <p:cNvSpPr/>
          <p:nvPr/>
        </p:nvSpPr>
        <p:spPr>
          <a:xfrm>
            <a:off x="2967228" y="1600200"/>
            <a:ext cx="17739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14.81%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2967228" y="2286000"/>
            <a:ext cx="1773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24h Failure Risk Rate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967228" y="2880360"/>
            <a:ext cx="17739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70" dirty="0">
                <a:solidFill>
                  <a:srgbClr val="FFFFFF">
                    <a:alpha val="9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3,560 imminent / 20,482 safe</a:t>
            </a:r>
            <a:endParaRPr lang="en-US" sz="870" dirty="0"/>
          </a:p>
        </p:txBody>
      </p:sp>
      <p:sp>
        <p:nvSpPr>
          <p:cNvPr id="13" name="Shape 11"/>
          <p:cNvSpPr/>
          <p:nvPr/>
        </p:nvSpPr>
        <p:spPr>
          <a:xfrm>
            <a:off x="5020056" y="1417320"/>
            <a:ext cx="2048256" cy="2148840"/>
          </a:xfrm>
          <a:prstGeom prst="roundRect">
            <a:avLst>
              <a:gd name="adj" fmla="val 3571"/>
            </a:avLst>
          </a:prstGeom>
          <a:solidFill>
            <a:srgbClr val="1C7293"/>
          </a:solidFill>
          <a:ln/>
        </p:spPr>
      </p:sp>
      <p:sp>
        <p:nvSpPr>
          <p:cNvPr id="14" name="Text 12"/>
          <p:cNvSpPr/>
          <p:nvPr/>
        </p:nvSpPr>
        <p:spPr>
          <a:xfrm>
            <a:off x="5157216" y="1600200"/>
            <a:ext cx="17739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27.8 hrs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5157216" y="2286000"/>
            <a:ext cx="1773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Remaining Useful Life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157216" y="2880360"/>
            <a:ext cx="17739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70" dirty="0">
                <a:solidFill>
                  <a:srgbClr val="FFFFFF">
                    <a:alpha val="9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22.6h • Span 0.5–98.3h</a:t>
            </a:r>
            <a:endParaRPr lang="en-US" sz="870" dirty="0"/>
          </a:p>
        </p:txBody>
      </p:sp>
      <p:sp>
        <p:nvSpPr>
          <p:cNvPr id="17" name="Shape 15"/>
          <p:cNvSpPr/>
          <p:nvPr/>
        </p:nvSpPr>
        <p:spPr>
          <a:xfrm>
            <a:off x="7210044" y="1417320"/>
            <a:ext cx="2048256" cy="2148840"/>
          </a:xfrm>
          <a:prstGeom prst="roundRect">
            <a:avLst>
              <a:gd name="adj" fmla="val 3571"/>
            </a:avLst>
          </a:prstGeom>
          <a:solidFill>
            <a:srgbClr val="F2A93B"/>
          </a:solidFill>
          <a:ln/>
        </p:spPr>
      </p:sp>
      <p:sp>
        <p:nvSpPr>
          <p:cNvPr id="18" name="Text 16"/>
          <p:cNvSpPr/>
          <p:nvPr/>
        </p:nvSpPr>
        <p:spPr>
          <a:xfrm>
            <a:off x="7347204" y="1600200"/>
            <a:ext cx="17739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$608.87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7347204" y="2286000"/>
            <a:ext cx="1773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Projected Repair Cost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347204" y="2880360"/>
            <a:ext cx="17739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70" dirty="0">
                <a:solidFill>
                  <a:srgbClr val="FFFFFF">
                    <a:alpha val="9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 total $14.64M • Max $7,995</a:t>
            </a:r>
            <a:endParaRPr lang="en-US" sz="870" dirty="0"/>
          </a:p>
        </p:txBody>
      </p:sp>
      <p:sp>
        <p:nvSpPr>
          <p:cNvPr id="21" name="Shape 19"/>
          <p:cNvSpPr/>
          <p:nvPr/>
        </p:nvSpPr>
        <p:spPr>
          <a:xfrm>
            <a:off x="9400032" y="1417320"/>
            <a:ext cx="2048256" cy="2148840"/>
          </a:xfrm>
          <a:prstGeom prst="roundRect">
            <a:avLst>
              <a:gd name="adj" fmla="val 3571"/>
            </a:avLst>
          </a:prstGeom>
          <a:solidFill>
            <a:srgbClr val="21C0A3"/>
          </a:solidFill>
          <a:ln/>
        </p:spPr>
      </p:sp>
      <p:sp>
        <p:nvSpPr>
          <p:cNvPr id="22" name="Text 20"/>
          <p:cNvSpPr/>
          <p:nvPr/>
        </p:nvSpPr>
        <p:spPr>
          <a:xfrm>
            <a:off x="9537192" y="1600200"/>
            <a:ext cx="17739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91.18%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9537192" y="2286000"/>
            <a:ext cx="1773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Production F1-Score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537192" y="2880360"/>
            <a:ext cx="17739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70" dirty="0">
                <a:solidFill>
                  <a:srgbClr val="FFFFFF">
                    <a:alpha val="9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97.38% • ROC-AUC 0.9954</a:t>
            </a:r>
            <a:endParaRPr lang="en-US" sz="870" dirty="0"/>
          </a:p>
        </p:txBody>
      </p:sp>
      <p:sp>
        <p:nvSpPr>
          <p:cNvPr id="25" name="Text 23"/>
          <p:cNvSpPr/>
          <p:nvPr/>
        </p:nvSpPr>
        <p:spPr>
          <a:xfrm>
            <a:off x="640080" y="37947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&amp; Cost Hotspots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640080" y="4206240"/>
            <a:ext cx="2606040" cy="1920240"/>
          </a:xfrm>
          <a:prstGeom prst="roundRect">
            <a:avLst>
              <a:gd name="adj" fmla="val 3810"/>
            </a:avLst>
          </a:prstGeom>
          <a:solidFill>
            <a:srgbClr val="F5F9FB"/>
          </a:solidFill>
          <a:ln w="12700">
            <a:solidFill>
              <a:srgbClr val="E2ECF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40080" y="4206240"/>
            <a:ext cx="2606040" cy="54864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28" name="Text 26"/>
          <p:cNvSpPr/>
          <p:nvPr/>
        </p:nvSpPr>
        <p:spPr>
          <a:xfrm>
            <a:off x="804672" y="4343400"/>
            <a:ext cx="2276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FAILURE RISK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804672" y="4617720"/>
            <a:ext cx="22768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Robotic Arms &amp; Pumps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04672" y="5212080"/>
            <a:ext cx="2276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5B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15.4% failure rate — bearing &amp; overheat driven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3429000" y="4206240"/>
            <a:ext cx="2606040" cy="1920240"/>
          </a:xfrm>
          <a:prstGeom prst="roundRect">
            <a:avLst>
              <a:gd name="adj" fmla="val 3810"/>
            </a:avLst>
          </a:prstGeom>
          <a:solidFill>
            <a:srgbClr val="F5F9FB"/>
          </a:solidFill>
          <a:ln w="12700">
            <a:solidFill>
              <a:srgbClr val="E2ECF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429000" y="4206240"/>
            <a:ext cx="2606040" cy="54864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3" name="Text 31"/>
          <p:cNvSpPr/>
          <p:nvPr/>
        </p:nvSpPr>
        <p:spPr>
          <a:xfrm>
            <a:off x="3593592" y="4343400"/>
            <a:ext cx="2276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DEFECT RATE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3593592" y="4617720"/>
            <a:ext cx="22768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CNC Machines (Normal Mode)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3593592" y="5212080"/>
            <a:ext cx="2276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5B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8.9% failure rate — stable thermal variance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6217920" y="4206240"/>
            <a:ext cx="2606040" cy="1920240"/>
          </a:xfrm>
          <a:prstGeom prst="roundRect">
            <a:avLst>
              <a:gd name="adj" fmla="val 3810"/>
            </a:avLst>
          </a:prstGeom>
          <a:solidFill>
            <a:srgbClr val="F5F9FB"/>
          </a:solidFill>
          <a:ln w="12700">
            <a:solidFill>
              <a:srgbClr val="E2ECF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217920" y="4206240"/>
            <a:ext cx="2606040" cy="54864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8" name="Text 36"/>
          <p:cNvSpPr/>
          <p:nvPr/>
        </p:nvSpPr>
        <p:spPr>
          <a:xfrm>
            <a:off x="6382512" y="4343400"/>
            <a:ext cx="2276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EXPOSURE OUTLIER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6382512" y="4617720"/>
            <a:ext cx="22768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Temp 95.0°C / Cost $7,995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382512" y="5212080"/>
            <a:ext cx="2276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5B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+84.8% above baseline mean (51.4°C)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9006840" y="4206240"/>
            <a:ext cx="2606040" cy="1920240"/>
          </a:xfrm>
          <a:prstGeom prst="roundRect">
            <a:avLst>
              <a:gd name="adj" fmla="val 3810"/>
            </a:avLst>
          </a:prstGeom>
          <a:solidFill>
            <a:srgbClr val="F5F9FB"/>
          </a:solidFill>
          <a:ln w="12700">
            <a:solidFill>
              <a:srgbClr val="E2ECF1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9006840" y="4206240"/>
            <a:ext cx="2606040" cy="54864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43" name="Text 41"/>
          <p:cNvSpPr/>
          <p:nvPr/>
        </p:nvSpPr>
        <p:spPr>
          <a:xfrm>
            <a:off x="9171432" y="4343400"/>
            <a:ext cx="2276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SERVICE THRESHOLD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9171432" y="4617720"/>
            <a:ext cx="22768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 Since Maint. &gt; 500h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9171432" y="5212080"/>
            <a:ext cx="2276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5B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4.6× higher failure probability (corr 0.932)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457200" y="652881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PredictX  |  Enterprise BI — Predictive Maintenance Analytics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11338560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918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566928"/>
            <a:ext cx="9784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Fleet Composition &amp; Operating Profile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207008"/>
            <a:ext cx="10881360" cy="18288"/>
          </a:xfrm>
          <a:prstGeom prst="rect">
            <a:avLst/>
          </a:prstGeom>
          <a:solidFill>
            <a:srgbClr val="E2ECF1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3258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Telemetry Cycles by Machine Type</a:t>
            </a:r>
            <a:endParaRPr lang="en-US" sz="135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02920" y="1691640"/>
          <a:ext cx="557784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640080" y="50292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i="1" dirty="0">
                <a:solidFill>
                  <a:srgbClr val="5B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equipment types, 20 units total — a fairly balanced fleet (~5,900–6,100 cycles each).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6492240" y="13258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Cycles by Operating Mode</a:t>
            </a:r>
            <a:endParaRPr lang="en-US" sz="1350" dirty="0"/>
          </a:p>
        </p:txBody>
      </p:sp>
      <p:graphicFrame>
        <p:nvGraphicFramePr>
          <p:cNvPr id="9" name="Chart 1" descr=""/>
          <p:cNvGraphicFramePr/>
          <p:nvPr/>
        </p:nvGraphicFramePr>
        <p:xfrm>
          <a:off x="6400800" y="1691640"/>
          <a:ext cx="512064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Text 6"/>
          <p:cNvSpPr/>
          <p:nvPr/>
        </p:nvSpPr>
        <p:spPr>
          <a:xfrm>
            <a:off x="6492240" y="502920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i="1" dirty="0">
                <a:solidFill>
                  <a:srgbClr val="5B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Roughly 1 in 4 cycles run in Peak/Overload mode — the operating state most associated with elevated failure risk.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457200" y="652881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PredictX  |  Enterprise BI — Predictive Maintenance Analytics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11338560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918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566928"/>
            <a:ext cx="9784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Failure Mode Breakdown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207008"/>
            <a:ext cx="10881360" cy="18288"/>
          </a:xfrm>
          <a:prstGeom prst="rect">
            <a:avLst/>
          </a:prstGeom>
          <a:solidFill>
            <a:srgbClr val="E2ECF1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2801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24,042 records, 3,560 (14.8%) capture an active failure event, spread across four failure modes.</a:t>
            </a:r>
            <a:endParaRPr lang="en-US" sz="13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02920" y="1783080"/>
          <a:ext cx="667512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7452360" y="1783080"/>
            <a:ext cx="4069080" cy="4297680"/>
          </a:xfrm>
          <a:prstGeom prst="roundRect">
            <a:avLst>
              <a:gd name="adj" fmla="val 2022"/>
            </a:avLst>
          </a:prstGeom>
          <a:solidFill>
            <a:srgbClr val="0B2545"/>
          </a:solidFill>
          <a:ln/>
        </p:spPr>
      </p:sp>
      <p:sp>
        <p:nvSpPr>
          <p:cNvPr id="8" name="Text 5"/>
          <p:cNvSpPr/>
          <p:nvPr/>
        </p:nvSpPr>
        <p:spPr>
          <a:xfrm>
            <a:off x="7726680" y="196596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Bearing &amp; Motor Overheating drive 61.2% of all fleet outages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726680" y="27889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1C0A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1,117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7726680" y="3227832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A9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Bearing failures — 31.4% of all fleet failures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7726680" y="379476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1C0A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1,060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7726680" y="4233672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A9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overheats — 29.8% of all fleet failures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7726680" y="48006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1C0A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2.2 mm/s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7726680" y="5239512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A9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Vibration RMS spike — 18-hr advance indicator before rotor lock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457200" y="652881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PredictX  |  Enterprise BI — Predictive Maintenance Analytics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1338560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918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566928"/>
            <a:ext cx="9784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Lifecycle Degradation &amp; Telemetry Trends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207008"/>
            <a:ext cx="10881360" cy="18288"/>
          </a:xfrm>
          <a:prstGeom prst="rect">
            <a:avLst/>
          </a:prstGeom>
          <a:solidFill>
            <a:srgbClr val="E2ECF1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2801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stress evolution and failure incidence across operating hours since last maintenance.</a:t>
            </a:r>
            <a:endParaRPr lang="en-US" sz="13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02920" y="1691640"/>
          <a:ext cx="7315200" cy="4251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8001000" y="1691640"/>
            <a:ext cx="3520440" cy="4251960"/>
          </a:xfrm>
          <a:prstGeom prst="roundRect">
            <a:avLst>
              <a:gd name="adj" fmla="val 2338"/>
            </a:avLst>
          </a:prstGeom>
          <a:solidFill>
            <a:srgbClr val="F5F9FB"/>
          </a:solidFill>
          <a:ln w="12700">
            <a:solidFill>
              <a:srgbClr val="E2ECF1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229600" y="1920240"/>
            <a:ext cx="502920" cy="502920"/>
          </a:xfrm>
          <a:prstGeom prst="ellipse">
            <a:avLst/>
          </a:prstGeom>
          <a:solidFill>
            <a:srgbClr val="D64545"/>
          </a:solidFill>
          <a:ln/>
        </p:spPr>
      </p:sp>
      <p:pic>
        <p:nvPicPr>
          <p:cNvPr id="9" name="Image 0" descr="/home/claude/predictx_ppt/icon_aler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50301" y="2040941"/>
            <a:ext cx="261518" cy="26151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851392" y="199339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Pattern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8229600" y="2606040"/>
            <a:ext cx="3108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i="1" dirty="0">
                <a:solidFill>
                  <a:srgbClr val="5B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vibration threshold breaches (&gt;2.2 mm/s) begin after 450 operating hours, triggering sharp thermal spikes above 65°C shortly after.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8229600" y="4206240"/>
            <a:ext cx="3108960" cy="0"/>
          </a:xfrm>
          <a:prstGeom prst="line">
            <a:avLst/>
          </a:prstGeom>
          <a:noFill/>
          <a:ln w="12700">
            <a:solidFill>
              <a:srgbClr val="E2ECF1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8229600" y="438912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5B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curves accelerate together past the 450–500h mark — the practical window for preventative service.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457200" y="652881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PredictX  |  Enterprise BI — Predictive Maintenance Analytics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11338560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918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566928"/>
            <a:ext cx="9784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Equipment Class Risk &amp; Financial Impact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207008"/>
            <a:ext cx="10881360" cy="18288"/>
          </a:xfrm>
          <a:prstGeom prst="rect">
            <a:avLst/>
          </a:prstGeom>
          <a:solidFill>
            <a:srgbClr val="E2ECF1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2801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frequency and mean projected repair cost compared across machine types.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7373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Repair Cost by Machine Type</a:t>
            </a:r>
            <a:endParaRPr lang="en-US" sz="13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502920" y="2103120"/>
          <a:ext cx="562356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6446520" y="1737360"/>
            <a:ext cx="5074920" cy="3931920"/>
          </a:xfrm>
          <a:prstGeom prst="roundRect">
            <a:avLst>
              <a:gd name="adj" fmla="val 2093"/>
            </a:avLst>
          </a:prstGeom>
          <a:solidFill>
            <a:srgbClr val="0B2545"/>
          </a:solidFill>
          <a:ln/>
        </p:spPr>
      </p:sp>
      <p:sp>
        <p:nvSpPr>
          <p:cNvPr id="9" name="Shape 6"/>
          <p:cNvSpPr/>
          <p:nvPr/>
        </p:nvSpPr>
        <p:spPr>
          <a:xfrm>
            <a:off x="6720840" y="1965960"/>
            <a:ext cx="502920" cy="50292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10" name="Image 0" descr="/home/claude/predictx_ppt/icon_doll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1541" y="2086661"/>
            <a:ext cx="261518" cy="26151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360920" y="202996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6720840" y="2606040"/>
            <a:ext cx="4480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i="1" dirty="0">
                <a:solidFill>
                  <a:srgbClr val="CF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Pumps recorded the highest total maintenance expenditure at $3.82M, while Robotic Arms exhibited the highest frequency of motor overheating incidents.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6720840" y="3749040"/>
            <a:ext cx="4206240" cy="0"/>
          </a:xfrm>
          <a:prstGeom prst="line">
            <a:avLst/>
          </a:prstGeom>
          <a:noFill/>
          <a:ln w="12700">
            <a:solidFill>
              <a:srgbClr val="2A5D82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6720840" y="393192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1C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Fleet-wide financial exposure</a:t>
            </a:r>
            <a:endParaRPr lang="en-US" sz="1150" dirty="0"/>
          </a:p>
        </p:txBody>
      </p:sp>
      <p:sp>
        <p:nvSpPr>
          <p:cNvPr id="15" name="Text 11"/>
          <p:cNvSpPr/>
          <p:nvPr/>
        </p:nvSpPr>
        <p:spPr>
          <a:xfrm>
            <a:off x="6720840" y="431596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$14.64M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8321040" y="4352544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projected fleet repair cost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6720840" y="477316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$7,995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8321040" y="4809744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highest recorded repair cost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6720840" y="523036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$608.87</a:t>
            </a:r>
            <a:endParaRPr lang="en-US" sz="1400" dirty="0"/>
          </a:p>
        </p:txBody>
      </p:sp>
      <p:sp>
        <p:nvSpPr>
          <p:cNvPr id="20" name="Text 16"/>
          <p:cNvSpPr/>
          <p:nvPr/>
        </p:nvSpPr>
        <p:spPr>
          <a:xfrm>
            <a:off x="8321040" y="5266944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projected repair cost / incident</a:t>
            </a:r>
            <a:endParaRPr lang="en-US" sz="1000" dirty="0"/>
          </a:p>
        </p:txBody>
      </p:sp>
      <p:sp>
        <p:nvSpPr>
          <p:cNvPr id="21" name="Text 17"/>
          <p:cNvSpPr/>
          <p:nvPr/>
        </p:nvSpPr>
        <p:spPr>
          <a:xfrm>
            <a:off x="457200" y="652881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PredictX  |  Enterprise BI — Predictive Maintenance Analytics</a:t>
            </a:r>
            <a:endParaRPr lang="en-US" sz="900" dirty="0"/>
          </a:p>
        </p:txBody>
      </p:sp>
      <p:sp>
        <p:nvSpPr>
          <p:cNvPr id="22" name="Text 18"/>
          <p:cNvSpPr/>
          <p:nvPr/>
        </p:nvSpPr>
        <p:spPr>
          <a:xfrm>
            <a:off x="11338560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918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566928"/>
            <a:ext cx="9784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Remaining Useful Life (RUL) Distribution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207008"/>
            <a:ext cx="10881360" cy="18288"/>
          </a:xfrm>
          <a:prstGeom prst="rect">
            <a:avLst/>
          </a:prstGeom>
          <a:solidFill>
            <a:srgbClr val="E2ECF1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2801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 RUL hours spread, showing sharp bimodality under normal vs. peak operating stress.</a:t>
            </a:r>
            <a:endParaRPr lang="en-US" sz="13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02920" y="1691640"/>
          <a:ext cx="676656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7498080" y="1691640"/>
            <a:ext cx="4023360" cy="4297680"/>
          </a:xfrm>
          <a:prstGeom prst="roundRect">
            <a:avLst>
              <a:gd name="adj" fmla="val 2045"/>
            </a:avLst>
          </a:prstGeom>
          <a:solidFill>
            <a:srgbClr val="F5F9FB"/>
          </a:solidFill>
          <a:ln w="12700">
            <a:solidFill>
              <a:srgbClr val="E2ECF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726680" y="19202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27.8h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7726680" y="23317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RUL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9601200" y="19202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22.6h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9601200" y="23317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RUL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7726680" y="28803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45.9h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7726680" y="32918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IQR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9601200" y="28803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0.5–98.3h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9601200" y="32918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span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7726680" y="3931920"/>
            <a:ext cx="3566160" cy="0"/>
          </a:xfrm>
          <a:prstGeom prst="line">
            <a:avLst/>
          </a:prstGeom>
          <a:noFill/>
          <a:ln w="12700">
            <a:solidFill>
              <a:srgbClr val="E2ECF1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726680" y="4114800"/>
            <a:ext cx="457200" cy="45720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18" name="Image 0" descr="/home/claude/predictx_ppt/icon_aler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36408" y="4224528"/>
            <a:ext cx="237744" cy="237744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8321040" y="418795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 Insight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7726680" y="4663440"/>
            <a:ext cx="3566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i="1" dirty="0">
                <a:solidFill>
                  <a:srgbClr val="5B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25% of equipment clusters tightly at &lt;5.0h RUL during peak loads — acute failure risks requiring immediate dispatch.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457200" y="652881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PredictX  |  Enterprise BI — Predictive Maintenance Analytics</a:t>
            </a:r>
            <a:endParaRPr lang="en-US" sz="900" dirty="0"/>
          </a:p>
        </p:txBody>
      </p:sp>
      <p:sp>
        <p:nvSpPr>
          <p:cNvPr id="22" name="Text 18"/>
          <p:cNvSpPr/>
          <p:nvPr/>
        </p:nvSpPr>
        <p:spPr>
          <a:xfrm>
            <a:off x="11338560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918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566928"/>
            <a:ext cx="9784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ML Performance: Actual vs. Predicted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207008"/>
            <a:ext cx="10881360" cy="18288"/>
          </a:xfrm>
          <a:prstGeom prst="rect">
            <a:avLst/>
          </a:prstGeom>
          <a:solidFill>
            <a:srgbClr val="E2ECF1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2801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Binary Classifier — test set validation on 4,809 records (stratified 20% holdout).</a:t>
            </a:r>
            <a:endParaRPr lang="en-US" sz="13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83080"/>
          <a:ext cx="5486400" cy="1737360"/>
        </p:xfrm>
        <a:graphic>
          <a:graphicData uri="http://schemas.openxmlformats.org/drawingml/2006/table">
            <a:tbl>
              <a:tblPr/>
              <a:tblGrid>
                <a:gridCol w="1737360"/>
                <a:gridCol w="1874520"/>
                <a:gridCol w="1874520"/>
              </a:tblGrid>
              <a:tr h="5791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Predicted: Healthy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Predicted: Failure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329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Actual: Healthy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45A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4,032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45A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True Negative (83.8%)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5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D64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D64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False Positive (1.4%)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329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Actual: Failure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D64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D64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False Negative (1.3%)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45A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45A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True Positive (13.5%)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5EC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640080" y="3703320"/>
            <a:ext cx="1042416" cy="914400"/>
          </a:xfrm>
          <a:prstGeom prst="roundRect">
            <a:avLst>
              <a:gd name="adj" fmla="val 6000"/>
            </a:avLst>
          </a:prstGeom>
          <a:solidFill>
            <a:srgbClr val="F5F9FB"/>
          </a:solidFill>
          <a:ln w="12700">
            <a:solidFill>
              <a:srgbClr val="E2ECF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0080" y="3794760"/>
            <a:ext cx="10424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97.38%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640080" y="4206240"/>
            <a:ext cx="10424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1773936" y="3703320"/>
            <a:ext cx="1042416" cy="914400"/>
          </a:xfrm>
          <a:prstGeom prst="roundRect">
            <a:avLst>
              <a:gd name="adj" fmla="val 6000"/>
            </a:avLst>
          </a:prstGeom>
          <a:solidFill>
            <a:srgbClr val="F5F9FB"/>
          </a:solidFill>
          <a:ln w="12700">
            <a:solidFill>
              <a:srgbClr val="E2ECF1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773936" y="3794760"/>
            <a:ext cx="10424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90.92%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1773936" y="4206240"/>
            <a:ext cx="10424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2907792" y="3703320"/>
            <a:ext cx="1042416" cy="914400"/>
          </a:xfrm>
          <a:prstGeom prst="roundRect">
            <a:avLst>
              <a:gd name="adj" fmla="val 6000"/>
            </a:avLst>
          </a:prstGeom>
          <a:solidFill>
            <a:srgbClr val="F5F9FB"/>
          </a:solidFill>
          <a:ln w="12700">
            <a:solidFill>
              <a:srgbClr val="E2ECF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907792" y="3794760"/>
            <a:ext cx="10424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91.43%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2907792" y="4206240"/>
            <a:ext cx="10424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4041648" y="3703320"/>
            <a:ext cx="1042416" cy="914400"/>
          </a:xfrm>
          <a:prstGeom prst="roundRect">
            <a:avLst>
              <a:gd name="adj" fmla="val 6000"/>
            </a:avLst>
          </a:prstGeom>
          <a:solidFill>
            <a:srgbClr val="F5F9FB"/>
          </a:solidFill>
          <a:ln w="12700">
            <a:solidFill>
              <a:srgbClr val="E2ECF1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041648" y="3794760"/>
            <a:ext cx="10424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91.18%</a:t>
            </a:r>
            <a:endParaRPr lang="en-US" sz="1350" dirty="0"/>
          </a:p>
        </p:txBody>
      </p:sp>
      <p:sp>
        <p:nvSpPr>
          <p:cNvPr id="18" name="Text 15"/>
          <p:cNvSpPr/>
          <p:nvPr/>
        </p:nvSpPr>
        <p:spPr>
          <a:xfrm>
            <a:off x="4041648" y="4206240"/>
            <a:ext cx="10424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5175504" y="3703320"/>
            <a:ext cx="1042416" cy="914400"/>
          </a:xfrm>
          <a:prstGeom prst="roundRect">
            <a:avLst>
              <a:gd name="adj" fmla="val 6000"/>
            </a:avLst>
          </a:prstGeom>
          <a:solidFill>
            <a:srgbClr val="F5F9FB"/>
          </a:solidFill>
          <a:ln w="12700">
            <a:solidFill>
              <a:srgbClr val="E2ECF1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175504" y="3794760"/>
            <a:ext cx="10424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0.9954</a:t>
            </a:r>
            <a:endParaRPr lang="en-US" sz="1350" dirty="0"/>
          </a:p>
        </p:txBody>
      </p:sp>
      <p:sp>
        <p:nvSpPr>
          <p:cNvPr id="21" name="Text 18"/>
          <p:cNvSpPr/>
          <p:nvPr/>
        </p:nvSpPr>
        <p:spPr>
          <a:xfrm>
            <a:off x="5175504" y="4206240"/>
            <a:ext cx="10424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640080" y="4800600"/>
            <a:ext cx="5486400" cy="1234440"/>
          </a:xfrm>
          <a:prstGeom prst="roundRect">
            <a:avLst>
              <a:gd name="adj" fmla="val 5926"/>
            </a:avLst>
          </a:prstGeom>
          <a:solidFill>
            <a:srgbClr val="0B2545"/>
          </a:solidFill>
          <a:ln/>
        </p:spPr>
      </p:sp>
      <p:sp>
        <p:nvSpPr>
          <p:cNvPr id="23" name="Text 20"/>
          <p:cNvSpPr/>
          <p:nvPr/>
        </p:nvSpPr>
        <p:spPr>
          <a:xfrm>
            <a:off x="868680" y="4956048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i="1" dirty="0">
                <a:solidFill>
                  <a:srgbClr val="CF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captured 651 of 712 test failure cases — a 91.4% recall on real incidents.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6446520" y="1783080"/>
            <a:ext cx="5074920" cy="4251960"/>
          </a:xfrm>
          <a:prstGeom prst="roundRect">
            <a:avLst>
              <a:gd name="adj" fmla="val 1935"/>
            </a:avLst>
          </a:prstGeom>
          <a:solidFill>
            <a:srgbClr val="F5F9FB"/>
          </a:solidFill>
          <a:ln w="12700">
            <a:solidFill>
              <a:srgbClr val="E2ECF1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675120" y="19659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Regression — Random Forest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6675120" y="24688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0.9212</a:t>
            </a:r>
            <a:endParaRPr lang="en-US" sz="1900" dirty="0"/>
          </a:p>
        </p:txBody>
      </p:sp>
      <p:sp>
        <p:nvSpPr>
          <p:cNvPr id="27" name="Text 24"/>
          <p:cNvSpPr/>
          <p:nvPr/>
        </p:nvSpPr>
        <p:spPr>
          <a:xfrm>
            <a:off x="6675120" y="292608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Score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8275320" y="24688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$142.54</a:t>
            </a:r>
            <a:endParaRPr lang="en-US" sz="1900" dirty="0"/>
          </a:p>
        </p:txBody>
      </p:sp>
      <p:sp>
        <p:nvSpPr>
          <p:cNvPr id="29" name="Text 26"/>
          <p:cNvSpPr/>
          <p:nvPr/>
        </p:nvSpPr>
        <p:spPr>
          <a:xfrm>
            <a:off x="8275320" y="292608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</a:t>
            </a:r>
            <a:endParaRPr lang="en-US" sz="950" dirty="0"/>
          </a:p>
        </p:txBody>
      </p:sp>
      <p:sp>
        <p:nvSpPr>
          <p:cNvPr id="30" name="Text 27"/>
          <p:cNvSpPr/>
          <p:nvPr/>
        </p:nvSpPr>
        <p:spPr>
          <a:xfrm>
            <a:off x="9875520" y="24688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$444.87</a:t>
            </a:r>
            <a:endParaRPr lang="en-US" sz="1900" dirty="0"/>
          </a:p>
        </p:txBody>
      </p:sp>
      <p:sp>
        <p:nvSpPr>
          <p:cNvPr id="31" name="Text 28"/>
          <p:cNvSpPr/>
          <p:nvPr/>
        </p:nvSpPr>
        <p:spPr>
          <a:xfrm>
            <a:off x="9875520" y="292608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</a:t>
            </a:r>
            <a:endParaRPr lang="en-US" sz="950" dirty="0"/>
          </a:p>
        </p:txBody>
      </p:sp>
      <p:sp>
        <p:nvSpPr>
          <p:cNvPr id="32" name="Shape 29"/>
          <p:cNvSpPr/>
          <p:nvPr/>
        </p:nvSpPr>
        <p:spPr>
          <a:xfrm>
            <a:off x="6675120" y="3429000"/>
            <a:ext cx="4572000" cy="0"/>
          </a:xfrm>
          <a:prstGeom prst="line">
            <a:avLst/>
          </a:prstGeom>
          <a:noFill/>
          <a:ln w="12700">
            <a:solidFill>
              <a:srgbClr val="E2ECF1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6675120" y="3611880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Regressor achieves R² = 0.9212 with MAE of $142.54 — explaining over 92% of repair-cost variance across the fleet.</a:t>
            </a:r>
            <a:endParaRPr lang="en-US" sz="1150" dirty="0"/>
          </a:p>
        </p:txBody>
      </p:sp>
      <p:sp>
        <p:nvSpPr>
          <p:cNvPr id="34" name="Text 31"/>
          <p:cNvSpPr/>
          <p:nvPr/>
        </p:nvSpPr>
        <p:spPr>
          <a:xfrm>
            <a:off x="6675120" y="4754880"/>
            <a:ext cx="4572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i="1" dirty="0">
                <a:solidFill>
                  <a:srgbClr val="5B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validated with Random Forest Cost Regressor &amp; XGBoost Classifier matrix, cross-checked on the same 4,809-record holdout set.</a:t>
            </a:r>
            <a:endParaRPr lang="en-US" sz="1050" dirty="0"/>
          </a:p>
        </p:txBody>
      </p:sp>
      <p:sp>
        <p:nvSpPr>
          <p:cNvPr id="35" name="Text 32"/>
          <p:cNvSpPr/>
          <p:nvPr/>
        </p:nvSpPr>
        <p:spPr>
          <a:xfrm>
            <a:off x="457200" y="652881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PredictX  |  Enterprise BI — Predictive Maintenance Analytics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11338560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918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566928"/>
            <a:ext cx="9784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Telemetry Feature Importance &amp; Failure Correlation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207008"/>
            <a:ext cx="10881360" cy="18288"/>
          </a:xfrm>
          <a:prstGeom prst="rect">
            <a:avLst/>
          </a:prstGeom>
          <a:solidFill>
            <a:srgbClr val="E2ECF1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2801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Quantified correlation with repair cost and model feature weights across telemetry dimensions.</a:t>
            </a:r>
            <a:endParaRPr lang="en-US" sz="13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02920" y="1737360"/>
          <a:ext cx="667512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7452360" y="1737360"/>
            <a:ext cx="4069080" cy="4206240"/>
          </a:xfrm>
          <a:prstGeom prst="roundRect">
            <a:avLst>
              <a:gd name="adj" fmla="val 2022"/>
            </a:avLst>
          </a:prstGeom>
          <a:solidFill>
            <a:srgbClr val="0B2545"/>
          </a:solidFill>
          <a:ln/>
        </p:spPr>
      </p:sp>
      <p:sp>
        <p:nvSpPr>
          <p:cNvPr id="8" name="Text 5"/>
          <p:cNvSpPr/>
          <p:nvPr/>
        </p:nvSpPr>
        <p:spPr>
          <a:xfrm>
            <a:off x="7726680" y="19202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C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Failure Drivers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726680" y="233172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#1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8412480" y="235000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Temperature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8412480" y="2660904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A9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+0.407 correlation with repair cost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7726680" y="3264408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#2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8412480" y="3282696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 Since Maintenance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8412480" y="3593592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A9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−0.307 correlation with RUL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7726680" y="4197096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#3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8412480" y="4215384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Vibration RMS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8412480" y="45262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A9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+0.219 correlation with failure onset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7726680" y="5257800"/>
            <a:ext cx="3566160" cy="0"/>
          </a:xfrm>
          <a:prstGeom prst="line">
            <a:avLst/>
          </a:prstGeom>
          <a:noFill/>
          <a:ln w="12700">
            <a:solidFill>
              <a:srgbClr val="2A5D82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726680" y="5376672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i="1" dirty="0">
                <a:solidFill>
                  <a:srgbClr val="A9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Thermal anomalies and accumulated operating hours account for over 65% of model decision-tree splitting gain.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457200" y="652881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PredictX  |  Enterprise BI — Predictive Maintenance Analytics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11338560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918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COMPARISON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566928"/>
            <a:ext cx="9784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Production ML Benchmark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207008"/>
            <a:ext cx="10881360" cy="18288"/>
          </a:xfrm>
          <a:prstGeom prst="rect">
            <a:avLst/>
          </a:prstGeom>
          <a:solidFill>
            <a:srgbClr val="E2ECF1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2801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Comparative evaluation across 5 algorithmic architectures, evaluated on 4,809 holdout test records.</a:t>
            </a:r>
            <a:endParaRPr lang="en-US" sz="12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83080"/>
          <a:ext cx="10881360" cy="3200400"/>
        </p:xfrm>
        <a:graphic>
          <a:graphicData uri="http://schemas.openxmlformats.org/drawingml/2006/table">
            <a:tbl>
              <a:tblPr/>
              <a:tblGrid>
                <a:gridCol w="2651760"/>
                <a:gridCol w="2743200"/>
                <a:gridCol w="1828800"/>
                <a:gridCol w="1828800"/>
                <a:gridCol w="182880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Metric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 / R²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329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XGBoost Classifier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29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24h Failure Classification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293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97.38% Acc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293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0.9118 F1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E7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Deployed — Rank 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329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Extra Trees Regressor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29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RUL Hours Estimation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293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0.6912 R²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293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9.09h MAE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E7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Deployed — Rank 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329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 Regressor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29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Repair Cost Estimation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293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0.9212 R²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293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$142.54 MAE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E7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Deployed — Rank 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329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XGBoost Multi-Class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29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Failure Mode Diagnosis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293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97.75% Acc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293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0.9774 F1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E7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Deployed — Rank 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329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 Tree Baseline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29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Failure Classification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293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93.91% Acc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293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0.8118 F1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5B76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329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SVM (RBF Kernel)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29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Failure Classification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293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92.78% Acc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293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0.7946 F1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5B76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Benchmark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640080" y="5166360"/>
            <a:ext cx="10881360" cy="960120"/>
          </a:xfrm>
          <a:prstGeom prst="roundRect">
            <a:avLst>
              <a:gd name="adj" fmla="val 7619"/>
            </a:avLst>
          </a:prstGeom>
          <a:solidFill>
            <a:srgbClr val="F5F9FB"/>
          </a:solidFill>
          <a:ln w="12700">
            <a:solidFill>
              <a:srgbClr val="E2ECF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14400" y="5166360"/>
            <a:ext cx="10332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four production models are cross-validated &amp; calibrated, and currently deployed as Rank-1 models for their respective task.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457200" y="652881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PredictX  |  Enterprise BI — Predictive Maintenance Analytics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338560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918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MODEL INFERENCE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566928"/>
            <a:ext cx="9784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Interactive "What-If" Risk Simulator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207008"/>
            <a:ext cx="10881360" cy="18288"/>
          </a:xfrm>
          <a:prstGeom prst="rect">
            <a:avLst/>
          </a:prstGeom>
          <a:solidFill>
            <a:srgbClr val="E2ECF1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2801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Operators adjust telemetry parameters to get real-time failure probability, RUL, and cost estimates.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1737360"/>
            <a:ext cx="5394960" cy="4297680"/>
          </a:xfrm>
          <a:prstGeom prst="roundRect">
            <a:avLst>
              <a:gd name="adj" fmla="val 1915"/>
            </a:avLst>
          </a:prstGeom>
          <a:solidFill>
            <a:srgbClr val="F5F9FB"/>
          </a:solidFill>
          <a:ln w="12700">
            <a:solidFill>
              <a:srgbClr val="E2EC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9202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Telemetry Input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24231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Temperature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206240" y="242316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51.4 °C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914400" y="2752344"/>
            <a:ext cx="4937760" cy="54864"/>
          </a:xfrm>
          <a:prstGeom prst="rect">
            <a:avLst/>
          </a:prstGeom>
          <a:solidFill>
            <a:srgbClr val="E2ECF1"/>
          </a:solidFill>
          <a:ln/>
        </p:spPr>
      </p:sp>
      <p:sp>
        <p:nvSpPr>
          <p:cNvPr id="11" name="Shape 9"/>
          <p:cNvSpPr/>
          <p:nvPr/>
        </p:nvSpPr>
        <p:spPr>
          <a:xfrm>
            <a:off x="914400" y="2752344"/>
            <a:ext cx="2194560" cy="54864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286207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mean — range 25–95°C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914400" y="331927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Vibration RMS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206240" y="331927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1.62 mm/s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914400" y="3648456"/>
            <a:ext cx="4937760" cy="54864"/>
          </a:xfrm>
          <a:prstGeom prst="rect">
            <a:avLst/>
          </a:prstGeom>
          <a:solidFill>
            <a:srgbClr val="E2ECF1"/>
          </a:solidFill>
          <a:ln/>
        </p:spPr>
      </p:sp>
      <p:sp>
        <p:nvSpPr>
          <p:cNvPr id="16" name="Shape 14"/>
          <p:cNvSpPr/>
          <p:nvPr/>
        </p:nvSpPr>
        <p:spPr>
          <a:xfrm>
            <a:off x="914400" y="3648456"/>
            <a:ext cx="2194560" cy="54864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3758184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— range 0.3–10.0 mm/s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914400" y="421538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 Since Last Service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206240" y="4215384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172 hrs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914400" y="4544568"/>
            <a:ext cx="4937760" cy="54864"/>
          </a:xfrm>
          <a:prstGeom prst="rect">
            <a:avLst/>
          </a:prstGeom>
          <a:solidFill>
            <a:srgbClr val="E2ECF1"/>
          </a:solidFill>
          <a:ln/>
        </p:spPr>
      </p:sp>
      <p:sp>
        <p:nvSpPr>
          <p:cNvPr id="21" name="Shape 19"/>
          <p:cNvSpPr/>
          <p:nvPr/>
        </p:nvSpPr>
        <p:spPr>
          <a:xfrm>
            <a:off x="914400" y="4544568"/>
            <a:ext cx="2194560" cy="54864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2" name="Text 20"/>
          <p:cNvSpPr/>
          <p:nvPr/>
        </p:nvSpPr>
        <p:spPr>
          <a:xfrm>
            <a:off x="914400" y="4654296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 at 500h — range 0–575h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914400" y="511149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Phase Avg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206240" y="5111496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8.8 A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914400" y="5440680"/>
            <a:ext cx="4937760" cy="54864"/>
          </a:xfrm>
          <a:prstGeom prst="rect">
            <a:avLst/>
          </a:prstGeom>
          <a:solidFill>
            <a:srgbClr val="E2ECF1"/>
          </a:solidFill>
          <a:ln/>
        </p:spPr>
      </p:sp>
      <p:sp>
        <p:nvSpPr>
          <p:cNvPr id="26" name="Shape 24"/>
          <p:cNvSpPr/>
          <p:nvPr/>
        </p:nvSpPr>
        <p:spPr>
          <a:xfrm>
            <a:off x="914400" y="5440680"/>
            <a:ext cx="2194560" cy="54864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7" name="Text 25"/>
          <p:cNvSpPr/>
          <p:nvPr/>
        </p:nvSpPr>
        <p:spPr>
          <a:xfrm>
            <a:off x="914400" y="555040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— range 2.0–35.0 A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172200" y="1737360"/>
            <a:ext cx="5349240" cy="4297680"/>
          </a:xfrm>
          <a:prstGeom prst="roundRect">
            <a:avLst>
              <a:gd name="adj" fmla="val 1915"/>
            </a:avLst>
          </a:prstGeom>
          <a:solidFill>
            <a:srgbClr val="0B2545"/>
          </a:solidFill>
          <a:ln/>
        </p:spPr>
      </p:sp>
      <p:sp>
        <p:nvSpPr>
          <p:cNvPr id="29" name="Text 27"/>
          <p:cNvSpPr/>
          <p:nvPr/>
        </p:nvSpPr>
        <p:spPr>
          <a:xfrm>
            <a:off x="6446520" y="19202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C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Model Inference Output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446520" y="2331720"/>
            <a:ext cx="4800600" cy="502920"/>
          </a:xfrm>
          <a:prstGeom prst="roundRect">
            <a:avLst>
              <a:gd name="adj" fmla="val 50909"/>
            </a:avLst>
          </a:prstGeom>
          <a:solidFill>
            <a:srgbClr val="1E5B3A"/>
          </a:solidFill>
          <a:ln/>
        </p:spPr>
      </p:sp>
      <p:sp>
        <p:nvSpPr>
          <p:cNvPr id="31" name="Text 29"/>
          <p:cNvSpPr/>
          <p:nvPr/>
        </p:nvSpPr>
        <p:spPr>
          <a:xfrm>
            <a:off x="6446520" y="2331720"/>
            <a:ext cx="4800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12.4% FAILURE RISK — LOW / HEALTHY OPERATION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446520" y="306324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32.4 hrs</a:t>
            </a:r>
            <a:endParaRPr lang="en-US" sz="1900" dirty="0"/>
          </a:p>
        </p:txBody>
      </p:sp>
      <p:sp>
        <p:nvSpPr>
          <p:cNvPr id="33" name="Text 31"/>
          <p:cNvSpPr/>
          <p:nvPr/>
        </p:nvSpPr>
        <p:spPr>
          <a:xfrm>
            <a:off x="6446520" y="35661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RUL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6446520" y="3822192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9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Trees Regression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8074152" y="306324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$185.00</a:t>
            </a:r>
            <a:endParaRPr lang="en-US" sz="1900" dirty="0"/>
          </a:p>
        </p:txBody>
      </p:sp>
      <p:sp>
        <p:nvSpPr>
          <p:cNvPr id="36" name="Text 34"/>
          <p:cNvSpPr/>
          <p:nvPr/>
        </p:nvSpPr>
        <p:spPr>
          <a:xfrm>
            <a:off x="8074152" y="35661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Cost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8074152" y="3822192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9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Est.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9701784" y="306324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None</a:t>
            </a:r>
            <a:endParaRPr lang="en-US" sz="1900" dirty="0"/>
          </a:p>
        </p:txBody>
      </p:sp>
      <p:sp>
        <p:nvSpPr>
          <p:cNvPr id="39" name="Text 37"/>
          <p:cNvSpPr/>
          <p:nvPr/>
        </p:nvSpPr>
        <p:spPr>
          <a:xfrm>
            <a:off x="9701784" y="35661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Mode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9701784" y="3822192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9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Operation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6446520" y="4434840"/>
            <a:ext cx="4800600" cy="0"/>
          </a:xfrm>
          <a:prstGeom prst="line">
            <a:avLst/>
          </a:prstGeom>
          <a:noFill/>
          <a:ln w="12700">
            <a:solidFill>
              <a:srgbClr val="1E4A7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46520" y="4572000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A9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automated monitoring interval: every 60 minutes.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6446520" y="5029200"/>
            <a:ext cx="4800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CF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same interface analysts use to stress-test "what happens if this machine keeps running for 3 more shifts."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457200" y="652881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PredictX  |  Enterprise BI — Predictive Maintenance Analytics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11338560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918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INTELLIGENCE SUMMARY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566928"/>
            <a:ext cx="9784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Executive &amp; Engineering Insights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207008"/>
            <a:ext cx="10881360" cy="18288"/>
          </a:xfrm>
          <a:prstGeom prst="rect">
            <a:avLst/>
          </a:prstGeom>
          <a:solidFill>
            <a:srgbClr val="E2ECF1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417320"/>
            <a:ext cx="5257800" cy="2286000"/>
          </a:xfrm>
          <a:prstGeom prst="roundRect">
            <a:avLst>
              <a:gd name="adj" fmla="val 3600"/>
            </a:avLst>
          </a:prstGeom>
          <a:solidFill>
            <a:srgbClr val="F5F9FB"/>
          </a:solidFill>
          <a:ln w="12700">
            <a:solidFill>
              <a:srgbClr val="E2ECF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417320"/>
            <a:ext cx="82296" cy="2286000"/>
          </a:xfrm>
          <a:prstGeom prst="rect">
            <a:avLst/>
          </a:prstGeom>
          <a:solidFill>
            <a:srgbClr val="D64545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55448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7DC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508760" y="1600200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Thermal Strain is the Primary Cost Driver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914400" y="2194560"/>
            <a:ext cx="4709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B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temperature correlates +0.407 with catastrophic maintenance costs. Above 65°C, average repair cost leaps from $120 to over $4,250.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914400" y="3246120"/>
            <a:ext cx="4709160" cy="320040"/>
          </a:xfrm>
          <a:prstGeom prst="roundRect">
            <a:avLst>
              <a:gd name="adj" fmla="val 14286"/>
            </a:avLst>
          </a:prstGeom>
          <a:solidFill>
            <a:srgbClr val="D64545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3246120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Action: Set thermal early warning at 62°C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263640" y="1417320"/>
            <a:ext cx="5257800" cy="2286000"/>
          </a:xfrm>
          <a:prstGeom prst="roundRect">
            <a:avLst>
              <a:gd name="adj" fmla="val 3600"/>
            </a:avLst>
          </a:prstGeom>
          <a:solidFill>
            <a:srgbClr val="F5F9FB"/>
          </a:solidFill>
          <a:ln w="12700">
            <a:solidFill>
              <a:srgbClr val="E2ECF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63640" y="1417320"/>
            <a:ext cx="82296" cy="2286000"/>
          </a:xfrm>
          <a:prstGeom prst="rect">
            <a:avLst/>
          </a:prstGeom>
          <a:solidFill>
            <a:srgbClr val="F2A93B"/>
          </a:solidFill>
          <a:ln/>
        </p:spPr>
      </p:sp>
      <p:sp>
        <p:nvSpPr>
          <p:cNvPr id="14" name="Text 12"/>
          <p:cNvSpPr/>
          <p:nvPr/>
        </p:nvSpPr>
        <p:spPr>
          <a:xfrm>
            <a:off x="6537960" y="155448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7DC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7132320" y="1600200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Exceeding 500h Triggers a 4.6× Risk Surge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537960" y="2194560"/>
            <a:ext cx="4709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B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 since maintenance correlates −0.307 with RUL. Assets past 500h show 42.8% failure probability vs. 9.3% for recently serviced machines.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537960" y="3246120"/>
            <a:ext cx="4709160" cy="320040"/>
          </a:xfrm>
          <a:prstGeom prst="roundRect">
            <a:avLst>
              <a:gd name="adj" fmla="val 14286"/>
            </a:avLst>
          </a:prstGeom>
          <a:solidFill>
            <a:srgbClr val="F2A93B"/>
          </a:solidFill>
          <a:ln/>
        </p:spPr>
      </p:sp>
      <p:sp>
        <p:nvSpPr>
          <p:cNvPr id="18" name="Text 16"/>
          <p:cNvSpPr/>
          <p:nvPr/>
        </p:nvSpPr>
        <p:spPr>
          <a:xfrm>
            <a:off x="6537960" y="3246120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Action: Enforce hard preventative lockouts at 480h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40080" y="3977640"/>
            <a:ext cx="5257800" cy="2286000"/>
          </a:xfrm>
          <a:prstGeom prst="roundRect">
            <a:avLst>
              <a:gd name="adj" fmla="val 3600"/>
            </a:avLst>
          </a:prstGeom>
          <a:solidFill>
            <a:srgbClr val="F5F9FB"/>
          </a:solidFill>
          <a:ln w="12700">
            <a:solidFill>
              <a:srgbClr val="E2ECF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0080" y="3977640"/>
            <a:ext cx="82296" cy="22860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1" name="Text 19"/>
          <p:cNvSpPr/>
          <p:nvPr/>
        </p:nvSpPr>
        <p:spPr>
          <a:xfrm>
            <a:off x="914400" y="411480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7DC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508760" y="4160520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Bearing &amp; Overheating Drive 61.2% of Outages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914400" y="4754880"/>
            <a:ext cx="4709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B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3,560 failures, 1,117 (31.4%) were bearing failures and 1,060 (29.8%) were motor overheats. Vibration RMS &gt;2.2 mm/s gives an 18-hr advance warning.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914400" y="5806440"/>
            <a:ext cx="4709160" cy="320040"/>
          </a:xfrm>
          <a:prstGeom prst="roundRect">
            <a:avLst>
              <a:gd name="adj" fmla="val 14286"/>
            </a:avLst>
          </a:prstGeom>
          <a:solidFill>
            <a:srgbClr val="1C7293"/>
          </a:solidFill>
          <a:ln/>
        </p:spPr>
      </p:sp>
      <p:sp>
        <p:nvSpPr>
          <p:cNvPr id="25" name="Text 23"/>
          <p:cNvSpPr/>
          <p:nvPr/>
        </p:nvSpPr>
        <p:spPr>
          <a:xfrm>
            <a:off x="914400" y="5806440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Action: Deploy automated vibration RMS tripwires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263640" y="3977640"/>
            <a:ext cx="5257800" cy="2286000"/>
          </a:xfrm>
          <a:prstGeom prst="roundRect">
            <a:avLst>
              <a:gd name="adj" fmla="val 3600"/>
            </a:avLst>
          </a:prstGeom>
          <a:solidFill>
            <a:srgbClr val="F5F9FB"/>
          </a:solidFill>
          <a:ln w="12700">
            <a:solidFill>
              <a:srgbClr val="E2ECF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263640" y="3977640"/>
            <a:ext cx="82296" cy="2286000"/>
          </a:xfrm>
          <a:prstGeom prst="rect">
            <a:avLst/>
          </a:prstGeom>
          <a:solidFill>
            <a:srgbClr val="21C0A3"/>
          </a:solidFill>
          <a:ln/>
        </p:spPr>
      </p:sp>
      <p:sp>
        <p:nvSpPr>
          <p:cNvPr id="28" name="Text 26"/>
          <p:cNvSpPr/>
          <p:nvPr/>
        </p:nvSpPr>
        <p:spPr>
          <a:xfrm>
            <a:off x="6537960" y="411480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7DC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7132320" y="4160520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Intercepts 91.4% of Failures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6537960" y="4754880"/>
            <a:ext cx="4709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B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4,809-sample holdout, XGBoost correctly flagged 651 of 712 imminent failures — saving an estimated $10.9M annually across the fleet.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537960" y="5806440"/>
            <a:ext cx="4709160" cy="320040"/>
          </a:xfrm>
          <a:prstGeom prst="roundRect">
            <a:avLst>
              <a:gd name="adj" fmla="val 14286"/>
            </a:avLst>
          </a:prstGeom>
          <a:solidFill>
            <a:srgbClr val="21C0A3"/>
          </a:solidFill>
          <a:ln/>
        </p:spPr>
      </p:sp>
      <p:sp>
        <p:nvSpPr>
          <p:cNvPr id="32" name="Text 30"/>
          <p:cNvSpPr/>
          <p:nvPr/>
        </p:nvSpPr>
        <p:spPr>
          <a:xfrm>
            <a:off x="6537960" y="5806440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Action: Integrate model into automated SCADA alerts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57200" y="652881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PredictX  |  Enterprise BI — Predictive Maintenance Analytics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1338560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784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&amp; Technology Footprint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115568"/>
            <a:ext cx="10881360" cy="18288"/>
          </a:xfrm>
          <a:prstGeom prst="rect">
            <a:avLst/>
          </a:prstGeom>
          <a:solidFill>
            <a:srgbClr val="E2ECF1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463040"/>
            <a:ext cx="5257800" cy="4480560"/>
          </a:xfrm>
          <a:prstGeom prst="roundRect">
            <a:avLst>
              <a:gd name="adj" fmla="val 1837"/>
            </a:avLst>
          </a:prstGeom>
          <a:solidFill>
            <a:srgbClr val="F5F9FB"/>
          </a:solidFill>
          <a:ln w="12700">
            <a:solidFill>
              <a:srgbClr val="E2EC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6916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22402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914400" y="2478024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predictive_maintenance_v3.csv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29260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914400" y="3163824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24,042 rows × 21 features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14400" y="36118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914400" y="3849624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units across 4 equipment types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14400" y="42976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914400" y="4535424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January 2024 – December 2024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14400" y="49834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914400" y="5221224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imputed clean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263640" y="1463040"/>
            <a:ext cx="5257800" cy="4480560"/>
          </a:xfrm>
          <a:prstGeom prst="roundRect">
            <a:avLst>
              <a:gd name="adj" fmla="val 1837"/>
            </a:avLst>
          </a:prstGeom>
          <a:solidFill>
            <a:srgbClr val="0B2545"/>
          </a:solidFill>
          <a:ln/>
        </p:spPr>
      </p:sp>
      <p:sp>
        <p:nvSpPr>
          <p:cNvPr id="17" name="Text 15"/>
          <p:cNvSpPr/>
          <p:nvPr/>
        </p:nvSpPr>
        <p:spPr>
          <a:xfrm>
            <a:off x="6537960" y="16916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C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Models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537960" y="2286000"/>
            <a:ext cx="128016" cy="128016"/>
          </a:xfrm>
          <a:prstGeom prst="ellipse">
            <a:avLst/>
          </a:prstGeom>
          <a:solidFill>
            <a:srgbClr val="21C0A3"/>
          </a:solidFill>
          <a:ln/>
        </p:spPr>
      </p:sp>
      <p:sp>
        <p:nvSpPr>
          <p:cNvPr id="19" name="Text 17"/>
          <p:cNvSpPr/>
          <p:nvPr/>
        </p:nvSpPr>
        <p:spPr>
          <a:xfrm>
            <a:off x="6812280" y="2167128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Classifier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6812280" y="2478024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9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Prediction (24h)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537960" y="3182112"/>
            <a:ext cx="128016" cy="128016"/>
          </a:xfrm>
          <a:prstGeom prst="ellipse">
            <a:avLst/>
          </a:prstGeom>
          <a:solidFill>
            <a:srgbClr val="21C0A3"/>
          </a:solidFill>
          <a:ln/>
        </p:spPr>
      </p:sp>
      <p:sp>
        <p:nvSpPr>
          <p:cNvPr id="22" name="Text 20"/>
          <p:cNvSpPr/>
          <p:nvPr/>
        </p:nvSpPr>
        <p:spPr>
          <a:xfrm>
            <a:off x="6812280" y="306324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Multi-Class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6812280" y="3374136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9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Mode Diagnosis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537960" y="4078224"/>
            <a:ext cx="128016" cy="128016"/>
          </a:xfrm>
          <a:prstGeom prst="ellipse">
            <a:avLst/>
          </a:prstGeom>
          <a:solidFill>
            <a:srgbClr val="21C0A3"/>
          </a:solidFill>
          <a:ln/>
        </p:spPr>
      </p:sp>
      <p:sp>
        <p:nvSpPr>
          <p:cNvPr id="25" name="Text 23"/>
          <p:cNvSpPr/>
          <p:nvPr/>
        </p:nvSpPr>
        <p:spPr>
          <a:xfrm>
            <a:off x="6812280" y="3959352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Trees Regressor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6812280" y="4270248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9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 Estimation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537960" y="4974336"/>
            <a:ext cx="128016" cy="128016"/>
          </a:xfrm>
          <a:prstGeom prst="ellipse">
            <a:avLst/>
          </a:prstGeom>
          <a:solidFill>
            <a:srgbClr val="21C0A3"/>
          </a:solidFill>
          <a:ln/>
        </p:spPr>
      </p:sp>
      <p:sp>
        <p:nvSpPr>
          <p:cNvPr id="28" name="Text 26"/>
          <p:cNvSpPr/>
          <p:nvPr/>
        </p:nvSpPr>
        <p:spPr>
          <a:xfrm>
            <a:off x="6812280" y="4855464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Regressor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6812280" y="516636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9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Repair Cost Estimation (R² 0.9212)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57200" y="652881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PredictX  |  Enterprise BI — Predictive Maintenance Analytics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338560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1828800"/>
            <a:ext cx="5486400" cy="5486400"/>
          </a:xfrm>
          <a:prstGeom prst="ellipse">
            <a:avLst/>
          </a:prstGeom>
          <a:solidFill>
            <a:srgbClr val="065A82">
              <a:alpha val="3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01200" y="4114800"/>
            <a:ext cx="5029200" cy="5029200"/>
          </a:xfrm>
          <a:prstGeom prst="ellipse">
            <a:avLst/>
          </a:prstGeom>
          <a:solidFill>
            <a:srgbClr val="1C7293">
              <a:alpha val="4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82880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640080" y="278892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PredictX turns 24,042 telemetry cycles into an actionable early-warning system — intercepting 91.4% of failures and protecting an estimated $10.9M in annual value across the fleet.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3977640"/>
            <a:ext cx="2926080" cy="0"/>
          </a:xfrm>
          <a:prstGeom prst="line">
            <a:avLst/>
          </a:prstGeom>
          <a:noFill/>
          <a:ln w="25400">
            <a:solidFill>
              <a:srgbClr val="21C0A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41605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9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6035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C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[Your Name]  •  Data Analyst Intern  •  [Organization]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2026-09-05T01:15:52Z</dcterms:created>
  <dcterms:modified xsi:type="dcterms:W3CDTF">2026-09-05T01:15:52Z</dcterms:modified>
</cp:coreProperties>
</file>