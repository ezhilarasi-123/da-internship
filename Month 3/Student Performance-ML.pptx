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Luktao Bold" panose="020B0604020202020204" charset="-34"/>
      <p:regular r:id="rId10"/>
    </p:embeddedFont>
    <p:embeddedFont>
      <p:font typeface="Nour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92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7"/>
                </a:lnTo>
                <a:lnTo>
                  <a:pt x="0" y="1345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540386" y="7151236"/>
            <a:ext cx="8468221" cy="1677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3"/>
              </a:lnSpc>
            </a:pPr>
            <a:r>
              <a:rPr lang="en-US" sz="4845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BY:</a:t>
            </a:r>
          </a:p>
          <a:p>
            <a:pPr algn="ctr">
              <a:lnSpc>
                <a:spcPts val="6783"/>
              </a:lnSpc>
            </a:pPr>
            <a:r>
              <a:rPr lang="en-US" sz="4845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                       EZHILARASI 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00" y="2116992"/>
            <a:ext cx="14993747" cy="2741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54"/>
              </a:lnSpc>
            </a:pPr>
            <a:r>
              <a:rPr lang="en-US" sz="7896" b="1" dirty="0">
                <a:solidFill>
                  <a:srgbClr val="002060"/>
                </a:solidFill>
                <a:latin typeface="Times New Roman" panose="02020603050405020304" pitchFamily="18" charset="0"/>
                <a:ea typeface="Luktao Bold"/>
                <a:cs typeface="Times New Roman" panose="02020603050405020304" pitchFamily="18" charset="0"/>
                <a:sym typeface="Luktao Bold"/>
              </a:rPr>
              <a:t>STUDENT PERFORMANCE PREDICTION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60765" y="5459482"/>
            <a:ext cx="8468221" cy="62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3"/>
              </a:lnSpc>
            </a:pPr>
            <a:r>
              <a:rPr lang="en-US" sz="3745" b="1">
                <a:solidFill>
                  <a:srgbClr val="FF5757"/>
                </a:solidFill>
                <a:latin typeface="Times New Roman" panose="02020603050405020304" pitchFamily="18" charset="0"/>
                <a:ea typeface="Nourd Bold"/>
                <a:cs typeface="Times New Roman" panose="02020603050405020304" pitchFamily="18" charset="0"/>
                <a:sym typeface="Nourd Bold"/>
              </a:rPr>
              <a:t>Miniproject-1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43200" y="918792"/>
            <a:ext cx="9987683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1"/>
              </a:lnSpc>
            </a:pPr>
            <a:r>
              <a:rPr lang="en-US" sz="4800" b="1" dirty="0">
                <a:solidFill>
                  <a:srgbClr val="5E17EB"/>
                </a:solidFill>
                <a:latin typeface="Times New Roman" panose="02020603050405020304" pitchFamily="18" charset="0"/>
                <a:ea typeface="Luktao Bold"/>
                <a:cs typeface="Times New Roman" panose="02020603050405020304" pitchFamily="18" charset="0"/>
                <a:sym typeface="Luktao Bold"/>
              </a:rPr>
              <a:t>Introduction &amp; 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10888" y="3116635"/>
            <a:ext cx="11919562" cy="491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Student Performance Prediction is a Machine Learning project designed to predict students' final academic grades.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project uses student academic, demographic and social factors to understand performance patterns.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main target variable is G3 (Final Grade).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project uses supervised regression because the output is a numerical grade.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Data preprocessing and exploratory analysis are performed before model development.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objective is to build and compare models and identify the best-performing model.</a:t>
            </a:r>
          </a:p>
          <a:p>
            <a:pPr algn="l">
              <a:lnSpc>
                <a:spcPts val="4306"/>
              </a:lnSpc>
            </a:pPr>
            <a:endParaRPr lang="en-US" sz="3076" dirty="0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36019" y="3280907"/>
            <a:ext cx="9708181" cy="65739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Two student-performance datasets are used: Mathematics (student-mat.csv) and Portuguese (student-por.csv).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datasets contain academic, demographic, family and social-related student information.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Data is checked for missing values, duplicates, inconsistent values and incorrect data types.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Categorical variables are converted into numerical form using encoding techniques.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Numerical features are standardized where required.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processed data is divided into 80% training and 20% testing data for model development and evaluation.</a:t>
            </a:r>
          </a:p>
          <a:p>
            <a:pPr algn="l">
              <a:lnSpc>
                <a:spcPts val="4306"/>
              </a:lnSpc>
            </a:pPr>
            <a:endParaRPr lang="en-US" sz="3076" dirty="0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733800" y="900173"/>
            <a:ext cx="12359548" cy="84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6"/>
              </a:lnSpc>
            </a:pPr>
            <a:r>
              <a:rPr lang="en-US" sz="4976" b="1" dirty="0">
                <a:solidFill>
                  <a:srgbClr val="5E17EB"/>
                </a:solidFill>
                <a:latin typeface="Times New Roman" panose="02020603050405020304" pitchFamily="18" charset="0"/>
                <a:ea typeface="Nourd Bold"/>
                <a:cs typeface="Times New Roman" panose="02020603050405020304" pitchFamily="18" charset="0"/>
                <a:sym typeface="Nourd Bold"/>
              </a:rPr>
              <a:t>Dataset &amp; Data Preprocessing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DF72D7-9B05-3AAB-1743-FB5268171F49}"/>
              </a:ext>
            </a:extLst>
          </p:cNvPr>
          <p:cNvSpPr/>
          <p:nvPr/>
        </p:nvSpPr>
        <p:spPr>
          <a:xfrm>
            <a:off x="11255426" y="3448898"/>
            <a:ext cx="4441773" cy="45140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Math + Portuguese Data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Clean Data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Handle Missing Values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Encode + Scale Features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Train/Test Split</a:t>
            </a:r>
            <a:endParaRPr lang="en-IN" sz="2000" dirty="0"/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43001" y="3038881"/>
            <a:ext cx="8229599" cy="6784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6853" lvl="1" indent="-293427" algn="l">
              <a:lnSpc>
                <a:spcPts val="3805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G3 distribution shows the overall pattern of students' final grades.</a:t>
            </a:r>
          </a:p>
          <a:p>
            <a:pPr marL="586853" lvl="1" indent="-293427" algn="l">
              <a:lnSpc>
                <a:spcPts val="3805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Study Time vs G3 helps analyze the relationship between study habits and final performance.</a:t>
            </a:r>
          </a:p>
          <a:p>
            <a:pPr marL="586853" lvl="1" indent="-293427" algn="l">
              <a:lnSpc>
                <a:spcPts val="3805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G2 vs G3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shows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 how previous academic performance is related to the final grade.</a:t>
            </a:r>
          </a:p>
          <a:p>
            <a:pPr marL="586853" lvl="1" indent="-293427" algn="l">
              <a:lnSpc>
                <a:spcPts val="3805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Correlation Heatmap identifies relationships between numerical features and helps understand potentially influential variables.</a:t>
            </a:r>
          </a:p>
          <a:p>
            <a:pPr marL="586853" lvl="1" indent="-293427" algn="l">
              <a:lnSpc>
                <a:spcPts val="3805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These visualizations provide insights before applying machine-learning algorithms.</a:t>
            </a:r>
          </a:p>
          <a:p>
            <a:pPr marL="586853" lvl="1" indent="-293427" algn="l">
              <a:lnSpc>
                <a:spcPts val="3805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findings are used to understand which factors may contribute to student performance.</a:t>
            </a:r>
          </a:p>
          <a:p>
            <a:pPr algn="l">
              <a:lnSpc>
                <a:spcPts val="3805"/>
              </a:lnSpc>
            </a:pPr>
            <a:endParaRPr lang="en-US" sz="2718" dirty="0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571649" y="932361"/>
            <a:ext cx="12717291" cy="839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76"/>
              </a:lnSpc>
            </a:pPr>
            <a:r>
              <a:rPr lang="en-US" sz="4983" b="1" dirty="0">
                <a:solidFill>
                  <a:srgbClr val="5E17EB"/>
                </a:solidFill>
                <a:latin typeface="Times New Roman" panose="02020603050405020304" pitchFamily="18" charset="0"/>
                <a:ea typeface="Nourd Bold"/>
                <a:cs typeface="Times New Roman" panose="02020603050405020304" pitchFamily="18" charset="0"/>
                <a:sym typeface="Nourd Bold"/>
              </a:rPr>
              <a:t> </a:t>
            </a:r>
            <a:r>
              <a:rPr lang="en-US" sz="4800" b="1" dirty="0">
                <a:solidFill>
                  <a:srgbClr val="5E17EB"/>
                </a:solidFill>
                <a:latin typeface="Times New Roman" panose="02020603050405020304" pitchFamily="18" charset="0"/>
                <a:ea typeface="Nourd Bold"/>
                <a:cs typeface="Times New Roman" panose="02020603050405020304" pitchFamily="18" charset="0"/>
                <a:sym typeface="Nourd Bold"/>
              </a:rPr>
              <a:t>Exploratory Data Analysis</a:t>
            </a:r>
            <a:endParaRPr lang="en-US" sz="4983" b="1" dirty="0">
              <a:solidFill>
                <a:srgbClr val="5E17EB"/>
              </a:solidFill>
              <a:latin typeface="Times New Roman" panose="02020603050405020304" pitchFamily="18" charset="0"/>
              <a:ea typeface="Nourd Bold"/>
              <a:cs typeface="Times New Roman" panose="02020603050405020304" pitchFamily="18" charset="0"/>
              <a:sym typeface="Nourd Bold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FB62EF-8E87-6EEF-1B2B-D25EC713454B}"/>
              </a:ext>
            </a:extLst>
          </p:cNvPr>
          <p:cNvSpPr/>
          <p:nvPr/>
        </p:nvSpPr>
        <p:spPr>
          <a:xfrm>
            <a:off x="11087100" y="3251701"/>
            <a:ext cx="3924300" cy="440639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G3 Grade Distribution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Study Time → G3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G2 → G3 Relationship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Absences → G3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Correlation Analysis</a:t>
            </a:r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667000" y="1094342"/>
            <a:ext cx="9987683" cy="811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1"/>
              </a:lnSpc>
            </a:pPr>
            <a:r>
              <a:rPr lang="en-US" sz="4929" b="1" dirty="0">
                <a:solidFill>
                  <a:srgbClr val="5E17EB"/>
                </a:solidFill>
                <a:latin typeface="Times New Roman" panose="02020603050405020304" pitchFamily="18" charset="0"/>
                <a:ea typeface="Luktao Bold"/>
                <a:cs typeface="Times New Roman" panose="02020603050405020304" pitchFamily="18" charset="0"/>
                <a:sym typeface="Luktao Bold"/>
              </a:rPr>
              <a:t>Machine Learning Models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6084" y="3056746"/>
            <a:ext cx="8242716" cy="5741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6822" lvl="1" indent="-313411" algn="l">
              <a:lnSpc>
                <a:spcPts val="406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Linear Regression is used as a baseline model to learn the relationship between student features and final grades.</a:t>
            </a:r>
          </a:p>
          <a:p>
            <a:pPr marL="626822" lvl="1" indent="-313411" algn="l">
              <a:lnSpc>
                <a:spcPts val="406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Decision Tree Regression is used to capture nonlinear relationships between different student characteristics.</a:t>
            </a:r>
          </a:p>
          <a:p>
            <a:pPr marL="626822" lvl="1" indent="-313411" algn="l">
              <a:lnSpc>
                <a:spcPts val="406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Each model is trained using the same training data and evaluated on unseen test data.</a:t>
            </a:r>
          </a:p>
          <a:p>
            <a:pPr marL="626822" lvl="1" indent="-313411" algn="l">
              <a:lnSpc>
                <a:spcPts val="406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Hyperparameter tuning and cross-validation can be applied to improve model reliability.</a:t>
            </a:r>
          </a:p>
          <a:p>
            <a:pPr marL="626822" lvl="1" indent="-313411" algn="l">
              <a:lnSpc>
                <a:spcPts val="4064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models are compared using common regression evaluation metrics.</a:t>
            </a:r>
          </a:p>
          <a:p>
            <a:pPr algn="l">
              <a:lnSpc>
                <a:spcPts val="4064"/>
              </a:lnSpc>
            </a:pPr>
            <a:endParaRPr lang="en-US" sz="2903" dirty="0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2F1772-4938-9BA0-B2D8-44C727E798D9}"/>
              </a:ext>
            </a:extLst>
          </p:cNvPr>
          <p:cNvSpPr/>
          <p:nvPr/>
        </p:nvSpPr>
        <p:spPr>
          <a:xfrm>
            <a:off x="10972800" y="3417875"/>
            <a:ext cx="3733800" cy="24876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Student Features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Linear Regression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Decision Tree</a:t>
            </a:r>
            <a:br>
              <a:rPr lang="en-IN" sz="2000" dirty="0"/>
            </a:br>
            <a:br>
              <a:rPr lang="en-IN" sz="2000" dirty="0"/>
            </a:br>
            <a:endParaRPr lang="en-I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43200" y="852694"/>
            <a:ext cx="12017681" cy="169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 b="1" dirty="0">
                <a:solidFill>
                  <a:srgbClr val="5E17EB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Model Accuracy &amp; Performance Comparison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271B03-C9EE-2C41-4942-EB7B13F794D4}"/>
              </a:ext>
            </a:extLst>
          </p:cNvPr>
          <p:cNvSpPr/>
          <p:nvPr/>
        </p:nvSpPr>
        <p:spPr>
          <a:xfrm>
            <a:off x="13497476" y="2922068"/>
            <a:ext cx="3408848" cy="441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Actual vs Predicted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RMSE ↓ Better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R² ↑ Better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Model Comparison</a:t>
            </a:r>
            <a:endParaRPr lang="en-IN" sz="20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BFEA15E-359A-60B7-2E49-EEA3B937D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302145"/>
              </p:ext>
            </p:extLst>
          </p:nvPr>
        </p:nvGraphicFramePr>
        <p:xfrm>
          <a:off x="584711" y="3498758"/>
          <a:ext cx="12192000" cy="384291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318440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5887144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12616381"/>
                    </a:ext>
                  </a:extLst>
                </a:gridCol>
              </a:tblGrid>
              <a:tr h="128097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R^2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029367"/>
                  </a:ext>
                </a:extLst>
              </a:tr>
              <a:tr h="128097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2.3784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0.7241(72.41%)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7067264"/>
                  </a:ext>
                </a:extLst>
              </a:tr>
              <a:tr h="128097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2.5705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0.6778(67.78%)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0086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19400" y="1054796"/>
            <a:ext cx="13242836" cy="7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6"/>
              </a:lnSpc>
            </a:pPr>
            <a:r>
              <a:rPr lang="en-US" sz="4800" b="1" dirty="0">
                <a:solidFill>
                  <a:srgbClr val="5E17EB"/>
                </a:solidFill>
                <a:latin typeface="Times New Roman" panose="02020603050405020304" pitchFamily="18" charset="0"/>
                <a:ea typeface="Luktao Bold"/>
                <a:cs typeface="Times New Roman" panose="02020603050405020304" pitchFamily="18" charset="0"/>
                <a:sym typeface="Luktao Bold"/>
              </a:rPr>
              <a:t>Actual VS Predicted &amp; Feature Importance</a:t>
            </a:r>
            <a:endParaRPr lang="en-US" sz="4825" b="1" dirty="0">
              <a:solidFill>
                <a:srgbClr val="5E17EB"/>
              </a:solidFill>
              <a:latin typeface="Times New Roman" panose="02020603050405020304" pitchFamily="18" charset="0"/>
              <a:ea typeface="Luktao Bold"/>
              <a:cs typeface="Times New Roman" panose="02020603050405020304" pitchFamily="18" charset="0"/>
              <a:sym typeface="Lukta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52600" y="2228520"/>
            <a:ext cx="7696200" cy="7318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4630" lvl="1" indent="-312315" algn="l">
              <a:lnSpc>
                <a:spcPts val="405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Actual vs Predicted graph compares real final grades with the grades predicted by the selected model.</a:t>
            </a:r>
          </a:p>
          <a:p>
            <a:pPr marL="624630" lvl="1" indent="-312315" algn="l">
              <a:lnSpc>
                <a:spcPts val="405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Predictions closer to the ideal diagonal line indicate smaller prediction errors.</a:t>
            </a:r>
          </a:p>
          <a:p>
            <a:pPr marL="624630" lvl="1" indent="-312315" algn="l">
              <a:lnSpc>
                <a:spcPts val="405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This visual comparison supports the numerical RMSE and R² results.</a:t>
            </a:r>
          </a:p>
          <a:p>
            <a:pPr marL="624630" lvl="1" indent="-312315" algn="l">
              <a:lnSpc>
                <a:spcPts val="405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It helps demonstrate how effectively the selected model predicts unseen student performance.</a:t>
            </a:r>
          </a:p>
          <a:p>
            <a:pPr marL="624630" lvl="1" indent="-312315" algn="l">
              <a:lnSpc>
                <a:spcPts val="405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Feature Importance identifies the variables that contribute most to the model's predictions.</a:t>
            </a:r>
          </a:p>
          <a:p>
            <a:pPr marL="624630" lvl="1" indent="-312315" algn="l">
              <a:lnSpc>
                <a:spcPts val="405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actual feature ranking is obtained from the trained model and helps explain the factors influencing student performance.</a:t>
            </a:r>
          </a:p>
          <a:p>
            <a:pPr algn="l">
              <a:lnSpc>
                <a:spcPts val="4050"/>
              </a:lnSpc>
            </a:pPr>
            <a:endParaRPr lang="en-US" sz="2893" dirty="0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7D42AF-5041-A4C2-1F1A-8AD83E7C04EA}"/>
              </a:ext>
            </a:extLst>
          </p:cNvPr>
          <p:cNvSpPr/>
          <p:nvPr/>
        </p:nvSpPr>
        <p:spPr>
          <a:xfrm>
            <a:off x="11125200" y="2705100"/>
            <a:ext cx="3810000" cy="449300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Actual Final Grade (G3)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ML Model Prediction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Compare Both Values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Closer Values = Better Prediction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Validate Model Performance</a:t>
            </a:r>
            <a:endParaRPr lang="en-IN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95650" y="880320"/>
            <a:ext cx="9987683" cy="88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1"/>
              </a:lnSpc>
            </a:pPr>
            <a:r>
              <a:rPr lang="en-US" sz="4929" b="1" dirty="0">
                <a:solidFill>
                  <a:srgbClr val="5E17EB"/>
                </a:solidFill>
                <a:latin typeface="Luktao Bold"/>
                <a:ea typeface="Luktao Bold"/>
                <a:cs typeface="Luktao Bold"/>
                <a:sym typeface="Luktao Bold"/>
              </a:rPr>
              <a:t> </a:t>
            </a:r>
            <a:r>
              <a:rPr lang="en-US" sz="4929" b="1" dirty="0">
                <a:solidFill>
                  <a:srgbClr val="5E17EB"/>
                </a:solidFill>
                <a:latin typeface="Times New Roman" panose="02020603050405020304" pitchFamily="18" charset="0"/>
                <a:ea typeface="Luktao Bold"/>
                <a:cs typeface="Times New Roman" panose="02020603050405020304" pitchFamily="18" charset="0"/>
                <a:sym typeface="Luktao Bold"/>
              </a:rPr>
              <a:t>Conclusion &amp; Feature </a:t>
            </a:r>
            <a:r>
              <a:rPr lang="en-IN" sz="4929" b="1" dirty="0">
                <a:solidFill>
                  <a:srgbClr val="5E17EB"/>
                </a:solidFill>
                <a:latin typeface="Times New Roman" panose="02020603050405020304" pitchFamily="18" charset="0"/>
                <a:ea typeface="Luktao Bold"/>
                <a:cs typeface="Times New Roman" panose="02020603050405020304" pitchFamily="18" charset="0"/>
                <a:sym typeface="Luktao Bold"/>
              </a:rPr>
              <a:t>Scopes </a:t>
            </a:r>
            <a:endParaRPr lang="en-US" sz="4929" b="1" dirty="0">
              <a:solidFill>
                <a:srgbClr val="5E17EB"/>
              </a:solidFill>
              <a:latin typeface="Times New Roman" panose="02020603050405020304" pitchFamily="18" charset="0"/>
              <a:ea typeface="Luktao Bold"/>
              <a:cs typeface="Times New Roman" panose="02020603050405020304" pitchFamily="18" charset="0"/>
              <a:sym typeface="Lukta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24000" y="2291460"/>
            <a:ext cx="8458200" cy="7813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2567" lvl="1" indent="-281284" algn="l">
              <a:lnSpc>
                <a:spcPts val="3647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project successfully applies Machine Learning to predict students' final academic performance.</a:t>
            </a:r>
          </a:p>
          <a:p>
            <a:pPr marL="562567" lvl="1" indent="-281284" algn="l">
              <a:lnSpc>
                <a:spcPts val="3647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Data preprocessing and exploratory analysis helped identify important patterns in student performance.</a:t>
            </a:r>
          </a:p>
          <a:p>
            <a:pPr marL="562567" lvl="1" indent="-281284" algn="l">
              <a:lnSpc>
                <a:spcPts val="3647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Multiple regression models were trained and evaluated using RMSE</a:t>
            </a:r>
            <a:r>
              <a:rPr lang="en-US" sz="240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, and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R².</a:t>
            </a:r>
          </a:p>
          <a:p>
            <a:pPr marL="562567" lvl="1" indent="-281284" algn="l">
              <a:lnSpc>
                <a:spcPts val="3647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best model was selected based on its performance on unseen test data.</a:t>
            </a:r>
          </a:p>
          <a:p>
            <a:pPr marL="562567" lvl="1" indent="-281284" algn="l">
              <a:lnSpc>
                <a:spcPts val="3647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Actual-versus-predicted analysis provides a visual validation of the final model.</a:t>
            </a:r>
          </a:p>
          <a:p>
            <a:pPr marL="562567" lvl="1" indent="-281284" algn="l">
              <a:lnSpc>
                <a:spcPts val="3647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Feature importance provides additional understanding of the factors influencing predictions.</a:t>
            </a:r>
          </a:p>
          <a:p>
            <a:pPr marL="562567" lvl="1" indent="-281284" algn="l">
              <a:lnSpc>
                <a:spcPts val="3647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The system can be enhanced with more student-related data and advanced ML techniques.</a:t>
            </a:r>
          </a:p>
          <a:p>
            <a:pPr marL="562567" lvl="1" indent="-281284" algn="l">
              <a:lnSpc>
                <a:spcPts val="3647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Nourd"/>
                <a:cs typeface="Times New Roman" panose="02020603050405020304" pitchFamily="18" charset="0"/>
                <a:sym typeface="Nourd"/>
              </a:rPr>
              <a:t>A future version could provide a simple application where teachers enter student details and receive predicted performance.</a:t>
            </a:r>
          </a:p>
          <a:p>
            <a:pPr algn="l">
              <a:lnSpc>
                <a:spcPts val="3647"/>
              </a:lnSpc>
            </a:pPr>
            <a:endParaRPr lang="en-US" sz="2605" dirty="0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3009A1-D6AA-1620-ECC6-D43895ECE9EC}"/>
              </a:ext>
            </a:extLst>
          </p:cNvPr>
          <p:cNvSpPr/>
          <p:nvPr/>
        </p:nvSpPr>
        <p:spPr>
          <a:xfrm>
            <a:off x="11201400" y="2508989"/>
            <a:ext cx="4114800" cy="43291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Best Model Identified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Accurate Grade Prediction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Important Factors Identified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Student Performance Insights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b="1" dirty="0"/>
              <a:t>Future: Early Academic Support</a:t>
            </a:r>
            <a:endParaRPr lang="en-I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719</Words>
  <Application>Microsoft Office PowerPoint</Application>
  <PresentationFormat>Custom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Nourd</vt:lpstr>
      <vt:lpstr>Calibri</vt:lpstr>
      <vt:lpstr>Times New Roman</vt:lpstr>
      <vt:lpstr>Luktao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 : EZHILARASIK</dc:title>
  <dc:creator>ezhilarasi.k</dc:creator>
  <cp:lastModifiedBy>Ezhilarasi K</cp:lastModifiedBy>
  <cp:revision>5</cp:revision>
  <dcterms:created xsi:type="dcterms:W3CDTF">2006-08-16T00:00:00Z</dcterms:created>
  <dcterms:modified xsi:type="dcterms:W3CDTF">2026-08-12T03:01:58Z</dcterms:modified>
  <dc:identifier>DAHR0f5F9Rg</dc:identifier>
</cp:coreProperties>
</file>