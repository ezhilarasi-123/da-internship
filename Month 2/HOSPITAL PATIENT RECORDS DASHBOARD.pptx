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F4F4F4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F4F4F4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943894"/>
            <a:ext cx="18239105" cy="9525"/>
          </a:xfrm>
          <a:custGeom>
            <a:avLst/>
            <a:gdLst/>
            <a:ahLst/>
            <a:cxnLst/>
            <a:rect l="l" t="t" r="r" b="b"/>
            <a:pathLst>
              <a:path w="18239105" h="9525">
                <a:moveTo>
                  <a:pt x="18238936" y="9524"/>
                </a:moveTo>
                <a:lnTo>
                  <a:pt x="0" y="9524"/>
                </a:lnTo>
                <a:lnTo>
                  <a:pt x="0" y="0"/>
                </a:lnTo>
                <a:lnTo>
                  <a:pt x="18238936" y="0"/>
                </a:lnTo>
                <a:lnTo>
                  <a:pt x="18238936" y="9524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9223456"/>
            <a:ext cx="18261330" cy="9525"/>
          </a:xfrm>
          <a:custGeom>
            <a:avLst/>
            <a:gdLst/>
            <a:ahLst/>
            <a:cxnLst/>
            <a:rect l="l" t="t" r="r" b="b"/>
            <a:pathLst>
              <a:path w="18261330" h="9525">
                <a:moveTo>
                  <a:pt x="18261085" y="9524"/>
                </a:moveTo>
                <a:lnTo>
                  <a:pt x="0" y="9524"/>
                </a:lnTo>
                <a:lnTo>
                  <a:pt x="0" y="0"/>
                </a:lnTo>
                <a:lnTo>
                  <a:pt x="18261085" y="0"/>
                </a:lnTo>
                <a:lnTo>
                  <a:pt x="18261085" y="9524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75401" y="4928559"/>
            <a:ext cx="7767320" cy="838200"/>
          </a:xfrm>
          <a:custGeom>
            <a:avLst/>
            <a:gdLst/>
            <a:ahLst/>
            <a:cxnLst/>
            <a:rect l="l" t="t" r="r" b="b"/>
            <a:pathLst>
              <a:path w="7767320" h="838200">
                <a:moveTo>
                  <a:pt x="7766942" y="441145"/>
                </a:moveTo>
                <a:lnTo>
                  <a:pt x="7756950" y="518055"/>
                </a:lnTo>
                <a:lnTo>
                  <a:pt x="7743511" y="563555"/>
                </a:lnTo>
                <a:lnTo>
                  <a:pt x="7725245" y="606758"/>
                </a:lnTo>
                <a:lnTo>
                  <a:pt x="7702468" y="647347"/>
                </a:lnTo>
                <a:lnTo>
                  <a:pt x="7675497" y="685006"/>
                </a:lnTo>
                <a:lnTo>
                  <a:pt x="7644646" y="719419"/>
                </a:lnTo>
                <a:lnTo>
                  <a:pt x="7610234" y="750269"/>
                </a:lnTo>
                <a:lnTo>
                  <a:pt x="7572575" y="777240"/>
                </a:lnTo>
                <a:lnTo>
                  <a:pt x="7531985" y="800017"/>
                </a:lnTo>
                <a:lnTo>
                  <a:pt x="7488783" y="818283"/>
                </a:lnTo>
                <a:lnTo>
                  <a:pt x="7443282" y="831721"/>
                </a:lnTo>
                <a:lnTo>
                  <a:pt x="7406593" y="838130"/>
                </a:lnTo>
              </a:path>
              <a:path w="7767320" h="838200">
                <a:moveTo>
                  <a:pt x="361485" y="838130"/>
                </a:moveTo>
                <a:lnTo>
                  <a:pt x="279296" y="818282"/>
                </a:lnTo>
                <a:lnTo>
                  <a:pt x="236093" y="800017"/>
                </a:lnTo>
                <a:lnTo>
                  <a:pt x="195504" y="777240"/>
                </a:lnTo>
                <a:lnTo>
                  <a:pt x="157845" y="750268"/>
                </a:lnTo>
                <a:lnTo>
                  <a:pt x="123432" y="719418"/>
                </a:lnTo>
                <a:lnTo>
                  <a:pt x="92582" y="685006"/>
                </a:lnTo>
                <a:lnTo>
                  <a:pt x="65610" y="647347"/>
                </a:lnTo>
                <a:lnTo>
                  <a:pt x="42834" y="606758"/>
                </a:lnTo>
                <a:lnTo>
                  <a:pt x="24568" y="563555"/>
                </a:lnTo>
                <a:lnTo>
                  <a:pt x="11130" y="518054"/>
                </a:lnTo>
                <a:lnTo>
                  <a:pt x="2835" y="470572"/>
                </a:lnTo>
                <a:lnTo>
                  <a:pt x="0" y="421425"/>
                </a:lnTo>
                <a:lnTo>
                  <a:pt x="2835" y="372278"/>
                </a:lnTo>
                <a:lnTo>
                  <a:pt x="11130" y="324796"/>
                </a:lnTo>
                <a:lnTo>
                  <a:pt x="24568" y="279296"/>
                </a:lnTo>
                <a:lnTo>
                  <a:pt x="42834" y="236093"/>
                </a:lnTo>
                <a:lnTo>
                  <a:pt x="65610" y="195504"/>
                </a:lnTo>
                <a:lnTo>
                  <a:pt x="92582" y="157845"/>
                </a:lnTo>
                <a:lnTo>
                  <a:pt x="123432" y="123432"/>
                </a:lnTo>
                <a:lnTo>
                  <a:pt x="157845" y="92582"/>
                </a:lnTo>
                <a:lnTo>
                  <a:pt x="195504" y="65610"/>
                </a:lnTo>
                <a:lnTo>
                  <a:pt x="236093" y="42834"/>
                </a:lnTo>
                <a:lnTo>
                  <a:pt x="279296" y="24568"/>
                </a:lnTo>
                <a:lnTo>
                  <a:pt x="324796" y="11130"/>
                </a:lnTo>
                <a:lnTo>
                  <a:pt x="372278" y="2835"/>
                </a:lnTo>
                <a:lnTo>
                  <a:pt x="421425" y="0"/>
                </a:lnTo>
                <a:lnTo>
                  <a:pt x="7346653" y="0"/>
                </a:lnTo>
                <a:lnTo>
                  <a:pt x="7395800" y="2835"/>
                </a:lnTo>
                <a:lnTo>
                  <a:pt x="7443282" y="11130"/>
                </a:lnTo>
                <a:lnTo>
                  <a:pt x="7488783" y="24568"/>
                </a:lnTo>
                <a:lnTo>
                  <a:pt x="7531986" y="42833"/>
                </a:lnTo>
                <a:lnTo>
                  <a:pt x="7572575" y="65610"/>
                </a:lnTo>
                <a:lnTo>
                  <a:pt x="7610234" y="92582"/>
                </a:lnTo>
                <a:lnTo>
                  <a:pt x="7644646" y="123432"/>
                </a:lnTo>
                <a:lnTo>
                  <a:pt x="7675497" y="157845"/>
                </a:lnTo>
                <a:lnTo>
                  <a:pt x="7702469" y="195504"/>
                </a:lnTo>
                <a:lnTo>
                  <a:pt x="7725245" y="236093"/>
                </a:lnTo>
                <a:lnTo>
                  <a:pt x="7743511" y="279295"/>
                </a:lnTo>
                <a:lnTo>
                  <a:pt x="7756950" y="324796"/>
                </a:lnTo>
                <a:lnTo>
                  <a:pt x="7765245" y="372278"/>
                </a:lnTo>
                <a:lnTo>
                  <a:pt x="7766942" y="401705"/>
                </a:lnTo>
              </a:path>
            </a:pathLst>
          </a:custGeom>
          <a:ln w="19049">
            <a:solidFill>
              <a:srgbClr val="F4F4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F4F4F4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F4F4F4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2" y="3624396"/>
            <a:ext cx="18278475" cy="0"/>
          </a:xfrm>
          <a:custGeom>
            <a:avLst/>
            <a:gdLst/>
            <a:ahLst/>
            <a:cxnLst/>
            <a:rect l="l" t="t" r="r" b="b"/>
            <a:pathLst>
              <a:path w="18278475" h="0">
                <a:moveTo>
                  <a:pt x="0" y="0"/>
                </a:moveTo>
                <a:lnTo>
                  <a:pt x="18278473" y="0"/>
                </a:lnTo>
              </a:path>
            </a:pathLst>
          </a:custGeom>
          <a:ln w="9524">
            <a:solidFill>
              <a:srgbClr val="F4F4F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1092278"/>
            <a:ext cx="16225249" cy="4051221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941" y="1092277"/>
            <a:ext cx="16230600" cy="4048125"/>
          </a:xfrm>
          <a:custGeom>
            <a:avLst/>
            <a:gdLst/>
            <a:ahLst/>
            <a:cxnLst/>
            <a:rect l="l" t="t" r="r" b="b"/>
            <a:pathLst>
              <a:path w="16230600" h="4048125">
                <a:moveTo>
                  <a:pt x="524735" y="4048124"/>
                </a:moveTo>
                <a:lnTo>
                  <a:pt x="486765" y="4043496"/>
                </a:lnTo>
                <a:lnTo>
                  <a:pt x="441384" y="4034215"/>
                </a:lnTo>
                <a:lnTo>
                  <a:pt x="397364" y="4021481"/>
                </a:lnTo>
                <a:lnTo>
                  <a:pt x="354853" y="4005442"/>
                </a:lnTo>
                <a:lnTo>
                  <a:pt x="314001" y="3986250"/>
                </a:lnTo>
                <a:lnTo>
                  <a:pt x="274957" y="3964052"/>
                </a:lnTo>
                <a:lnTo>
                  <a:pt x="237871" y="3939000"/>
                </a:lnTo>
                <a:lnTo>
                  <a:pt x="202893" y="3911242"/>
                </a:lnTo>
                <a:lnTo>
                  <a:pt x="170173" y="3880928"/>
                </a:lnTo>
                <a:lnTo>
                  <a:pt x="139858" y="3848207"/>
                </a:lnTo>
                <a:lnTo>
                  <a:pt x="112100" y="3813229"/>
                </a:lnTo>
                <a:lnTo>
                  <a:pt x="87048" y="3776143"/>
                </a:lnTo>
                <a:lnTo>
                  <a:pt x="64850" y="3737099"/>
                </a:lnTo>
                <a:lnTo>
                  <a:pt x="45658" y="3696247"/>
                </a:lnTo>
                <a:lnTo>
                  <a:pt x="29620" y="3653736"/>
                </a:lnTo>
                <a:lnTo>
                  <a:pt x="16885" y="3609716"/>
                </a:lnTo>
                <a:lnTo>
                  <a:pt x="7604" y="3564335"/>
                </a:lnTo>
                <a:lnTo>
                  <a:pt x="1926" y="3517744"/>
                </a:lnTo>
                <a:lnTo>
                  <a:pt x="0" y="3470093"/>
                </a:lnTo>
                <a:lnTo>
                  <a:pt x="0" y="581007"/>
                </a:lnTo>
                <a:lnTo>
                  <a:pt x="1926" y="533355"/>
                </a:lnTo>
                <a:lnTo>
                  <a:pt x="7604" y="486765"/>
                </a:lnTo>
                <a:lnTo>
                  <a:pt x="16885" y="441384"/>
                </a:lnTo>
                <a:lnTo>
                  <a:pt x="29620" y="397364"/>
                </a:lnTo>
                <a:lnTo>
                  <a:pt x="45658" y="354853"/>
                </a:lnTo>
                <a:lnTo>
                  <a:pt x="64851" y="314001"/>
                </a:lnTo>
                <a:lnTo>
                  <a:pt x="87048" y="274957"/>
                </a:lnTo>
                <a:lnTo>
                  <a:pt x="112100" y="237872"/>
                </a:lnTo>
                <a:lnTo>
                  <a:pt x="139858" y="202894"/>
                </a:lnTo>
                <a:lnTo>
                  <a:pt x="170173" y="170173"/>
                </a:lnTo>
                <a:lnTo>
                  <a:pt x="202894" y="139858"/>
                </a:lnTo>
                <a:lnTo>
                  <a:pt x="237872" y="112100"/>
                </a:lnTo>
                <a:lnTo>
                  <a:pt x="274957" y="87048"/>
                </a:lnTo>
                <a:lnTo>
                  <a:pt x="314001" y="64851"/>
                </a:lnTo>
                <a:lnTo>
                  <a:pt x="354853" y="45658"/>
                </a:lnTo>
                <a:lnTo>
                  <a:pt x="397364" y="29620"/>
                </a:lnTo>
                <a:lnTo>
                  <a:pt x="441384" y="16885"/>
                </a:lnTo>
                <a:lnTo>
                  <a:pt x="486765" y="7604"/>
                </a:lnTo>
                <a:lnTo>
                  <a:pt x="533355" y="1926"/>
                </a:lnTo>
                <a:lnTo>
                  <a:pt x="581007" y="0"/>
                </a:lnTo>
                <a:lnTo>
                  <a:pt x="15649107" y="0"/>
                </a:lnTo>
                <a:lnTo>
                  <a:pt x="15696759" y="1925"/>
                </a:lnTo>
                <a:lnTo>
                  <a:pt x="15743349" y="7604"/>
                </a:lnTo>
                <a:lnTo>
                  <a:pt x="15788730" y="16885"/>
                </a:lnTo>
                <a:lnTo>
                  <a:pt x="15832750" y="29619"/>
                </a:lnTo>
                <a:lnTo>
                  <a:pt x="15875261" y="45657"/>
                </a:lnTo>
                <a:lnTo>
                  <a:pt x="15916114" y="64850"/>
                </a:lnTo>
                <a:lnTo>
                  <a:pt x="15955157" y="87047"/>
                </a:lnTo>
                <a:lnTo>
                  <a:pt x="15992243" y="112099"/>
                </a:lnTo>
                <a:lnTo>
                  <a:pt x="16027221" y="139858"/>
                </a:lnTo>
                <a:lnTo>
                  <a:pt x="16059942" y="170172"/>
                </a:lnTo>
                <a:lnTo>
                  <a:pt x="16090256" y="202893"/>
                </a:lnTo>
                <a:lnTo>
                  <a:pt x="16118015" y="237871"/>
                </a:lnTo>
                <a:lnTo>
                  <a:pt x="16143067" y="274956"/>
                </a:lnTo>
                <a:lnTo>
                  <a:pt x="16165265" y="314000"/>
                </a:lnTo>
                <a:lnTo>
                  <a:pt x="16184457" y="354852"/>
                </a:lnTo>
                <a:lnTo>
                  <a:pt x="16200496" y="397363"/>
                </a:lnTo>
                <a:lnTo>
                  <a:pt x="16213230" y="441384"/>
                </a:lnTo>
                <a:lnTo>
                  <a:pt x="16222512" y="486764"/>
                </a:lnTo>
                <a:lnTo>
                  <a:pt x="16228190" y="533355"/>
                </a:lnTo>
                <a:lnTo>
                  <a:pt x="16230116" y="581007"/>
                </a:lnTo>
                <a:lnTo>
                  <a:pt x="16230116" y="3470093"/>
                </a:lnTo>
                <a:lnTo>
                  <a:pt x="16228190" y="3517745"/>
                </a:lnTo>
                <a:lnTo>
                  <a:pt x="16222512" y="3564336"/>
                </a:lnTo>
                <a:lnTo>
                  <a:pt x="16213230" y="3609716"/>
                </a:lnTo>
                <a:lnTo>
                  <a:pt x="16200496" y="3653737"/>
                </a:lnTo>
                <a:lnTo>
                  <a:pt x="16184457" y="3696248"/>
                </a:lnTo>
                <a:lnTo>
                  <a:pt x="16165265" y="3737100"/>
                </a:lnTo>
                <a:lnTo>
                  <a:pt x="16143067" y="3776144"/>
                </a:lnTo>
                <a:lnTo>
                  <a:pt x="16118015" y="3813229"/>
                </a:lnTo>
                <a:lnTo>
                  <a:pt x="16090256" y="3848207"/>
                </a:lnTo>
                <a:lnTo>
                  <a:pt x="16059942" y="3880928"/>
                </a:lnTo>
                <a:lnTo>
                  <a:pt x="16027221" y="3911243"/>
                </a:lnTo>
                <a:lnTo>
                  <a:pt x="15992243" y="3939001"/>
                </a:lnTo>
                <a:lnTo>
                  <a:pt x="15955157" y="3964053"/>
                </a:lnTo>
                <a:lnTo>
                  <a:pt x="15916114" y="3986251"/>
                </a:lnTo>
                <a:lnTo>
                  <a:pt x="15875262" y="4005443"/>
                </a:lnTo>
                <a:lnTo>
                  <a:pt x="15832750" y="4021481"/>
                </a:lnTo>
                <a:lnTo>
                  <a:pt x="15788730" y="4034216"/>
                </a:lnTo>
                <a:lnTo>
                  <a:pt x="15743349" y="4043497"/>
                </a:lnTo>
                <a:lnTo>
                  <a:pt x="15705382" y="4048124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8207" y="1503229"/>
            <a:ext cx="11951585" cy="1328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F4F4F4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2" y="6569682"/>
            <a:ext cx="18278475" cy="0"/>
          </a:xfrm>
          <a:custGeom>
            <a:avLst/>
            <a:gdLst/>
            <a:ahLst/>
            <a:cxnLst/>
            <a:rect l="l" t="t" r="r" b="b"/>
            <a:pathLst>
              <a:path w="18278475" h="0">
                <a:moveTo>
                  <a:pt x="0" y="0"/>
                </a:moveTo>
                <a:lnTo>
                  <a:pt x="18278473" y="0"/>
                </a:lnTo>
              </a:path>
            </a:pathLst>
          </a:custGeom>
          <a:ln w="9524">
            <a:solidFill>
              <a:srgbClr val="F4F4F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116948" y="8011021"/>
            <a:ext cx="4514850" cy="914400"/>
            <a:chOff x="10116948" y="8011021"/>
            <a:chExt cx="4514850" cy="914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26333" y="8020546"/>
              <a:ext cx="4495712" cy="8991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126473" y="8020546"/>
              <a:ext cx="4495800" cy="895350"/>
            </a:xfrm>
            <a:custGeom>
              <a:avLst/>
              <a:gdLst/>
              <a:ahLst/>
              <a:cxnLst/>
              <a:rect l="l" t="t" r="r" b="b"/>
              <a:pathLst>
                <a:path w="4495800" h="895350">
                  <a:moveTo>
                    <a:pt x="4495660" y="462826"/>
                  </a:moveTo>
                  <a:lnTo>
                    <a:pt x="4485056" y="549944"/>
                  </a:lnTo>
                  <a:lnTo>
                    <a:pt x="4471135" y="598152"/>
                  </a:lnTo>
                  <a:lnTo>
                    <a:pt x="4451961" y="644442"/>
                  </a:lnTo>
                  <a:lnTo>
                    <a:pt x="4427717" y="688374"/>
                  </a:lnTo>
                  <a:lnTo>
                    <a:pt x="4398584" y="729508"/>
                  </a:lnTo>
                  <a:lnTo>
                    <a:pt x="4364746" y="767405"/>
                  </a:lnTo>
                  <a:lnTo>
                    <a:pt x="4326850" y="801243"/>
                  </a:lnTo>
                  <a:lnTo>
                    <a:pt x="4285716" y="830375"/>
                  </a:lnTo>
                  <a:lnTo>
                    <a:pt x="4241784" y="854619"/>
                  </a:lnTo>
                  <a:lnTo>
                    <a:pt x="4195494" y="873793"/>
                  </a:lnTo>
                  <a:lnTo>
                    <a:pt x="4147286" y="887714"/>
                  </a:lnTo>
                  <a:lnTo>
                    <a:pt x="4102585" y="895349"/>
                  </a:lnTo>
                </a:path>
                <a:path w="4495800" h="895350">
                  <a:moveTo>
                    <a:pt x="393827" y="895349"/>
                  </a:moveTo>
                  <a:lnTo>
                    <a:pt x="349125" y="887714"/>
                  </a:lnTo>
                  <a:lnTo>
                    <a:pt x="300917" y="873793"/>
                  </a:lnTo>
                  <a:lnTo>
                    <a:pt x="254627" y="854619"/>
                  </a:lnTo>
                  <a:lnTo>
                    <a:pt x="210695" y="830375"/>
                  </a:lnTo>
                  <a:lnTo>
                    <a:pt x="169561" y="801242"/>
                  </a:lnTo>
                  <a:lnTo>
                    <a:pt x="131666" y="767404"/>
                  </a:lnTo>
                  <a:lnTo>
                    <a:pt x="97827" y="729508"/>
                  </a:lnTo>
                  <a:lnTo>
                    <a:pt x="68695" y="688374"/>
                  </a:lnTo>
                  <a:lnTo>
                    <a:pt x="44450" y="644442"/>
                  </a:lnTo>
                  <a:lnTo>
                    <a:pt x="25277" y="598152"/>
                  </a:lnTo>
                  <a:lnTo>
                    <a:pt x="11355" y="549944"/>
                  </a:lnTo>
                  <a:lnTo>
                    <a:pt x="2869" y="500258"/>
                  </a:lnTo>
                  <a:lnTo>
                    <a:pt x="0" y="449535"/>
                  </a:lnTo>
                  <a:lnTo>
                    <a:pt x="2869" y="398811"/>
                  </a:lnTo>
                  <a:lnTo>
                    <a:pt x="11355" y="349125"/>
                  </a:lnTo>
                  <a:lnTo>
                    <a:pt x="25277" y="300917"/>
                  </a:lnTo>
                  <a:lnTo>
                    <a:pt x="44451" y="254627"/>
                  </a:lnTo>
                  <a:lnTo>
                    <a:pt x="68695" y="210696"/>
                  </a:lnTo>
                  <a:lnTo>
                    <a:pt x="97828" y="169562"/>
                  </a:lnTo>
                  <a:lnTo>
                    <a:pt x="131666" y="131666"/>
                  </a:lnTo>
                  <a:lnTo>
                    <a:pt x="169562" y="97827"/>
                  </a:lnTo>
                  <a:lnTo>
                    <a:pt x="210696" y="68695"/>
                  </a:lnTo>
                  <a:lnTo>
                    <a:pt x="254627" y="44451"/>
                  </a:lnTo>
                  <a:lnTo>
                    <a:pt x="300917" y="25277"/>
                  </a:lnTo>
                  <a:lnTo>
                    <a:pt x="349125" y="11355"/>
                  </a:lnTo>
                  <a:lnTo>
                    <a:pt x="398811" y="2869"/>
                  </a:lnTo>
                  <a:lnTo>
                    <a:pt x="449535" y="0"/>
                  </a:lnTo>
                  <a:lnTo>
                    <a:pt x="4046876" y="0"/>
                  </a:lnTo>
                  <a:lnTo>
                    <a:pt x="4097600" y="2869"/>
                  </a:lnTo>
                  <a:lnTo>
                    <a:pt x="4147286" y="11355"/>
                  </a:lnTo>
                  <a:lnTo>
                    <a:pt x="4195494" y="25276"/>
                  </a:lnTo>
                  <a:lnTo>
                    <a:pt x="4241784" y="44450"/>
                  </a:lnTo>
                  <a:lnTo>
                    <a:pt x="4285716" y="68694"/>
                  </a:lnTo>
                  <a:lnTo>
                    <a:pt x="4326850" y="97827"/>
                  </a:lnTo>
                  <a:lnTo>
                    <a:pt x="4364746" y="131665"/>
                  </a:lnTo>
                  <a:lnTo>
                    <a:pt x="4398584" y="169561"/>
                  </a:lnTo>
                  <a:lnTo>
                    <a:pt x="4427716" y="210695"/>
                  </a:lnTo>
                  <a:lnTo>
                    <a:pt x="4451961" y="254627"/>
                  </a:lnTo>
                  <a:lnTo>
                    <a:pt x="4471135" y="300917"/>
                  </a:lnTo>
                  <a:lnTo>
                    <a:pt x="4485056" y="349125"/>
                  </a:lnTo>
                  <a:lnTo>
                    <a:pt x="4493542" y="398811"/>
                  </a:lnTo>
                  <a:lnTo>
                    <a:pt x="4495660" y="436244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579176" y="8085208"/>
            <a:ext cx="1518920" cy="69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6400" marR="5080" indent="-394335">
              <a:lnSpc>
                <a:spcPct val="115100"/>
              </a:lnSpc>
              <a:spcBef>
                <a:spcPts val="95"/>
              </a:spcBef>
            </a:pPr>
            <a:r>
              <a:rPr dirty="0" sz="1900" spc="-45">
                <a:solidFill>
                  <a:srgbClr val="F4F4F4"/>
                </a:solidFill>
                <a:latin typeface="Lucida Sans Unicode"/>
                <a:cs typeface="Lucida Sans Unicode"/>
              </a:rPr>
              <a:t>EZHILARASI</a:t>
            </a:r>
            <a:r>
              <a:rPr dirty="0" sz="1900" spc="-8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F4F4F4"/>
                </a:solidFill>
                <a:latin typeface="Lucida Sans Unicode"/>
                <a:cs typeface="Lucida Sans Unicode"/>
              </a:rPr>
              <a:t>K </a:t>
            </a:r>
            <a:r>
              <a:rPr dirty="0" sz="1900" spc="-30">
                <a:solidFill>
                  <a:srgbClr val="F4F4F4"/>
                </a:solidFill>
                <a:latin typeface="Lucida Sans Unicode"/>
                <a:cs typeface="Lucida Sans Unicode"/>
              </a:rPr>
              <a:t>TEAM</a:t>
            </a:r>
            <a:r>
              <a:rPr dirty="0" sz="1900" spc="-12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0">
                <a:solidFill>
                  <a:srgbClr val="F4F4F4"/>
                </a:solidFill>
                <a:latin typeface="Lucida Sans Unicode"/>
                <a:cs typeface="Lucida Sans Unicode"/>
              </a:rPr>
              <a:t>1</a:t>
            </a:r>
            <a:endParaRPr sz="19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826" y="559105"/>
            <a:ext cx="1809749" cy="180974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7106127" y="1124658"/>
            <a:ext cx="534670" cy="1242060"/>
            <a:chOff x="17106127" y="1124658"/>
            <a:chExt cx="534670" cy="124206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06127" y="1124658"/>
              <a:ext cx="534341" cy="913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06127" y="1256784"/>
              <a:ext cx="419101" cy="110983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5355090" y="1124658"/>
            <a:ext cx="534670" cy="1242060"/>
            <a:chOff x="15355090" y="1124658"/>
            <a:chExt cx="534670" cy="12420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55090" y="1124658"/>
              <a:ext cx="534341" cy="913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70152" y="1256784"/>
              <a:ext cx="419101" cy="110983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44291" y="376307"/>
            <a:ext cx="1108224" cy="1990724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597331" y="2321685"/>
            <a:ext cx="14587855" cy="1321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0" spc="-320">
                <a:latin typeface="Arial MT"/>
                <a:cs typeface="Arial MT"/>
              </a:rPr>
              <a:t>HOSPITAL</a:t>
            </a:r>
            <a:r>
              <a:rPr dirty="0" sz="8500" spc="-1010">
                <a:latin typeface="Arial MT"/>
                <a:cs typeface="Arial MT"/>
              </a:rPr>
              <a:t> </a:t>
            </a:r>
            <a:r>
              <a:rPr dirty="0" sz="8500" spc="-360">
                <a:latin typeface="Arial MT"/>
                <a:cs typeface="Arial MT"/>
              </a:rPr>
              <a:t>PATIENT</a:t>
            </a:r>
            <a:r>
              <a:rPr dirty="0" sz="8500" spc="-1010">
                <a:latin typeface="Arial MT"/>
                <a:cs typeface="Arial MT"/>
              </a:rPr>
              <a:t> </a:t>
            </a:r>
            <a:r>
              <a:rPr dirty="0" sz="8500" spc="-590">
                <a:latin typeface="Arial MT"/>
                <a:cs typeface="Arial MT"/>
              </a:rPr>
              <a:t>RECORDS</a:t>
            </a:r>
            <a:endParaRPr sz="8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42694" y="6997737"/>
            <a:ext cx="3221990" cy="546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632710" algn="l"/>
              </a:tabLst>
            </a:pPr>
            <a:r>
              <a:rPr dirty="0" sz="3400" spc="-10">
                <a:solidFill>
                  <a:srgbClr val="F4F4F4"/>
                </a:solidFill>
                <a:latin typeface="Lucida Sans Unicode"/>
                <a:cs typeface="Lucida Sans Unicode"/>
              </a:rPr>
              <a:t>SUMBITTED</a:t>
            </a:r>
            <a:r>
              <a:rPr dirty="0" sz="3400">
                <a:solidFill>
                  <a:srgbClr val="F4F4F4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90">
                <a:solidFill>
                  <a:srgbClr val="F4F4F4"/>
                </a:solidFill>
                <a:latin typeface="Lucida Sans Unicode"/>
                <a:cs typeface="Lucida Sans Unicode"/>
              </a:rPr>
              <a:t>BY: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98128" y="3340860"/>
            <a:ext cx="6586220" cy="249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500" spc="-290">
                <a:solidFill>
                  <a:srgbClr val="F4F4F4"/>
                </a:solidFill>
                <a:latin typeface="Arial MT"/>
                <a:cs typeface="Arial MT"/>
              </a:rPr>
              <a:t>DASHBOARD</a:t>
            </a:r>
            <a:endParaRPr sz="8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610"/>
              </a:spcBef>
            </a:pPr>
            <a:r>
              <a:rPr dirty="0" sz="3000" spc="-100">
                <a:solidFill>
                  <a:srgbClr val="F4F4F4"/>
                </a:solidFill>
                <a:latin typeface="Lucida Sans Unicode"/>
                <a:cs typeface="Lucida Sans Unicode"/>
              </a:rPr>
              <a:t>MINIPROJECT</a:t>
            </a:r>
            <a:r>
              <a:rPr dirty="0" sz="3000" spc="-3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50">
                <a:solidFill>
                  <a:srgbClr val="F4F4F4"/>
                </a:solidFill>
                <a:latin typeface="Lucida Sans Unicode"/>
                <a:cs typeface="Lucida Sans Unicode"/>
              </a:rPr>
              <a:t>2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" y="1019174"/>
            <a:ext cx="18293080" cy="8248650"/>
            <a:chOff x="4762" y="1019174"/>
            <a:chExt cx="18293080" cy="8248650"/>
          </a:xfrm>
        </p:grpSpPr>
        <p:sp>
          <p:nvSpPr>
            <p:cNvPr id="3" name="object 3"/>
            <p:cNvSpPr/>
            <p:nvPr/>
          </p:nvSpPr>
          <p:spPr>
            <a:xfrm>
              <a:off x="4762" y="5143499"/>
              <a:ext cx="18278475" cy="0"/>
            </a:xfrm>
            <a:custGeom>
              <a:avLst/>
              <a:gdLst/>
              <a:ahLst/>
              <a:cxnLst/>
              <a:rect l="l" t="t" r="r" b="b"/>
              <a:pathLst>
                <a:path w="18278475" h="0">
                  <a:moveTo>
                    <a:pt x="0" y="0"/>
                  </a:moveTo>
                  <a:lnTo>
                    <a:pt x="18278473" y="0"/>
                  </a:lnTo>
                </a:path>
              </a:pathLst>
            </a:custGeom>
            <a:ln w="9524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6996" y="1028699"/>
              <a:ext cx="8701003" cy="8229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86995" y="1028699"/>
              <a:ext cx="8701405" cy="8229600"/>
            </a:xfrm>
            <a:custGeom>
              <a:avLst/>
              <a:gdLst/>
              <a:ahLst/>
              <a:cxnLst/>
              <a:rect l="l" t="t" r="r" b="b"/>
              <a:pathLst>
                <a:path w="8701405" h="8229600">
                  <a:moveTo>
                    <a:pt x="8701004" y="8229550"/>
                  </a:moveTo>
                  <a:lnTo>
                    <a:pt x="581017" y="8229599"/>
                  </a:lnTo>
                  <a:lnTo>
                    <a:pt x="533361" y="8227671"/>
                  </a:lnTo>
                  <a:lnTo>
                    <a:pt x="486766" y="8221991"/>
                  </a:lnTo>
                  <a:lnTo>
                    <a:pt x="441381" y="8212708"/>
                  </a:lnTo>
                  <a:lnTo>
                    <a:pt x="397357" y="8199970"/>
                  </a:lnTo>
                  <a:lnTo>
                    <a:pt x="354843" y="8183929"/>
                  </a:lnTo>
                  <a:lnTo>
                    <a:pt x="313988" y="8164733"/>
                  </a:lnTo>
                  <a:lnTo>
                    <a:pt x="274942" y="8142531"/>
                  </a:lnTo>
                  <a:lnTo>
                    <a:pt x="237855" y="8117475"/>
                  </a:lnTo>
                  <a:lnTo>
                    <a:pt x="202876" y="8089713"/>
                  </a:lnTo>
                  <a:lnTo>
                    <a:pt x="170155" y="8059394"/>
                  </a:lnTo>
                  <a:lnTo>
                    <a:pt x="139841" y="8026669"/>
                  </a:lnTo>
                  <a:lnTo>
                    <a:pt x="112083" y="7991687"/>
                  </a:lnTo>
                  <a:lnTo>
                    <a:pt x="87032" y="7954598"/>
                  </a:lnTo>
                  <a:lnTo>
                    <a:pt x="64837" y="7915551"/>
                  </a:lnTo>
                  <a:lnTo>
                    <a:pt x="45646" y="7874696"/>
                  </a:lnTo>
                  <a:lnTo>
                    <a:pt x="29610" y="7832182"/>
                  </a:lnTo>
                  <a:lnTo>
                    <a:pt x="16879" y="7788159"/>
                  </a:lnTo>
                  <a:lnTo>
                    <a:pt x="7601" y="7742777"/>
                  </a:lnTo>
                  <a:lnTo>
                    <a:pt x="1926" y="7696184"/>
                  </a:lnTo>
                  <a:lnTo>
                    <a:pt x="1" y="7648532"/>
                  </a:lnTo>
                  <a:lnTo>
                    <a:pt x="0" y="581065"/>
                  </a:lnTo>
                  <a:lnTo>
                    <a:pt x="1922" y="533412"/>
                  </a:lnTo>
                  <a:lnTo>
                    <a:pt x="7598" y="486820"/>
                  </a:lnTo>
                  <a:lnTo>
                    <a:pt x="16876" y="441437"/>
                  </a:lnTo>
                  <a:lnTo>
                    <a:pt x="29608" y="397414"/>
                  </a:lnTo>
                  <a:lnTo>
                    <a:pt x="45644" y="354899"/>
                  </a:lnTo>
                  <a:lnTo>
                    <a:pt x="64835" y="314044"/>
                  </a:lnTo>
                  <a:lnTo>
                    <a:pt x="87031" y="274996"/>
                  </a:lnTo>
                  <a:lnTo>
                    <a:pt x="112083" y="237907"/>
                  </a:lnTo>
                  <a:lnTo>
                    <a:pt x="139841" y="202925"/>
                  </a:lnTo>
                  <a:lnTo>
                    <a:pt x="170155" y="170200"/>
                  </a:lnTo>
                  <a:lnTo>
                    <a:pt x="202877" y="139882"/>
                  </a:lnTo>
                  <a:lnTo>
                    <a:pt x="237857" y="112120"/>
                  </a:lnTo>
                  <a:lnTo>
                    <a:pt x="274944" y="87063"/>
                  </a:lnTo>
                  <a:lnTo>
                    <a:pt x="313990" y="64862"/>
                  </a:lnTo>
                  <a:lnTo>
                    <a:pt x="354846" y="45667"/>
                  </a:lnTo>
                  <a:lnTo>
                    <a:pt x="397360" y="29625"/>
                  </a:lnTo>
                  <a:lnTo>
                    <a:pt x="441385" y="16889"/>
                  </a:lnTo>
                  <a:lnTo>
                    <a:pt x="486769" y="7606"/>
                  </a:lnTo>
                  <a:lnTo>
                    <a:pt x="533365" y="1926"/>
                  </a:lnTo>
                  <a:lnTo>
                    <a:pt x="581019" y="0"/>
                  </a:lnTo>
                  <a:lnTo>
                    <a:pt x="8701004" y="47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16000" y="1797166"/>
            <a:ext cx="3517900" cy="1328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000" y="2825866"/>
            <a:ext cx="5374005" cy="1328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50" spc="-90">
                <a:solidFill>
                  <a:srgbClr val="F4F4F4"/>
                </a:solidFill>
                <a:latin typeface="Lucida Sans Unicode"/>
                <a:cs typeface="Lucida Sans Unicode"/>
              </a:rPr>
              <a:t>Objectives</a:t>
            </a:r>
            <a:endParaRPr sz="85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16" y="5793405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16" y="6536355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16" y="7279305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16" y="8022255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916" y="8765205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14471" y="5595901"/>
            <a:ext cx="7129145" cy="374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analyze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patient 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admission 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trends 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100" spc="-90">
                <a:solidFill>
                  <a:srgbClr val="F4F4F4"/>
                </a:solidFill>
                <a:latin typeface="Verdana"/>
                <a:cs typeface="Verdana"/>
              </a:rPr>
              <a:t>identify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changes </a:t>
            </a:r>
            <a:r>
              <a:rPr dirty="0" sz="2100" spc="-130">
                <a:solidFill>
                  <a:srgbClr val="F4F4F4"/>
                </a:solidFill>
                <a:latin typeface="Verdana"/>
                <a:cs typeface="Verdana"/>
              </a:rPr>
              <a:t>in</a:t>
            </a:r>
            <a:r>
              <a:rPr dirty="0" sz="2100" spc="-13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0">
                <a:solidFill>
                  <a:srgbClr val="F4F4F4"/>
                </a:solidFill>
                <a:latin typeface="Verdana"/>
                <a:cs typeface="Verdana"/>
              </a:rPr>
              <a:t>hospital</a:t>
            </a:r>
            <a:r>
              <a:rPr dirty="0" sz="21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14">
                <a:solidFill>
                  <a:srgbClr val="F4F4F4"/>
                </a:solidFill>
                <a:latin typeface="Verdana"/>
                <a:cs typeface="Verdana"/>
              </a:rPr>
              <a:t>demand</a:t>
            </a:r>
            <a:r>
              <a:rPr dirty="0" sz="21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over</a:t>
            </a:r>
            <a:r>
              <a:rPr dirty="0" sz="21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time.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1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Verdana"/>
                <a:cs typeface="Verdana"/>
              </a:rPr>
              <a:t>evaluate</a:t>
            </a:r>
            <a:r>
              <a:rPr dirty="0" sz="21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14">
                <a:solidFill>
                  <a:srgbClr val="F4F4F4"/>
                </a:solidFill>
                <a:latin typeface="Verdana"/>
                <a:cs typeface="Verdana"/>
              </a:rPr>
              <a:t>department-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wise</a:t>
            </a:r>
            <a:r>
              <a:rPr dirty="0" sz="21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30">
                <a:solidFill>
                  <a:srgbClr val="F4F4F4"/>
                </a:solidFill>
                <a:latin typeface="Verdana"/>
                <a:cs typeface="Verdana"/>
              </a:rPr>
              <a:t>patient</a:t>
            </a:r>
            <a:r>
              <a:rPr dirty="0" sz="21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65">
                <a:solidFill>
                  <a:srgbClr val="F4F4F4"/>
                </a:solidFill>
                <a:latin typeface="Verdana"/>
                <a:cs typeface="Verdana"/>
              </a:rPr>
              <a:t>distribution</a:t>
            </a:r>
            <a:r>
              <a:rPr dirty="0" sz="21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100" spc="-100">
                <a:solidFill>
                  <a:srgbClr val="F4F4F4"/>
                </a:solidFill>
                <a:latin typeface="Verdana"/>
                <a:cs typeface="Verdana"/>
              </a:rPr>
              <a:t>optimize</a:t>
            </a:r>
            <a:r>
              <a:rPr dirty="0" sz="2100" spc="-13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85">
                <a:solidFill>
                  <a:srgbClr val="F4F4F4"/>
                </a:solidFill>
                <a:latin typeface="Verdana"/>
                <a:cs typeface="Verdana"/>
              </a:rPr>
              <a:t>resource</a:t>
            </a:r>
            <a:r>
              <a:rPr dirty="0" sz="2100" spc="-13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allocation.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100" spc="36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30">
                <a:solidFill>
                  <a:srgbClr val="F4F4F4"/>
                </a:solidFill>
                <a:latin typeface="Verdana"/>
                <a:cs typeface="Verdana"/>
              </a:rPr>
              <a:t>identify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most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Verdana"/>
                <a:cs typeface="Verdana"/>
              </a:rPr>
              <a:t>common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diseases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100" spc="3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45">
                <a:solidFill>
                  <a:srgbClr val="F4F4F4"/>
                </a:solidFill>
                <a:latin typeface="Verdana"/>
                <a:cs typeface="Verdana"/>
              </a:rPr>
              <a:t>support </a:t>
            </a:r>
            <a:r>
              <a:rPr dirty="0" sz="2100" spc="-105">
                <a:solidFill>
                  <a:srgbClr val="F4F4F4"/>
                </a:solidFill>
                <a:latin typeface="Verdana"/>
                <a:cs typeface="Verdana"/>
              </a:rPr>
              <a:t>preventive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F4F4F4"/>
                </a:solidFill>
                <a:latin typeface="Verdana"/>
                <a:cs typeface="Verdana"/>
              </a:rPr>
              <a:t>healthcare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planning.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55">
                <a:solidFill>
                  <a:srgbClr val="F4F4F4"/>
                </a:solidFill>
                <a:latin typeface="Verdana"/>
                <a:cs typeface="Verdana"/>
              </a:rPr>
              <a:t>analyze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60">
                <a:solidFill>
                  <a:srgbClr val="F4F4F4"/>
                </a:solidFill>
                <a:latin typeface="Verdana"/>
                <a:cs typeface="Verdana"/>
              </a:rPr>
              <a:t>revenue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60">
                <a:solidFill>
                  <a:srgbClr val="F4F4F4"/>
                </a:solidFill>
                <a:latin typeface="Verdana"/>
                <a:cs typeface="Verdana"/>
              </a:rPr>
              <a:t>generated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by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each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85">
                <a:solidFill>
                  <a:srgbClr val="F4F4F4"/>
                </a:solidFill>
                <a:latin typeface="Verdana"/>
                <a:cs typeface="Verdana"/>
              </a:rPr>
              <a:t>department</a:t>
            </a:r>
            <a:r>
              <a:rPr dirty="0" sz="2100" spc="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F4F4F4"/>
                </a:solidFill>
                <a:latin typeface="Verdana"/>
                <a:cs typeface="Verdana"/>
              </a:rPr>
              <a:t>for </a:t>
            </a:r>
            <a:r>
              <a:rPr dirty="0" sz="2100" spc="-95">
                <a:solidFill>
                  <a:srgbClr val="F4F4F4"/>
                </a:solidFill>
                <a:latin typeface="Verdana"/>
                <a:cs typeface="Verdana"/>
              </a:rPr>
              <a:t>financial</a:t>
            </a:r>
            <a:r>
              <a:rPr dirty="0" sz="2100" spc="-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70">
                <a:solidFill>
                  <a:srgbClr val="F4F4F4"/>
                </a:solidFill>
                <a:latin typeface="Verdana"/>
                <a:cs typeface="Verdana"/>
              </a:rPr>
              <a:t>decision-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making.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build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an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60">
                <a:solidFill>
                  <a:srgbClr val="F4F4F4"/>
                </a:solidFill>
                <a:latin typeface="Verdana"/>
                <a:cs typeface="Verdana"/>
              </a:rPr>
              <a:t>interactive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F4F4F4"/>
                </a:solidFill>
                <a:latin typeface="Verdana"/>
                <a:cs typeface="Verdana"/>
              </a:rPr>
              <a:t>Tableau</a:t>
            </a:r>
            <a:r>
              <a:rPr dirty="0" sz="2100" spc="2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50">
                <a:solidFill>
                  <a:srgbClr val="F4F4F4"/>
                </a:solidFill>
                <a:latin typeface="Verdana"/>
                <a:cs typeface="Verdana"/>
              </a:rPr>
              <a:t>dashboard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F4F4F4"/>
                </a:solidFill>
                <a:latin typeface="Verdana"/>
                <a:cs typeface="Verdana"/>
              </a:rPr>
              <a:t>with</a:t>
            </a:r>
            <a:r>
              <a:rPr dirty="0" sz="2100" spc="2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65">
                <a:solidFill>
                  <a:srgbClr val="F4F4F4"/>
                </a:solidFill>
                <a:latin typeface="Verdana"/>
                <a:cs typeface="Verdana"/>
              </a:rPr>
              <a:t>KPIs, 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filters,</a:t>
            </a:r>
            <a:r>
              <a:rPr dirty="0" sz="21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1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85">
                <a:solidFill>
                  <a:srgbClr val="F4F4F4"/>
                </a:solidFill>
                <a:latin typeface="Verdana"/>
                <a:cs typeface="Verdana"/>
              </a:rPr>
              <a:t>forecasting</a:t>
            </a:r>
            <a:r>
              <a:rPr dirty="0" sz="21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4F4F4"/>
                </a:solidFill>
                <a:latin typeface="Verdana"/>
                <a:cs typeface="Verdana"/>
              </a:rPr>
              <a:t>capabilities.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" y="4699"/>
            <a:ext cx="12279630" cy="10282555"/>
            <a:chOff x="4762" y="4699"/>
            <a:chExt cx="12279630" cy="10282555"/>
          </a:xfrm>
        </p:grpSpPr>
        <p:sp>
          <p:nvSpPr>
            <p:cNvPr id="3" name="object 3"/>
            <p:cNvSpPr/>
            <p:nvPr/>
          </p:nvSpPr>
          <p:spPr>
            <a:xfrm>
              <a:off x="4762" y="5143499"/>
              <a:ext cx="12270105" cy="0"/>
            </a:xfrm>
            <a:custGeom>
              <a:avLst/>
              <a:gdLst/>
              <a:ahLst/>
              <a:cxnLst/>
              <a:rect l="l" t="t" r="r" b="b"/>
              <a:pathLst>
                <a:path w="12270105" h="0">
                  <a:moveTo>
                    <a:pt x="0" y="0"/>
                  </a:moveTo>
                  <a:lnTo>
                    <a:pt x="12270109" y="0"/>
                  </a:lnTo>
                </a:path>
              </a:pathLst>
            </a:custGeom>
            <a:ln w="9524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274808" y="4699"/>
              <a:ext cx="9525" cy="10282555"/>
            </a:xfrm>
            <a:custGeom>
              <a:avLst/>
              <a:gdLst/>
              <a:ahLst/>
              <a:cxnLst/>
              <a:rect l="l" t="t" r="r" b="b"/>
              <a:pathLst>
                <a:path w="9525" h="10282555">
                  <a:moveTo>
                    <a:pt x="9525" y="0"/>
                  </a:moveTo>
                  <a:lnTo>
                    <a:pt x="9524" y="10282300"/>
                  </a:lnTo>
                  <a:lnTo>
                    <a:pt x="0" y="10282300"/>
                  </a:lnTo>
                  <a:lnTo>
                    <a:pt x="0" y="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3346762" y="1019174"/>
            <a:ext cx="3921760" cy="838200"/>
            <a:chOff x="13346762" y="1019174"/>
            <a:chExt cx="3921760" cy="8382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56135" y="1028699"/>
              <a:ext cx="3903161" cy="8238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56287" y="1028699"/>
              <a:ext cx="3902710" cy="819150"/>
            </a:xfrm>
            <a:custGeom>
              <a:avLst/>
              <a:gdLst/>
              <a:ahLst/>
              <a:cxnLst/>
              <a:rect l="l" t="t" r="r" b="b"/>
              <a:pathLst>
                <a:path w="3902709" h="819150">
                  <a:moveTo>
                    <a:pt x="353299" y="819149"/>
                  </a:moveTo>
                  <a:lnTo>
                    <a:pt x="272970" y="799751"/>
                  </a:lnTo>
                  <a:lnTo>
                    <a:pt x="230746" y="781899"/>
                  </a:lnTo>
                  <a:lnTo>
                    <a:pt x="191076" y="759638"/>
                  </a:lnTo>
                  <a:lnTo>
                    <a:pt x="154270" y="733277"/>
                  </a:lnTo>
                  <a:lnTo>
                    <a:pt x="120637" y="703126"/>
                  </a:lnTo>
                  <a:lnTo>
                    <a:pt x="90485" y="669492"/>
                  </a:lnTo>
                  <a:lnTo>
                    <a:pt x="64124" y="632686"/>
                  </a:lnTo>
                  <a:lnTo>
                    <a:pt x="41864" y="593016"/>
                  </a:lnTo>
                  <a:lnTo>
                    <a:pt x="24012" y="550792"/>
                  </a:lnTo>
                  <a:lnTo>
                    <a:pt x="10878" y="506322"/>
                  </a:lnTo>
                  <a:lnTo>
                    <a:pt x="2771" y="459915"/>
                  </a:lnTo>
                  <a:lnTo>
                    <a:pt x="0" y="411881"/>
                  </a:lnTo>
                  <a:lnTo>
                    <a:pt x="2771" y="363847"/>
                  </a:lnTo>
                  <a:lnTo>
                    <a:pt x="10878" y="317441"/>
                  </a:lnTo>
                  <a:lnTo>
                    <a:pt x="24012" y="272971"/>
                  </a:lnTo>
                  <a:lnTo>
                    <a:pt x="41864" y="230746"/>
                  </a:lnTo>
                  <a:lnTo>
                    <a:pt x="64124" y="191076"/>
                  </a:lnTo>
                  <a:lnTo>
                    <a:pt x="90485" y="154270"/>
                  </a:lnTo>
                  <a:lnTo>
                    <a:pt x="120637" y="120637"/>
                  </a:lnTo>
                  <a:lnTo>
                    <a:pt x="154270" y="90485"/>
                  </a:lnTo>
                  <a:lnTo>
                    <a:pt x="191076" y="64125"/>
                  </a:lnTo>
                  <a:lnTo>
                    <a:pt x="230746" y="41864"/>
                  </a:lnTo>
                  <a:lnTo>
                    <a:pt x="272970" y="24012"/>
                  </a:lnTo>
                  <a:lnTo>
                    <a:pt x="317440" y="10878"/>
                  </a:lnTo>
                  <a:lnTo>
                    <a:pt x="363847" y="2771"/>
                  </a:lnTo>
                  <a:lnTo>
                    <a:pt x="411881" y="0"/>
                  </a:lnTo>
                  <a:lnTo>
                    <a:pt x="3490831" y="0"/>
                  </a:lnTo>
                  <a:lnTo>
                    <a:pt x="3538865" y="2770"/>
                  </a:lnTo>
                  <a:lnTo>
                    <a:pt x="3585272" y="10877"/>
                  </a:lnTo>
                  <a:lnTo>
                    <a:pt x="3629742" y="24012"/>
                  </a:lnTo>
                  <a:lnTo>
                    <a:pt x="3671966" y="41863"/>
                  </a:lnTo>
                  <a:lnTo>
                    <a:pt x="3711636" y="64124"/>
                  </a:lnTo>
                  <a:lnTo>
                    <a:pt x="3748442" y="90485"/>
                  </a:lnTo>
                  <a:lnTo>
                    <a:pt x="3782076" y="120637"/>
                  </a:lnTo>
                  <a:lnTo>
                    <a:pt x="3812227" y="154270"/>
                  </a:lnTo>
                  <a:lnTo>
                    <a:pt x="3838588" y="191076"/>
                  </a:lnTo>
                  <a:lnTo>
                    <a:pt x="3860849" y="230746"/>
                  </a:lnTo>
                  <a:lnTo>
                    <a:pt x="3878701" y="272970"/>
                  </a:lnTo>
                  <a:lnTo>
                    <a:pt x="3891835" y="317441"/>
                  </a:lnTo>
                  <a:lnTo>
                    <a:pt x="3899942" y="363847"/>
                  </a:lnTo>
                  <a:lnTo>
                    <a:pt x="3902713" y="411881"/>
                  </a:lnTo>
                  <a:lnTo>
                    <a:pt x="3899942" y="459915"/>
                  </a:lnTo>
                  <a:lnTo>
                    <a:pt x="3891835" y="506322"/>
                  </a:lnTo>
                  <a:lnTo>
                    <a:pt x="3878701" y="550792"/>
                  </a:lnTo>
                  <a:lnTo>
                    <a:pt x="3860849" y="593017"/>
                  </a:lnTo>
                  <a:lnTo>
                    <a:pt x="3838588" y="632686"/>
                  </a:lnTo>
                  <a:lnTo>
                    <a:pt x="3812227" y="669492"/>
                  </a:lnTo>
                  <a:lnTo>
                    <a:pt x="3782076" y="703126"/>
                  </a:lnTo>
                  <a:lnTo>
                    <a:pt x="3748442" y="733277"/>
                  </a:lnTo>
                  <a:lnTo>
                    <a:pt x="3711636" y="759638"/>
                  </a:lnTo>
                  <a:lnTo>
                    <a:pt x="3671966" y="781899"/>
                  </a:lnTo>
                  <a:lnTo>
                    <a:pt x="3629742" y="799751"/>
                  </a:lnTo>
                  <a:lnTo>
                    <a:pt x="3585272" y="812885"/>
                  </a:lnTo>
                  <a:lnTo>
                    <a:pt x="3549413" y="81914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100165" y="1219739"/>
            <a:ext cx="241490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solidFill>
                  <a:srgbClr val="F4F4F4"/>
                </a:solidFill>
                <a:latin typeface="Lucida Sans Unicode"/>
                <a:cs typeface="Lucida Sans Unicode"/>
              </a:rPr>
              <a:t>COLLECT</a:t>
            </a:r>
            <a:r>
              <a:rPr dirty="0" sz="2500" spc="7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346762" y="2838666"/>
            <a:ext cx="3921760" cy="838200"/>
            <a:chOff x="13346762" y="2838666"/>
            <a:chExt cx="3921760" cy="8382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56135" y="2848191"/>
              <a:ext cx="3903161" cy="82385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356287" y="2848191"/>
              <a:ext cx="3902710" cy="819150"/>
            </a:xfrm>
            <a:custGeom>
              <a:avLst/>
              <a:gdLst/>
              <a:ahLst/>
              <a:cxnLst/>
              <a:rect l="l" t="t" r="r" b="b"/>
              <a:pathLst>
                <a:path w="3902709" h="819150">
                  <a:moveTo>
                    <a:pt x="353299" y="819149"/>
                  </a:moveTo>
                  <a:lnTo>
                    <a:pt x="272970" y="799751"/>
                  </a:lnTo>
                  <a:lnTo>
                    <a:pt x="230746" y="781899"/>
                  </a:lnTo>
                  <a:lnTo>
                    <a:pt x="191076" y="759638"/>
                  </a:lnTo>
                  <a:lnTo>
                    <a:pt x="154270" y="733277"/>
                  </a:lnTo>
                  <a:lnTo>
                    <a:pt x="120637" y="703126"/>
                  </a:lnTo>
                  <a:lnTo>
                    <a:pt x="90485" y="669492"/>
                  </a:lnTo>
                  <a:lnTo>
                    <a:pt x="64124" y="632686"/>
                  </a:lnTo>
                  <a:lnTo>
                    <a:pt x="41864" y="593016"/>
                  </a:lnTo>
                  <a:lnTo>
                    <a:pt x="24012" y="550792"/>
                  </a:lnTo>
                  <a:lnTo>
                    <a:pt x="10878" y="506322"/>
                  </a:lnTo>
                  <a:lnTo>
                    <a:pt x="2771" y="459915"/>
                  </a:lnTo>
                  <a:lnTo>
                    <a:pt x="0" y="411881"/>
                  </a:lnTo>
                  <a:lnTo>
                    <a:pt x="2771" y="363847"/>
                  </a:lnTo>
                  <a:lnTo>
                    <a:pt x="10878" y="317441"/>
                  </a:lnTo>
                  <a:lnTo>
                    <a:pt x="24012" y="272971"/>
                  </a:lnTo>
                  <a:lnTo>
                    <a:pt x="41864" y="230746"/>
                  </a:lnTo>
                  <a:lnTo>
                    <a:pt x="64124" y="191076"/>
                  </a:lnTo>
                  <a:lnTo>
                    <a:pt x="90485" y="154270"/>
                  </a:lnTo>
                  <a:lnTo>
                    <a:pt x="120637" y="120637"/>
                  </a:lnTo>
                  <a:lnTo>
                    <a:pt x="154270" y="90485"/>
                  </a:lnTo>
                  <a:lnTo>
                    <a:pt x="191076" y="64125"/>
                  </a:lnTo>
                  <a:lnTo>
                    <a:pt x="230746" y="41864"/>
                  </a:lnTo>
                  <a:lnTo>
                    <a:pt x="272970" y="24012"/>
                  </a:lnTo>
                  <a:lnTo>
                    <a:pt x="317440" y="10878"/>
                  </a:lnTo>
                  <a:lnTo>
                    <a:pt x="363847" y="2771"/>
                  </a:lnTo>
                  <a:lnTo>
                    <a:pt x="411881" y="0"/>
                  </a:lnTo>
                  <a:lnTo>
                    <a:pt x="3490831" y="0"/>
                  </a:lnTo>
                  <a:lnTo>
                    <a:pt x="3538865" y="2770"/>
                  </a:lnTo>
                  <a:lnTo>
                    <a:pt x="3585272" y="10878"/>
                  </a:lnTo>
                  <a:lnTo>
                    <a:pt x="3629742" y="24012"/>
                  </a:lnTo>
                  <a:lnTo>
                    <a:pt x="3671966" y="41863"/>
                  </a:lnTo>
                  <a:lnTo>
                    <a:pt x="3711636" y="64124"/>
                  </a:lnTo>
                  <a:lnTo>
                    <a:pt x="3748442" y="90485"/>
                  </a:lnTo>
                  <a:lnTo>
                    <a:pt x="3782076" y="120637"/>
                  </a:lnTo>
                  <a:lnTo>
                    <a:pt x="3812227" y="154270"/>
                  </a:lnTo>
                  <a:lnTo>
                    <a:pt x="3838588" y="191076"/>
                  </a:lnTo>
                  <a:lnTo>
                    <a:pt x="3860849" y="230746"/>
                  </a:lnTo>
                  <a:lnTo>
                    <a:pt x="3878701" y="272970"/>
                  </a:lnTo>
                  <a:lnTo>
                    <a:pt x="3891835" y="317440"/>
                  </a:lnTo>
                  <a:lnTo>
                    <a:pt x="3899942" y="363847"/>
                  </a:lnTo>
                  <a:lnTo>
                    <a:pt x="3902713" y="411881"/>
                  </a:lnTo>
                  <a:lnTo>
                    <a:pt x="3899942" y="459915"/>
                  </a:lnTo>
                  <a:lnTo>
                    <a:pt x="3891835" y="506322"/>
                  </a:lnTo>
                  <a:lnTo>
                    <a:pt x="3878701" y="550792"/>
                  </a:lnTo>
                  <a:lnTo>
                    <a:pt x="3860849" y="593017"/>
                  </a:lnTo>
                  <a:lnTo>
                    <a:pt x="3838588" y="632686"/>
                  </a:lnTo>
                  <a:lnTo>
                    <a:pt x="3812227" y="669492"/>
                  </a:lnTo>
                  <a:lnTo>
                    <a:pt x="3782076" y="703126"/>
                  </a:lnTo>
                  <a:lnTo>
                    <a:pt x="3748442" y="733277"/>
                  </a:lnTo>
                  <a:lnTo>
                    <a:pt x="3711636" y="759638"/>
                  </a:lnTo>
                  <a:lnTo>
                    <a:pt x="3671966" y="781899"/>
                  </a:lnTo>
                  <a:lnTo>
                    <a:pt x="3629742" y="799751"/>
                  </a:lnTo>
                  <a:lnTo>
                    <a:pt x="3585272" y="812885"/>
                  </a:lnTo>
                  <a:lnTo>
                    <a:pt x="3549413" y="81914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4290516" y="3039230"/>
            <a:ext cx="2034539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solidFill>
                  <a:srgbClr val="F4F4F4"/>
                </a:solidFill>
                <a:latin typeface="Lucida Sans Unicode"/>
                <a:cs typeface="Lucida Sans Unicode"/>
              </a:rPr>
              <a:t>CLEAN</a:t>
            </a:r>
            <a:r>
              <a:rPr dirty="0" sz="2500" spc="8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346762" y="4700749"/>
            <a:ext cx="3921760" cy="838200"/>
            <a:chOff x="13346762" y="4700749"/>
            <a:chExt cx="3921760" cy="8382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56135" y="4710275"/>
              <a:ext cx="3903161" cy="823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356287" y="4710274"/>
              <a:ext cx="3902710" cy="819150"/>
            </a:xfrm>
            <a:custGeom>
              <a:avLst/>
              <a:gdLst/>
              <a:ahLst/>
              <a:cxnLst/>
              <a:rect l="l" t="t" r="r" b="b"/>
              <a:pathLst>
                <a:path w="3902709" h="819150">
                  <a:moveTo>
                    <a:pt x="353300" y="819149"/>
                  </a:moveTo>
                  <a:lnTo>
                    <a:pt x="272970" y="799751"/>
                  </a:lnTo>
                  <a:lnTo>
                    <a:pt x="230746" y="781899"/>
                  </a:lnTo>
                  <a:lnTo>
                    <a:pt x="191076" y="759638"/>
                  </a:lnTo>
                  <a:lnTo>
                    <a:pt x="154270" y="733277"/>
                  </a:lnTo>
                  <a:lnTo>
                    <a:pt x="120637" y="703126"/>
                  </a:lnTo>
                  <a:lnTo>
                    <a:pt x="90485" y="669492"/>
                  </a:lnTo>
                  <a:lnTo>
                    <a:pt x="64124" y="632686"/>
                  </a:lnTo>
                  <a:lnTo>
                    <a:pt x="41864" y="593016"/>
                  </a:lnTo>
                  <a:lnTo>
                    <a:pt x="24012" y="550792"/>
                  </a:lnTo>
                  <a:lnTo>
                    <a:pt x="10878" y="506322"/>
                  </a:lnTo>
                  <a:lnTo>
                    <a:pt x="2771" y="459915"/>
                  </a:lnTo>
                  <a:lnTo>
                    <a:pt x="0" y="411881"/>
                  </a:lnTo>
                  <a:lnTo>
                    <a:pt x="2771" y="363847"/>
                  </a:lnTo>
                  <a:lnTo>
                    <a:pt x="10878" y="317441"/>
                  </a:lnTo>
                  <a:lnTo>
                    <a:pt x="24012" y="272971"/>
                  </a:lnTo>
                  <a:lnTo>
                    <a:pt x="41864" y="230746"/>
                  </a:lnTo>
                  <a:lnTo>
                    <a:pt x="64125" y="191076"/>
                  </a:lnTo>
                  <a:lnTo>
                    <a:pt x="90485" y="154270"/>
                  </a:lnTo>
                  <a:lnTo>
                    <a:pt x="120637" y="120637"/>
                  </a:lnTo>
                  <a:lnTo>
                    <a:pt x="154270" y="90485"/>
                  </a:lnTo>
                  <a:lnTo>
                    <a:pt x="191076" y="64125"/>
                  </a:lnTo>
                  <a:lnTo>
                    <a:pt x="230746" y="41864"/>
                  </a:lnTo>
                  <a:lnTo>
                    <a:pt x="272970" y="24012"/>
                  </a:lnTo>
                  <a:lnTo>
                    <a:pt x="317440" y="10878"/>
                  </a:lnTo>
                  <a:lnTo>
                    <a:pt x="363847" y="2771"/>
                  </a:lnTo>
                  <a:lnTo>
                    <a:pt x="411881" y="0"/>
                  </a:lnTo>
                  <a:lnTo>
                    <a:pt x="3490831" y="0"/>
                  </a:lnTo>
                  <a:lnTo>
                    <a:pt x="3538865" y="2770"/>
                  </a:lnTo>
                  <a:lnTo>
                    <a:pt x="3585272" y="10877"/>
                  </a:lnTo>
                  <a:lnTo>
                    <a:pt x="3629742" y="24012"/>
                  </a:lnTo>
                  <a:lnTo>
                    <a:pt x="3671966" y="41863"/>
                  </a:lnTo>
                  <a:lnTo>
                    <a:pt x="3711636" y="64124"/>
                  </a:lnTo>
                  <a:lnTo>
                    <a:pt x="3748442" y="90485"/>
                  </a:lnTo>
                  <a:lnTo>
                    <a:pt x="3782076" y="120637"/>
                  </a:lnTo>
                  <a:lnTo>
                    <a:pt x="3812227" y="154270"/>
                  </a:lnTo>
                  <a:lnTo>
                    <a:pt x="3838588" y="191076"/>
                  </a:lnTo>
                  <a:lnTo>
                    <a:pt x="3860849" y="230746"/>
                  </a:lnTo>
                  <a:lnTo>
                    <a:pt x="3878701" y="272970"/>
                  </a:lnTo>
                  <a:lnTo>
                    <a:pt x="3891835" y="317440"/>
                  </a:lnTo>
                  <a:lnTo>
                    <a:pt x="3899942" y="363847"/>
                  </a:lnTo>
                  <a:lnTo>
                    <a:pt x="3902713" y="411881"/>
                  </a:lnTo>
                  <a:lnTo>
                    <a:pt x="3899942" y="459915"/>
                  </a:lnTo>
                  <a:lnTo>
                    <a:pt x="3891835" y="506322"/>
                  </a:lnTo>
                  <a:lnTo>
                    <a:pt x="3878701" y="550792"/>
                  </a:lnTo>
                  <a:lnTo>
                    <a:pt x="3860849" y="593017"/>
                  </a:lnTo>
                  <a:lnTo>
                    <a:pt x="3838588" y="632686"/>
                  </a:lnTo>
                  <a:lnTo>
                    <a:pt x="3812227" y="669492"/>
                  </a:lnTo>
                  <a:lnTo>
                    <a:pt x="3782076" y="703126"/>
                  </a:lnTo>
                  <a:lnTo>
                    <a:pt x="3748442" y="733277"/>
                  </a:lnTo>
                  <a:lnTo>
                    <a:pt x="3711636" y="759638"/>
                  </a:lnTo>
                  <a:lnTo>
                    <a:pt x="3671966" y="781899"/>
                  </a:lnTo>
                  <a:lnTo>
                    <a:pt x="3629742" y="799751"/>
                  </a:lnTo>
                  <a:lnTo>
                    <a:pt x="3585272" y="812885"/>
                  </a:lnTo>
                  <a:lnTo>
                    <a:pt x="3549413" y="81914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4109690" y="4901315"/>
            <a:ext cx="239585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solidFill>
                  <a:srgbClr val="F4F4F4"/>
                </a:solidFill>
                <a:latin typeface="Lucida Sans Unicode"/>
                <a:cs typeface="Lucida Sans Unicode"/>
              </a:rPr>
              <a:t>ANALYZE</a:t>
            </a:r>
            <a:r>
              <a:rPr dirty="0" sz="2500" spc="-17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346762" y="6562832"/>
            <a:ext cx="3921760" cy="838200"/>
            <a:chOff x="13346762" y="6562832"/>
            <a:chExt cx="3921760" cy="8382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56135" y="6572357"/>
              <a:ext cx="3903161" cy="8238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356287" y="6572357"/>
              <a:ext cx="3902710" cy="819150"/>
            </a:xfrm>
            <a:custGeom>
              <a:avLst/>
              <a:gdLst/>
              <a:ahLst/>
              <a:cxnLst/>
              <a:rect l="l" t="t" r="r" b="b"/>
              <a:pathLst>
                <a:path w="3902709" h="819150">
                  <a:moveTo>
                    <a:pt x="353299" y="819149"/>
                  </a:moveTo>
                  <a:lnTo>
                    <a:pt x="272970" y="799751"/>
                  </a:lnTo>
                  <a:lnTo>
                    <a:pt x="230746" y="781899"/>
                  </a:lnTo>
                  <a:lnTo>
                    <a:pt x="191076" y="759638"/>
                  </a:lnTo>
                  <a:lnTo>
                    <a:pt x="154270" y="733277"/>
                  </a:lnTo>
                  <a:lnTo>
                    <a:pt x="120637" y="703126"/>
                  </a:lnTo>
                  <a:lnTo>
                    <a:pt x="90485" y="669492"/>
                  </a:lnTo>
                  <a:lnTo>
                    <a:pt x="64124" y="632686"/>
                  </a:lnTo>
                  <a:lnTo>
                    <a:pt x="41863" y="593016"/>
                  </a:lnTo>
                  <a:lnTo>
                    <a:pt x="24012" y="550792"/>
                  </a:lnTo>
                  <a:lnTo>
                    <a:pt x="10878" y="506322"/>
                  </a:lnTo>
                  <a:lnTo>
                    <a:pt x="2771" y="459915"/>
                  </a:lnTo>
                  <a:lnTo>
                    <a:pt x="0" y="411881"/>
                  </a:lnTo>
                  <a:lnTo>
                    <a:pt x="2771" y="363847"/>
                  </a:lnTo>
                  <a:lnTo>
                    <a:pt x="10878" y="317440"/>
                  </a:lnTo>
                  <a:lnTo>
                    <a:pt x="24012" y="272970"/>
                  </a:lnTo>
                  <a:lnTo>
                    <a:pt x="41864" y="230746"/>
                  </a:lnTo>
                  <a:lnTo>
                    <a:pt x="64124" y="191076"/>
                  </a:lnTo>
                  <a:lnTo>
                    <a:pt x="90485" y="154270"/>
                  </a:lnTo>
                  <a:lnTo>
                    <a:pt x="120637" y="120637"/>
                  </a:lnTo>
                  <a:lnTo>
                    <a:pt x="154270" y="90485"/>
                  </a:lnTo>
                  <a:lnTo>
                    <a:pt x="191076" y="64124"/>
                  </a:lnTo>
                  <a:lnTo>
                    <a:pt x="230746" y="41864"/>
                  </a:lnTo>
                  <a:lnTo>
                    <a:pt x="272970" y="24012"/>
                  </a:lnTo>
                  <a:lnTo>
                    <a:pt x="317440" y="10878"/>
                  </a:lnTo>
                  <a:lnTo>
                    <a:pt x="363847" y="2771"/>
                  </a:lnTo>
                  <a:lnTo>
                    <a:pt x="411881" y="0"/>
                  </a:lnTo>
                  <a:lnTo>
                    <a:pt x="3490831" y="0"/>
                  </a:lnTo>
                  <a:lnTo>
                    <a:pt x="3538865" y="2770"/>
                  </a:lnTo>
                  <a:lnTo>
                    <a:pt x="3585272" y="10877"/>
                  </a:lnTo>
                  <a:lnTo>
                    <a:pt x="3629742" y="24011"/>
                  </a:lnTo>
                  <a:lnTo>
                    <a:pt x="3671966" y="41863"/>
                  </a:lnTo>
                  <a:lnTo>
                    <a:pt x="3711636" y="64124"/>
                  </a:lnTo>
                  <a:lnTo>
                    <a:pt x="3748442" y="90485"/>
                  </a:lnTo>
                  <a:lnTo>
                    <a:pt x="3782076" y="120637"/>
                  </a:lnTo>
                  <a:lnTo>
                    <a:pt x="3812227" y="154270"/>
                  </a:lnTo>
                  <a:lnTo>
                    <a:pt x="3838588" y="191076"/>
                  </a:lnTo>
                  <a:lnTo>
                    <a:pt x="3860849" y="230746"/>
                  </a:lnTo>
                  <a:lnTo>
                    <a:pt x="3878701" y="272970"/>
                  </a:lnTo>
                  <a:lnTo>
                    <a:pt x="3891835" y="317440"/>
                  </a:lnTo>
                  <a:lnTo>
                    <a:pt x="3899942" y="363847"/>
                  </a:lnTo>
                  <a:lnTo>
                    <a:pt x="3902713" y="411881"/>
                  </a:lnTo>
                  <a:lnTo>
                    <a:pt x="3899942" y="459915"/>
                  </a:lnTo>
                  <a:lnTo>
                    <a:pt x="3891835" y="506322"/>
                  </a:lnTo>
                  <a:lnTo>
                    <a:pt x="3878701" y="550792"/>
                  </a:lnTo>
                  <a:lnTo>
                    <a:pt x="3860849" y="593017"/>
                  </a:lnTo>
                  <a:lnTo>
                    <a:pt x="3838588" y="632686"/>
                  </a:lnTo>
                  <a:lnTo>
                    <a:pt x="3812227" y="669493"/>
                  </a:lnTo>
                  <a:lnTo>
                    <a:pt x="3782076" y="703126"/>
                  </a:lnTo>
                  <a:lnTo>
                    <a:pt x="3748442" y="733278"/>
                  </a:lnTo>
                  <a:lnTo>
                    <a:pt x="3711636" y="759638"/>
                  </a:lnTo>
                  <a:lnTo>
                    <a:pt x="3671966" y="781899"/>
                  </a:lnTo>
                  <a:lnTo>
                    <a:pt x="3629742" y="799751"/>
                  </a:lnTo>
                  <a:lnTo>
                    <a:pt x="3585272" y="812885"/>
                  </a:lnTo>
                  <a:lnTo>
                    <a:pt x="3549414" y="81914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3745805" y="6763397"/>
            <a:ext cx="312420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solidFill>
                  <a:srgbClr val="F4F4F4"/>
                </a:solidFill>
                <a:latin typeface="Lucida Sans Unicode"/>
                <a:cs typeface="Lucida Sans Unicode"/>
              </a:rPr>
              <a:t>INTERPRET</a:t>
            </a:r>
            <a:r>
              <a:rPr dirty="0" sz="2500" spc="1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4F4F4"/>
                </a:solidFill>
                <a:latin typeface="Lucida Sans Unicode"/>
                <a:cs typeface="Lucida Sans Unicode"/>
              </a:rPr>
              <a:t>RESULTS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346762" y="8424916"/>
            <a:ext cx="3921760" cy="838200"/>
            <a:chOff x="13346762" y="8424916"/>
            <a:chExt cx="3921760" cy="83820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56135" y="8434441"/>
              <a:ext cx="3903161" cy="82385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356287" y="8434441"/>
              <a:ext cx="3902710" cy="819150"/>
            </a:xfrm>
            <a:custGeom>
              <a:avLst/>
              <a:gdLst/>
              <a:ahLst/>
              <a:cxnLst/>
              <a:rect l="l" t="t" r="r" b="b"/>
              <a:pathLst>
                <a:path w="3902709" h="819150">
                  <a:moveTo>
                    <a:pt x="353299" y="819149"/>
                  </a:moveTo>
                  <a:lnTo>
                    <a:pt x="272970" y="799751"/>
                  </a:lnTo>
                  <a:lnTo>
                    <a:pt x="230746" y="781899"/>
                  </a:lnTo>
                  <a:lnTo>
                    <a:pt x="191076" y="759638"/>
                  </a:lnTo>
                  <a:lnTo>
                    <a:pt x="154270" y="733277"/>
                  </a:lnTo>
                  <a:lnTo>
                    <a:pt x="120637" y="703126"/>
                  </a:lnTo>
                  <a:lnTo>
                    <a:pt x="90485" y="669492"/>
                  </a:lnTo>
                  <a:lnTo>
                    <a:pt x="64124" y="632686"/>
                  </a:lnTo>
                  <a:lnTo>
                    <a:pt x="41863" y="593016"/>
                  </a:lnTo>
                  <a:lnTo>
                    <a:pt x="24011" y="550792"/>
                  </a:lnTo>
                  <a:lnTo>
                    <a:pt x="10877" y="506322"/>
                  </a:lnTo>
                  <a:lnTo>
                    <a:pt x="2770" y="459915"/>
                  </a:lnTo>
                  <a:lnTo>
                    <a:pt x="0" y="411881"/>
                  </a:lnTo>
                  <a:lnTo>
                    <a:pt x="2771" y="363847"/>
                  </a:lnTo>
                  <a:lnTo>
                    <a:pt x="10878" y="317440"/>
                  </a:lnTo>
                  <a:lnTo>
                    <a:pt x="24012" y="272970"/>
                  </a:lnTo>
                  <a:lnTo>
                    <a:pt x="41864" y="230746"/>
                  </a:lnTo>
                  <a:lnTo>
                    <a:pt x="64124" y="191076"/>
                  </a:lnTo>
                  <a:lnTo>
                    <a:pt x="90485" y="154270"/>
                  </a:lnTo>
                  <a:lnTo>
                    <a:pt x="120637" y="120637"/>
                  </a:lnTo>
                  <a:lnTo>
                    <a:pt x="154270" y="90485"/>
                  </a:lnTo>
                  <a:lnTo>
                    <a:pt x="191076" y="64124"/>
                  </a:lnTo>
                  <a:lnTo>
                    <a:pt x="230746" y="41864"/>
                  </a:lnTo>
                  <a:lnTo>
                    <a:pt x="272970" y="24012"/>
                  </a:lnTo>
                  <a:lnTo>
                    <a:pt x="317440" y="10878"/>
                  </a:lnTo>
                  <a:lnTo>
                    <a:pt x="363847" y="2771"/>
                  </a:lnTo>
                  <a:lnTo>
                    <a:pt x="411881" y="0"/>
                  </a:lnTo>
                  <a:lnTo>
                    <a:pt x="3490831" y="0"/>
                  </a:lnTo>
                  <a:lnTo>
                    <a:pt x="3538865" y="2770"/>
                  </a:lnTo>
                  <a:lnTo>
                    <a:pt x="3585272" y="10877"/>
                  </a:lnTo>
                  <a:lnTo>
                    <a:pt x="3629742" y="24011"/>
                  </a:lnTo>
                  <a:lnTo>
                    <a:pt x="3671966" y="41863"/>
                  </a:lnTo>
                  <a:lnTo>
                    <a:pt x="3711636" y="64124"/>
                  </a:lnTo>
                  <a:lnTo>
                    <a:pt x="3748442" y="90485"/>
                  </a:lnTo>
                  <a:lnTo>
                    <a:pt x="3782076" y="120637"/>
                  </a:lnTo>
                  <a:lnTo>
                    <a:pt x="3812227" y="154270"/>
                  </a:lnTo>
                  <a:lnTo>
                    <a:pt x="3838588" y="191076"/>
                  </a:lnTo>
                  <a:lnTo>
                    <a:pt x="3860849" y="230746"/>
                  </a:lnTo>
                  <a:lnTo>
                    <a:pt x="3878701" y="272970"/>
                  </a:lnTo>
                  <a:lnTo>
                    <a:pt x="3891835" y="317440"/>
                  </a:lnTo>
                  <a:lnTo>
                    <a:pt x="3899942" y="363847"/>
                  </a:lnTo>
                  <a:lnTo>
                    <a:pt x="3902713" y="411881"/>
                  </a:lnTo>
                  <a:lnTo>
                    <a:pt x="3899942" y="459915"/>
                  </a:lnTo>
                  <a:lnTo>
                    <a:pt x="3891835" y="506322"/>
                  </a:lnTo>
                  <a:lnTo>
                    <a:pt x="3878701" y="550792"/>
                  </a:lnTo>
                  <a:lnTo>
                    <a:pt x="3860849" y="593017"/>
                  </a:lnTo>
                  <a:lnTo>
                    <a:pt x="3838588" y="632686"/>
                  </a:lnTo>
                  <a:lnTo>
                    <a:pt x="3812227" y="669493"/>
                  </a:lnTo>
                  <a:lnTo>
                    <a:pt x="3782076" y="703126"/>
                  </a:lnTo>
                  <a:lnTo>
                    <a:pt x="3748442" y="733278"/>
                  </a:lnTo>
                  <a:lnTo>
                    <a:pt x="3711636" y="759638"/>
                  </a:lnTo>
                  <a:lnTo>
                    <a:pt x="3671966" y="781899"/>
                  </a:lnTo>
                  <a:lnTo>
                    <a:pt x="3629742" y="799751"/>
                  </a:lnTo>
                  <a:lnTo>
                    <a:pt x="3585272" y="812885"/>
                  </a:lnTo>
                  <a:lnTo>
                    <a:pt x="3549414" y="81914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3705919" y="8625481"/>
            <a:ext cx="320357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>
                <a:solidFill>
                  <a:srgbClr val="F4F4F4"/>
                </a:solidFill>
                <a:latin typeface="Lucida Sans Unicode"/>
                <a:cs typeface="Lucida Sans Unicode"/>
              </a:rPr>
              <a:t>VISUALIZE</a:t>
            </a:r>
            <a:r>
              <a:rPr dirty="0" sz="2500" spc="12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">
                <a:solidFill>
                  <a:srgbClr val="F4F4F4"/>
                </a:solidFill>
                <a:latin typeface="Lucida Sans Unicode"/>
                <a:cs typeface="Lucida Sans Unicode"/>
              </a:rPr>
              <a:t>FINDINGS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864063" y="1030930"/>
            <a:ext cx="828675" cy="828675"/>
            <a:chOff x="11864063" y="1030930"/>
            <a:chExt cx="828675" cy="82867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3585" y="1040457"/>
              <a:ext cx="812100" cy="8121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873588" y="1040455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448954" y="809530"/>
                  </a:moveTo>
                  <a:lnTo>
                    <a:pt x="499110" y="801386"/>
                  </a:lnTo>
                  <a:lnTo>
                    <a:pt x="542958" y="788441"/>
                  </a:lnTo>
                  <a:lnTo>
                    <a:pt x="584592" y="770842"/>
                  </a:lnTo>
                  <a:lnTo>
                    <a:pt x="623708" y="748896"/>
                  </a:lnTo>
                  <a:lnTo>
                    <a:pt x="660000" y="722906"/>
                  </a:lnTo>
                  <a:lnTo>
                    <a:pt x="693163" y="693178"/>
                  </a:lnTo>
                  <a:lnTo>
                    <a:pt x="722893" y="660016"/>
                  </a:lnTo>
                  <a:lnTo>
                    <a:pt x="748885" y="623725"/>
                  </a:lnTo>
                  <a:lnTo>
                    <a:pt x="770834" y="584610"/>
                  </a:lnTo>
                  <a:lnTo>
                    <a:pt x="788434" y="542976"/>
                  </a:lnTo>
                  <a:lnTo>
                    <a:pt x="801382" y="499128"/>
                  </a:lnTo>
                  <a:lnTo>
                    <a:pt x="809372" y="453371"/>
                  </a:lnTo>
                  <a:lnTo>
                    <a:pt x="809616" y="448983"/>
                  </a:lnTo>
                </a:path>
                <a:path w="809625" h="809625">
                  <a:moveTo>
                    <a:pt x="809529" y="363127"/>
                  </a:moveTo>
                  <a:lnTo>
                    <a:pt x="801365" y="312898"/>
                  </a:lnTo>
                  <a:lnTo>
                    <a:pt x="788410" y="269055"/>
                  </a:lnTo>
                  <a:lnTo>
                    <a:pt x="770803" y="227427"/>
                  </a:lnTo>
                  <a:lnTo>
                    <a:pt x="748850" y="188320"/>
                  </a:lnTo>
                  <a:lnTo>
                    <a:pt x="722856" y="152037"/>
                  </a:lnTo>
                  <a:lnTo>
                    <a:pt x="693125" y="118884"/>
                  </a:lnTo>
                  <a:lnTo>
                    <a:pt x="659963" y="89164"/>
                  </a:lnTo>
                  <a:lnTo>
                    <a:pt x="623674" y="63182"/>
                  </a:lnTo>
                  <a:lnTo>
                    <a:pt x="584564" y="41243"/>
                  </a:lnTo>
                  <a:lnTo>
                    <a:pt x="542936" y="23651"/>
                  </a:lnTo>
                  <a:lnTo>
                    <a:pt x="499097" y="10710"/>
                  </a:lnTo>
                  <a:lnTo>
                    <a:pt x="453350" y="2725"/>
                  </a:lnTo>
                  <a:lnTo>
                    <a:pt x="406000" y="0"/>
                  </a:lnTo>
                  <a:lnTo>
                    <a:pt x="358651" y="2736"/>
                  </a:lnTo>
                  <a:lnTo>
                    <a:pt x="312908" y="10732"/>
                  </a:lnTo>
                  <a:lnTo>
                    <a:pt x="269075" y="23683"/>
                  </a:lnTo>
                  <a:lnTo>
                    <a:pt x="227456" y="41283"/>
                  </a:lnTo>
                  <a:lnTo>
                    <a:pt x="188355" y="63227"/>
                  </a:lnTo>
                  <a:lnTo>
                    <a:pt x="152076" y="89212"/>
                  </a:lnTo>
                  <a:lnTo>
                    <a:pt x="118925" y="118932"/>
                  </a:lnTo>
                  <a:lnTo>
                    <a:pt x="89206" y="152084"/>
                  </a:lnTo>
                  <a:lnTo>
                    <a:pt x="63222" y="188363"/>
                  </a:lnTo>
                  <a:lnTo>
                    <a:pt x="41278" y="227464"/>
                  </a:lnTo>
                  <a:lnTo>
                    <a:pt x="23680" y="269083"/>
                  </a:lnTo>
                  <a:lnTo>
                    <a:pt x="10731" y="312916"/>
                  </a:lnTo>
                  <a:lnTo>
                    <a:pt x="2736" y="358658"/>
                  </a:lnTo>
                  <a:lnTo>
                    <a:pt x="0" y="406005"/>
                  </a:lnTo>
                  <a:lnTo>
                    <a:pt x="2726" y="453354"/>
                  </a:lnTo>
                  <a:lnTo>
                    <a:pt x="10711" y="499100"/>
                  </a:lnTo>
                  <a:lnTo>
                    <a:pt x="23652" y="542938"/>
                  </a:lnTo>
                  <a:lnTo>
                    <a:pt x="41243" y="584564"/>
                  </a:lnTo>
                  <a:lnTo>
                    <a:pt x="63181" y="623673"/>
                  </a:lnTo>
                  <a:lnTo>
                    <a:pt x="89162" y="659960"/>
                  </a:lnTo>
                  <a:lnTo>
                    <a:pt x="118880" y="693122"/>
                  </a:lnTo>
                  <a:lnTo>
                    <a:pt x="152032" y="722852"/>
                  </a:lnTo>
                  <a:lnTo>
                    <a:pt x="188312" y="748846"/>
                  </a:lnTo>
                  <a:lnTo>
                    <a:pt x="227418" y="770799"/>
                  </a:lnTo>
                  <a:lnTo>
                    <a:pt x="269043" y="788405"/>
                  </a:lnTo>
                  <a:lnTo>
                    <a:pt x="312884" y="801361"/>
                  </a:lnTo>
                  <a:lnTo>
                    <a:pt x="358636" y="809361"/>
                  </a:lnTo>
                  <a:lnTo>
                    <a:pt x="363135" y="80961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217314" y="1241022"/>
            <a:ext cx="124460" cy="363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66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864063" y="2838663"/>
            <a:ext cx="828675" cy="828675"/>
            <a:chOff x="11864063" y="2838663"/>
            <a:chExt cx="828675" cy="828675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3585" y="2848191"/>
              <a:ext cx="812100" cy="8121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873588" y="2848188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448957" y="809530"/>
                  </a:moveTo>
                  <a:lnTo>
                    <a:pt x="499110" y="801386"/>
                  </a:lnTo>
                  <a:lnTo>
                    <a:pt x="542958" y="788441"/>
                  </a:lnTo>
                  <a:lnTo>
                    <a:pt x="584592" y="770842"/>
                  </a:lnTo>
                  <a:lnTo>
                    <a:pt x="623708" y="748896"/>
                  </a:lnTo>
                  <a:lnTo>
                    <a:pt x="660000" y="722906"/>
                  </a:lnTo>
                  <a:lnTo>
                    <a:pt x="693163" y="693178"/>
                  </a:lnTo>
                  <a:lnTo>
                    <a:pt x="722893" y="660016"/>
                  </a:lnTo>
                  <a:lnTo>
                    <a:pt x="748885" y="623725"/>
                  </a:lnTo>
                  <a:lnTo>
                    <a:pt x="770834" y="584610"/>
                  </a:lnTo>
                  <a:lnTo>
                    <a:pt x="788434" y="542976"/>
                  </a:lnTo>
                  <a:lnTo>
                    <a:pt x="801382" y="499128"/>
                  </a:lnTo>
                  <a:lnTo>
                    <a:pt x="809372" y="453371"/>
                  </a:lnTo>
                  <a:lnTo>
                    <a:pt x="809616" y="448983"/>
                  </a:lnTo>
                </a:path>
                <a:path w="809625" h="809625">
                  <a:moveTo>
                    <a:pt x="809529" y="363127"/>
                  </a:moveTo>
                  <a:lnTo>
                    <a:pt x="801365" y="312898"/>
                  </a:lnTo>
                  <a:lnTo>
                    <a:pt x="788410" y="269055"/>
                  </a:lnTo>
                  <a:lnTo>
                    <a:pt x="770803" y="227427"/>
                  </a:lnTo>
                  <a:lnTo>
                    <a:pt x="748850" y="188320"/>
                  </a:lnTo>
                  <a:lnTo>
                    <a:pt x="722856" y="152037"/>
                  </a:lnTo>
                  <a:lnTo>
                    <a:pt x="693125" y="118884"/>
                  </a:lnTo>
                  <a:lnTo>
                    <a:pt x="659963" y="89164"/>
                  </a:lnTo>
                  <a:lnTo>
                    <a:pt x="623674" y="63182"/>
                  </a:lnTo>
                  <a:lnTo>
                    <a:pt x="584564" y="41243"/>
                  </a:lnTo>
                  <a:lnTo>
                    <a:pt x="542936" y="23651"/>
                  </a:lnTo>
                  <a:lnTo>
                    <a:pt x="499097" y="10710"/>
                  </a:lnTo>
                  <a:lnTo>
                    <a:pt x="453350" y="2725"/>
                  </a:lnTo>
                  <a:lnTo>
                    <a:pt x="406000" y="0"/>
                  </a:lnTo>
                  <a:lnTo>
                    <a:pt x="358651" y="2736"/>
                  </a:lnTo>
                  <a:lnTo>
                    <a:pt x="312908" y="10732"/>
                  </a:lnTo>
                  <a:lnTo>
                    <a:pt x="269075" y="23683"/>
                  </a:lnTo>
                  <a:lnTo>
                    <a:pt x="227456" y="41283"/>
                  </a:lnTo>
                  <a:lnTo>
                    <a:pt x="188355" y="63227"/>
                  </a:lnTo>
                  <a:lnTo>
                    <a:pt x="152076" y="89212"/>
                  </a:lnTo>
                  <a:lnTo>
                    <a:pt x="118925" y="118932"/>
                  </a:lnTo>
                  <a:lnTo>
                    <a:pt x="89206" y="152084"/>
                  </a:lnTo>
                  <a:lnTo>
                    <a:pt x="63222" y="188363"/>
                  </a:lnTo>
                  <a:lnTo>
                    <a:pt x="41278" y="227464"/>
                  </a:lnTo>
                  <a:lnTo>
                    <a:pt x="23680" y="269083"/>
                  </a:lnTo>
                  <a:lnTo>
                    <a:pt x="10731" y="312916"/>
                  </a:lnTo>
                  <a:lnTo>
                    <a:pt x="2736" y="358658"/>
                  </a:lnTo>
                  <a:lnTo>
                    <a:pt x="0" y="406005"/>
                  </a:lnTo>
                  <a:lnTo>
                    <a:pt x="2726" y="453354"/>
                  </a:lnTo>
                  <a:lnTo>
                    <a:pt x="10711" y="499099"/>
                  </a:lnTo>
                  <a:lnTo>
                    <a:pt x="23652" y="542938"/>
                  </a:lnTo>
                  <a:lnTo>
                    <a:pt x="41243" y="584564"/>
                  </a:lnTo>
                  <a:lnTo>
                    <a:pt x="63181" y="623673"/>
                  </a:lnTo>
                  <a:lnTo>
                    <a:pt x="89162" y="659960"/>
                  </a:lnTo>
                  <a:lnTo>
                    <a:pt x="118880" y="693122"/>
                  </a:lnTo>
                  <a:lnTo>
                    <a:pt x="152032" y="722852"/>
                  </a:lnTo>
                  <a:lnTo>
                    <a:pt x="188312" y="748846"/>
                  </a:lnTo>
                  <a:lnTo>
                    <a:pt x="227418" y="770799"/>
                  </a:lnTo>
                  <a:lnTo>
                    <a:pt x="269043" y="788405"/>
                  </a:lnTo>
                  <a:lnTo>
                    <a:pt x="312884" y="801361"/>
                  </a:lnTo>
                  <a:lnTo>
                    <a:pt x="358636" y="809361"/>
                  </a:lnTo>
                  <a:lnTo>
                    <a:pt x="363132" y="80961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2185463" y="3048851"/>
            <a:ext cx="188595" cy="363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6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864063" y="4727921"/>
            <a:ext cx="828675" cy="828675"/>
            <a:chOff x="11864063" y="4727921"/>
            <a:chExt cx="828675" cy="828675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3585" y="4737449"/>
              <a:ext cx="812100" cy="8121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873588" y="4737446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448956" y="809530"/>
                  </a:moveTo>
                  <a:lnTo>
                    <a:pt x="499110" y="801386"/>
                  </a:lnTo>
                  <a:lnTo>
                    <a:pt x="542958" y="788441"/>
                  </a:lnTo>
                  <a:lnTo>
                    <a:pt x="584592" y="770842"/>
                  </a:lnTo>
                  <a:lnTo>
                    <a:pt x="623708" y="748896"/>
                  </a:lnTo>
                  <a:lnTo>
                    <a:pt x="660000" y="722906"/>
                  </a:lnTo>
                  <a:lnTo>
                    <a:pt x="693163" y="693178"/>
                  </a:lnTo>
                  <a:lnTo>
                    <a:pt x="722893" y="660016"/>
                  </a:lnTo>
                  <a:lnTo>
                    <a:pt x="748885" y="623725"/>
                  </a:lnTo>
                  <a:lnTo>
                    <a:pt x="770834" y="584610"/>
                  </a:lnTo>
                  <a:lnTo>
                    <a:pt x="788434" y="542976"/>
                  </a:lnTo>
                  <a:lnTo>
                    <a:pt x="801382" y="499128"/>
                  </a:lnTo>
                  <a:lnTo>
                    <a:pt x="809372" y="453371"/>
                  </a:lnTo>
                  <a:lnTo>
                    <a:pt x="809616" y="448983"/>
                  </a:lnTo>
                </a:path>
                <a:path w="809625" h="809625">
                  <a:moveTo>
                    <a:pt x="809529" y="363127"/>
                  </a:moveTo>
                  <a:lnTo>
                    <a:pt x="801365" y="312898"/>
                  </a:lnTo>
                  <a:lnTo>
                    <a:pt x="788409" y="269055"/>
                  </a:lnTo>
                  <a:lnTo>
                    <a:pt x="770803" y="227427"/>
                  </a:lnTo>
                  <a:lnTo>
                    <a:pt x="748850" y="188320"/>
                  </a:lnTo>
                  <a:lnTo>
                    <a:pt x="722856" y="152037"/>
                  </a:lnTo>
                  <a:lnTo>
                    <a:pt x="693125" y="118884"/>
                  </a:lnTo>
                  <a:lnTo>
                    <a:pt x="659963" y="89164"/>
                  </a:lnTo>
                  <a:lnTo>
                    <a:pt x="623674" y="63182"/>
                  </a:lnTo>
                  <a:lnTo>
                    <a:pt x="584564" y="41243"/>
                  </a:lnTo>
                  <a:lnTo>
                    <a:pt x="542936" y="23651"/>
                  </a:lnTo>
                  <a:lnTo>
                    <a:pt x="499097" y="10710"/>
                  </a:lnTo>
                  <a:lnTo>
                    <a:pt x="453350" y="2725"/>
                  </a:lnTo>
                  <a:lnTo>
                    <a:pt x="406000" y="0"/>
                  </a:lnTo>
                  <a:lnTo>
                    <a:pt x="358651" y="2736"/>
                  </a:lnTo>
                  <a:lnTo>
                    <a:pt x="312908" y="10732"/>
                  </a:lnTo>
                  <a:lnTo>
                    <a:pt x="269075" y="23683"/>
                  </a:lnTo>
                  <a:lnTo>
                    <a:pt x="227456" y="41283"/>
                  </a:lnTo>
                  <a:lnTo>
                    <a:pt x="188355" y="63227"/>
                  </a:lnTo>
                  <a:lnTo>
                    <a:pt x="152077" y="89212"/>
                  </a:lnTo>
                  <a:lnTo>
                    <a:pt x="118925" y="118932"/>
                  </a:lnTo>
                  <a:lnTo>
                    <a:pt x="89206" y="152084"/>
                  </a:lnTo>
                  <a:lnTo>
                    <a:pt x="63222" y="188363"/>
                  </a:lnTo>
                  <a:lnTo>
                    <a:pt x="41278" y="227464"/>
                  </a:lnTo>
                  <a:lnTo>
                    <a:pt x="23680" y="269083"/>
                  </a:lnTo>
                  <a:lnTo>
                    <a:pt x="10731" y="312916"/>
                  </a:lnTo>
                  <a:lnTo>
                    <a:pt x="2736" y="358658"/>
                  </a:lnTo>
                  <a:lnTo>
                    <a:pt x="0" y="406005"/>
                  </a:lnTo>
                  <a:lnTo>
                    <a:pt x="2726" y="453354"/>
                  </a:lnTo>
                  <a:lnTo>
                    <a:pt x="10711" y="499099"/>
                  </a:lnTo>
                  <a:lnTo>
                    <a:pt x="23652" y="542938"/>
                  </a:lnTo>
                  <a:lnTo>
                    <a:pt x="41243" y="584564"/>
                  </a:lnTo>
                  <a:lnTo>
                    <a:pt x="63181" y="623673"/>
                  </a:lnTo>
                  <a:lnTo>
                    <a:pt x="89162" y="659960"/>
                  </a:lnTo>
                  <a:lnTo>
                    <a:pt x="118880" y="693122"/>
                  </a:lnTo>
                  <a:lnTo>
                    <a:pt x="152032" y="722852"/>
                  </a:lnTo>
                  <a:lnTo>
                    <a:pt x="188312" y="748846"/>
                  </a:lnTo>
                  <a:lnTo>
                    <a:pt x="227418" y="770798"/>
                  </a:lnTo>
                  <a:lnTo>
                    <a:pt x="269043" y="788405"/>
                  </a:lnTo>
                  <a:lnTo>
                    <a:pt x="312884" y="801361"/>
                  </a:lnTo>
                  <a:lnTo>
                    <a:pt x="358636" y="809361"/>
                  </a:lnTo>
                  <a:lnTo>
                    <a:pt x="363133" y="80961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2183081" y="4938109"/>
            <a:ext cx="193040" cy="363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5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1864063" y="6574588"/>
            <a:ext cx="828675" cy="828675"/>
            <a:chOff x="11864063" y="6574588"/>
            <a:chExt cx="828675" cy="82867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3585" y="6584116"/>
              <a:ext cx="812100" cy="8121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873588" y="6584113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448954" y="809530"/>
                  </a:moveTo>
                  <a:lnTo>
                    <a:pt x="499110" y="801386"/>
                  </a:lnTo>
                  <a:lnTo>
                    <a:pt x="542958" y="788440"/>
                  </a:lnTo>
                  <a:lnTo>
                    <a:pt x="584592" y="770842"/>
                  </a:lnTo>
                  <a:lnTo>
                    <a:pt x="623708" y="748896"/>
                  </a:lnTo>
                  <a:lnTo>
                    <a:pt x="660000" y="722906"/>
                  </a:lnTo>
                  <a:lnTo>
                    <a:pt x="693163" y="693178"/>
                  </a:lnTo>
                  <a:lnTo>
                    <a:pt x="722893" y="660016"/>
                  </a:lnTo>
                  <a:lnTo>
                    <a:pt x="748885" y="623725"/>
                  </a:lnTo>
                  <a:lnTo>
                    <a:pt x="770834" y="584610"/>
                  </a:lnTo>
                  <a:lnTo>
                    <a:pt x="788434" y="542976"/>
                  </a:lnTo>
                  <a:lnTo>
                    <a:pt x="801382" y="499128"/>
                  </a:lnTo>
                  <a:lnTo>
                    <a:pt x="809372" y="453371"/>
                  </a:lnTo>
                  <a:lnTo>
                    <a:pt x="809616" y="448983"/>
                  </a:lnTo>
                </a:path>
                <a:path w="809625" h="809625">
                  <a:moveTo>
                    <a:pt x="809529" y="363127"/>
                  </a:moveTo>
                  <a:lnTo>
                    <a:pt x="801365" y="312898"/>
                  </a:lnTo>
                  <a:lnTo>
                    <a:pt x="788410" y="269055"/>
                  </a:lnTo>
                  <a:lnTo>
                    <a:pt x="770803" y="227427"/>
                  </a:lnTo>
                  <a:lnTo>
                    <a:pt x="748850" y="188320"/>
                  </a:lnTo>
                  <a:lnTo>
                    <a:pt x="722856" y="152037"/>
                  </a:lnTo>
                  <a:lnTo>
                    <a:pt x="693125" y="118884"/>
                  </a:lnTo>
                  <a:lnTo>
                    <a:pt x="659963" y="89164"/>
                  </a:lnTo>
                  <a:lnTo>
                    <a:pt x="623674" y="63182"/>
                  </a:lnTo>
                  <a:lnTo>
                    <a:pt x="584564" y="41243"/>
                  </a:lnTo>
                  <a:lnTo>
                    <a:pt x="542936" y="23651"/>
                  </a:lnTo>
                  <a:lnTo>
                    <a:pt x="499097" y="10710"/>
                  </a:lnTo>
                  <a:lnTo>
                    <a:pt x="453350" y="2725"/>
                  </a:lnTo>
                  <a:lnTo>
                    <a:pt x="406000" y="0"/>
                  </a:lnTo>
                  <a:lnTo>
                    <a:pt x="358651" y="2736"/>
                  </a:lnTo>
                  <a:lnTo>
                    <a:pt x="312908" y="10732"/>
                  </a:lnTo>
                  <a:lnTo>
                    <a:pt x="269075" y="23683"/>
                  </a:lnTo>
                  <a:lnTo>
                    <a:pt x="227456" y="41283"/>
                  </a:lnTo>
                  <a:lnTo>
                    <a:pt x="188355" y="63227"/>
                  </a:lnTo>
                  <a:lnTo>
                    <a:pt x="152077" y="89212"/>
                  </a:lnTo>
                  <a:lnTo>
                    <a:pt x="118925" y="118932"/>
                  </a:lnTo>
                  <a:lnTo>
                    <a:pt x="89206" y="152084"/>
                  </a:lnTo>
                  <a:lnTo>
                    <a:pt x="63222" y="188363"/>
                  </a:lnTo>
                  <a:lnTo>
                    <a:pt x="41278" y="227464"/>
                  </a:lnTo>
                  <a:lnTo>
                    <a:pt x="23680" y="269083"/>
                  </a:lnTo>
                  <a:lnTo>
                    <a:pt x="10731" y="312916"/>
                  </a:lnTo>
                  <a:lnTo>
                    <a:pt x="2736" y="358658"/>
                  </a:lnTo>
                  <a:lnTo>
                    <a:pt x="0" y="406005"/>
                  </a:lnTo>
                  <a:lnTo>
                    <a:pt x="2726" y="453354"/>
                  </a:lnTo>
                  <a:lnTo>
                    <a:pt x="10711" y="499099"/>
                  </a:lnTo>
                  <a:lnTo>
                    <a:pt x="23652" y="542938"/>
                  </a:lnTo>
                  <a:lnTo>
                    <a:pt x="41243" y="584564"/>
                  </a:lnTo>
                  <a:lnTo>
                    <a:pt x="63181" y="623673"/>
                  </a:lnTo>
                  <a:lnTo>
                    <a:pt x="89162" y="659960"/>
                  </a:lnTo>
                  <a:lnTo>
                    <a:pt x="118880" y="693122"/>
                  </a:lnTo>
                  <a:lnTo>
                    <a:pt x="152032" y="722852"/>
                  </a:lnTo>
                  <a:lnTo>
                    <a:pt x="188312" y="748846"/>
                  </a:lnTo>
                  <a:lnTo>
                    <a:pt x="227418" y="770798"/>
                  </a:lnTo>
                  <a:lnTo>
                    <a:pt x="269043" y="788405"/>
                  </a:lnTo>
                  <a:lnTo>
                    <a:pt x="312884" y="801361"/>
                  </a:lnTo>
                  <a:lnTo>
                    <a:pt x="358636" y="809361"/>
                  </a:lnTo>
                  <a:lnTo>
                    <a:pt x="363135" y="80961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2175491" y="6784775"/>
            <a:ext cx="208279" cy="363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5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1864063" y="8463013"/>
            <a:ext cx="828675" cy="828675"/>
            <a:chOff x="11864063" y="8463013"/>
            <a:chExt cx="828675" cy="828675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3585" y="8472541"/>
              <a:ext cx="812100" cy="8121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873588" y="8472538"/>
              <a:ext cx="809625" cy="809625"/>
            </a:xfrm>
            <a:custGeom>
              <a:avLst/>
              <a:gdLst/>
              <a:ahLst/>
              <a:cxnLst/>
              <a:rect l="l" t="t" r="r" b="b"/>
              <a:pathLst>
                <a:path w="809625" h="809625">
                  <a:moveTo>
                    <a:pt x="448959" y="809530"/>
                  </a:moveTo>
                  <a:lnTo>
                    <a:pt x="499110" y="801386"/>
                  </a:lnTo>
                  <a:lnTo>
                    <a:pt x="542958" y="788441"/>
                  </a:lnTo>
                  <a:lnTo>
                    <a:pt x="584592" y="770842"/>
                  </a:lnTo>
                  <a:lnTo>
                    <a:pt x="623708" y="748896"/>
                  </a:lnTo>
                  <a:lnTo>
                    <a:pt x="660000" y="722906"/>
                  </a:lnTo>
                  <a:lnTo>
                    <a:pt x="693163" y="693178"/>
                  </a:lnTo>
                  <a:lnTo>
                    <a:pt x="722893" y="660016"/>
                  </a:lnTo>
                  <a:lnTo>
                    <a:pt x="748885" y="623725"/>
                  </a:lnTo>
                  <a:lnTo>
                    <a:pt x="770834" y="584610"/>
                  </a:lnTo>
                  <a:lnTo>
                    <a:pt x="788434" y="542976"/>
                  </a:lnTo>
                  <a:lnTo>
                    <a:pt x="801382" y="499128"/>
                  </a:lnTo>
                  <a:lnTo>
                    <a:pt x="809372" y="453371"/>
                  </a:lnTo>
                  <a:lnTo>
                    <a:pt x="809616" y="448983"/>
                  </a:lnTo>
                </a:path>
                <a:path w="809625" h="809625">
                  <a:moveTo>
                    <a:pt x="809529" y="363127"/>
                  </a:moveTo>
                  <a:lnTo>
                    <a:pt x="801365" y="312898"/>
                  </a:lnTo>
                  <a:lnTo>
                    <a:pt x="788410" y="269055"/>
                  </a:lnTo>
                  <a:lnTo>
                    <a:pt x="770803" y="227427"/>
                  </a:lnTo>
                  <a:lnTo>
                    <a:pt x="748850" y="188320"/>
                  </a:lnTo>
                  <a:lnTo>
                    <a:pt x="722856" y="152037"/>
                  </a:lnTo>
                  <a:lnTo>
                    <a:pt x="693125" y="118884"/>
                  </a:lnTo>
                  <a:lnTo>
                    <a:pt x="659963" y="89164"/>
                  </a:lnTo>
                  <a:lnTo>
                    <a:pt x="623674" y="63182"/>
                  </a:lnTo>
                  <a:lnTo>
                    <a:pt x="584564" y="41243"/>
                  </a:lnTo>
                  <a:lnTo>
                    <a:pt x="542936" y="23651"/>
                  </a:lnTo>
                  <a:lnTo>
                    <a:pt x="499097" y="10710"/>
                  </a:lnTo>
                  <a:lnTo>
                    <a:pt x="453350" y="2725"/>
                  </a:lnTo>
                  <a:lnTo>
                    <a:pt x="406000" y="0"/>
                  </a:lnTo>
                  <a:lnTo>
                    <a:pt x="358651" y="2736"/>
                  </a:lnTo>
                  <a:lnTo>
                    <a:pt x="312908" y="10733"/>
                  </a:lnTo>
                  <a:lnTo>
                    <a:pt x="269075" y="23683"/>
                  </a:lnTo>
                  <a:lnTo>
                    <a:pt x="227456" y="41283"/>
                  </a:lnTo>
                  <a:lnTo>
                    <a:pt x="188355" y="63227"/>
                  </a:lnTo>
                  <a:lnTo>
                    <a:pt x="152077" y="89212"/>
                  </a:lnTo>
                  <a:lnTo>
                    <a:pt x="118925" y="118932"/>
                  </a:lnTo>
                  <a:lnTo>
                    <a:pt x="89206" y="152084"/>
                  </a:lnTo>
                  <a:lnTo>
                    <a:pt x="63222" y="188363"/>
                  </a:lnTo>
                  <a:lnTo>
                    <a:pt x="41278" y="227464"/>
                  </a:lnTo>
                  <a:lnTo>
                    <a:pt x="23680" y="269083"/>
                  </a:lnTo>
                  <a:lnTo>
                    <a:pt x="10731" y="312916"/>
                  </a:lnTo>
                  <a:lnTo>
                    <a:pt x="2736" y="358658"/>
                  </a:lnTo>
                  <a:lnTo>
                    <a:pt x="0" y="406005"/>
                  </a:lnTo>
                  <a:lnTo>
                    <a:pt x="2726" y="453354"/>
                  </a:lnTo>
                  <a:lnTo>
                    <a:pt x="10711" y="499099"/>
                  </a:lnTo>
                  <a:lnTo>
                    <a:pt x="23652" y="542937"/>
                  </a:lnTo>
                  <a:lnTo>
                    <a:pt x="41243" y="584564"/>
                  </a:lnTo>
                  <a:lnTo>
                    <a:pt x="63181" y="623673"/>
                  </a:lnTo>
                  <a:lnTo>
                    <a:pt x="89162" y="659960"/>
                  </a:lnTo>
                  <a:lnTo>
                    <a:pt x="118880" y="693122"/>
                  </a:lnTo>
                  <a:lnTo>
                    <a:pt x="152032" y="722852"/>
                  </a:lnTo>
                  <a:lnTo>
                    <a:pt x="188312" y="748846"/>
                  </a:lnTo>
                  <a:lnTo>
                    <a:pt x="227418" y="770799"/>
                  </a:lnTo>
                  <a:lnTo>
                    <a:pt x="269043" y="788406"/>
                  </a:lnTo>
                  <a:lnTo>
                    <a:pt x="312884" y="801361"/>
                  </a:lnTo>
                  <a:lnTo>
                    <a:pt x="358636" y="809361"/>
                  </a:lnTo>
                  <a:lnTo>
                    <a:pt x="363130" y="809619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2176682" y="8673201"/>
            <a:ext cx="205740" cy="3638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5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xfrm>
            <a:off x="1016000" y="1796746"/>
            <a:ext cx="4364990" cy="1328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Data</a:t>
            </a:r>
            <a:r>
              <a:rPr dirty="0" spc="-1205"/>
              <a:t> </a:t>
            </a:r>
            <a:r>
              <a:rPr dirty="0" spc="65"/>
              <a:t>Set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016000" y="2825446"/>
            <a:ext cx="6016625" cy="1328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50" spc="-35">
                <a:solidFill>
                  <a:srgbClr val="F4F4F4"/>
                </a:solidFill>
                <a:latin typeface="Lucida Sans Unicode"/>
                <a:cs typeface="Lucida Sans Unicode"/>
              </a:rPr>
              <a:t>Preparation</a:t>
            </a:r>
            <a:endParaRPr sz="855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1141" y="5524994"/>
            <a:ext cx="4583430" cy="4552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spc="-25">
                <a:solidFill>
                  <a:srgbClr val="F4F4F4"/>
                </a:solidFill>
                <a:latin typeface="Lucida Sans Unicode"/>
                <a:cs typeface="Lucida Sans Unicode"/>
              </a:rPr>
              <a:t>5</a:t>
            </a:r>
            <a:r>
              <a:rPr dirty="0" sz="2800" spc="-3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40">
                <a:solidFill>
                  <a:srgbClr val="F4F4F4"/>
                </a:solidFill>
                <a:latin typeface="Lucida Sans Unicode"/>
                <a:cs typeface="Lucida Sans Unicode"/>
              </a:rPr>
              <a:t>Key</a:t>
            </a:r>
            <a:r>
              <a:rPr dirty="0" sz="2800" spc="-3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10">
                <a:solidFill>
                  <a:srgbClr val="F4F4F4"/>
                </a:solidFill>
                <a:latin typeface="Lucida Sans Unicode"/>
                <a:cs typeface="Lucida Sans Unicode"/>
              </a:rPr>
              <a:t>Steps</a:t>
            </a:r>
            <a:r>
              <a:rPr dirty="0" sz="2800" spc="-34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50">
                <a:solidFill>
                  <a:srgbClr val="F4F4F4"/>
                </a:solidFill>
                <a:latin typeface="Lucida Sans Unicode"/>
                <a:cs typeface="Lucida Sans Unicode"/>
              </a:rPr>
              <a:t>to</a:t>
            </a:r>
            <a:r>
              <a:rPr dirty="0" sz="2800" spc="-3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80">
                <a:solidFill>
                  <a:srgbClr val="F4F4F4"/>
                </a:solidFill>
                <a:latin typeface="Lucida Sans Unicode"/>
                <a:cs typeface="Lucida Sans Unicode"/>
              </a:rPr>
              <a:t>Analyze</a:t>
            </a:r>
            <a:r>
              <a:rPr dirty="0" sz="2800" spc="-3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800" spc="-2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endParaRPr sz="2800">
              <a:latin typeface="Lucida Sans Unicode"/>
              <a:cs typeface="Lucida Sans Unicode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91" y="6536380"/>
            <a:ext cx="76200" cy="7619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91" y="7241230"/>
            <a:ext cx="76200" cy="761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91" y="7946080"/>
            <a:ext cx="76200" cy="76199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91" y="8650930"/>
            <a:ext cx="76200" cy="76199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292891" y="6336342"/>
            <a:ext cx="8900160" cy="2492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hospital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dataset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was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cleaned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by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removing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inconsistencies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validating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important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fields.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New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columns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such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as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Admission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Date,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Department,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Doctor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Name,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Mobile 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Number,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Aadhar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Number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were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added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enrich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dataset.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</a:pP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Formula-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based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columns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including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Age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Group,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Recovery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Days,</a:t>
            </a:r>
            <a:r>
              <a:rPr dirty="0" sz="2000" spc="1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Revenue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Category,</a:t>
            </a: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Cost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Category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were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created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for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advanced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analysis.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Data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types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were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standardized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ensure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accurate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calculations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391" y="9355780"/>
            <a:ext cx="76200" cy="76199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4443314" y="9203443"/>
            <a:ext cx="57499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2790" algn="l"/>
                <a:tab pos="2032000" algn="l"/>
                <a:tab pos="2724150" algn="l"/>
                <a:tab pos="3914775" algn="l"/>
                <a:tab pos="4487545" algn="l"/>
              </a:tabLst>
            </a:pP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was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imported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20">
                <a:solidFill>
                  <a:srgbClr val="F4F4F4"/>
                </a:solidFill>
                <a:latin typeface="Verdana"/>
                <a:cs typeface="Verdana"/>
              </a:rPr>
              <a:t>into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Tableau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for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dashboard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92891" y="8803317"/>
            <a:ext cx="2937510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visualizations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204">
                <a:solidFill>
                  <a:srgbClr val="F4F4F4"/>
                </a:solidFill>
                <a:latin typeface="Verdana"/>
                <a:cs typeface="Verdana"/>
              </a:rPr>
              <a:t>in</a:t>
            </a:r>
            <a:r>
              <a:rPr dirty="0" sz="2000" spc="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Tableau.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5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prepared</a:t>
            </a:r>
            <a:r>
              <a:rPr dirty="0" sz="2000" spc="5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dataset 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development.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5494" y="5087903"/>
            <a:ext cx="488124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dirty="0" sz="1550" spc="-50">
                <a:solidFill>
                  <a:srgbClr val="F4F4F4"/>
                </a:solidFill>
                <a:latin typeface="Lucida Sans Unicode"/>
                <a:cs typeface="Lucida Sans Unicode"/>
              </a:rPr>
              <a:t>Total</a:t>
            </a:r>
            <a:r>
              <a:rPr dirty="0" sz="1550" spc="-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45">
                <a:solidFill>
                  <a:srgbClr val="F4F4F4"/>
                </a:solidFill>
                <a:latin typeface="Lucida Sans Unicode"/>
                <a:cs typeface="Lucida Sans Unicode"/>
              </a:rPr>
              <a:t>Patients,</a:t>
            </a:r>
            <a:r>
              <a:rPr dirty="0" sz="1550" spc="-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50">
                <a:solidFill>
                  <a:srgbClr val="F4F4F4"/>
                </a:solidFill>
                <a:latin typeface="Lucida Sans Unicode"/>
                <a:cs typeface="Lucida Sans Unicode"/>
              </a:rPr>
              <a:t>Total</a:t>
            </a:r>
            <a:r>
              <a:rPr dirty="0" sz="1550" spc="-1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30">
                <a:solidFill>
                  <a:srgbClr val="F4F4F4"/>
                </a:solidFill>
                <a:latin typeface="Lucida Sans Unicode"/>
                <a:cs typeface="Lucida Sans Unicode"/>
              </a:rPr>
              <a:t>Revenue,</a:t>
            </a:r>
            <a:r>
              <a:rPr dirty="0" sz="1550" spc="-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>
                <a:solidFill>
                  <a:srgbClr val="F4F4F4"/>
                </a:solidFill>
                <a:latin typeface="Lucida Sans Unicode"/>
                <a:cs typeface="Lucida Sans Unicode"/>
              </a:rPr>
              <a:t>Average</a:t>
            </a:r>
            <a:r>
              <a:rPr dirty="0" sz="1550" spc="-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40">
                <a:solidFill>
                  <a:srgbClr val="F4F4F4"/>
                </a:solidFill>
                <a:latin typeface="Lucida Sans Unicode"/>
                <a:cs typeface="Lucida Sans Unicode"/>
              </a:rPr>
              <a:t>Length</a:t>
            </a:r>
            <a:r>
              <a:rPr dirty="0" sz="1550" spc="-14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45">
                <a:solidFill>
                  <a:srgbClr val="F4F4F4"/>
                </a:solidFill>
                <a:latin typeface="Lucida Sans Unicode"/>
                <a:cs typeface="Lucida Sans Unicode"/>
              </a:rPr>
              <a:t>of</a:t>
            </a:r>
            <a:r>
              <a:rPr dirty="0" sz="1550" spc="-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Lucida Sans Unicode"/>
                <a:cs typeface="Lucida Sans Unicode"/>
              </a:rPr>
              <a:t>Stay, Readmission</a:t>
            </a:r>
            <a:r>
              <a:rPr dirty="0" sz="1550" spc="-19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40">
                <a:solidFill>
                  <a:srgbClr val="F4F4F4"/>
                </a:solidFill>
                <a:latin typeface="Lucida Sans Unicode"/>
                <a:cs typeface="Lucida Sans Unicode"/>
              </a:rPr>
              <a:t>Rate,</a:t>
            </a:r>
            <a:r>
              <a:rPr dirty="0" sz="1550" spc="-18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65">
                <a:solidFill>
                  <a:srgbClr val="F4F4F4"/>
                </a:solidFill>
                <a:latin typeface="Lucida Sans Unicode"/>
                <a:cs typeface="Lucida Sans Unicode"/>
              </a:rPr>
              <a:t>and</a:t>
            </a:r>
            <a:r>
              <a:rPr dirty="0" sz="1550" spc="-18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Lucida Sans Unicode"/>
                <a:cs typeface="Lucida Sans Unicode"/>
              </a:rPr>
              <a:t>Patient</a:t>
            </a:r>
            <a:r>
              <a:rPr dirty="0" sz="1550" spc="-18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Lucida Sans Unicode"/>
                <a:cs typeface="Lucida Sans Unicode"/>
              </a:rPr>
              <a:t>Satisfaction.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0353" y="4919033"/>
            <a:ext cx="2724785" cy="1217295"/>
            <a:chOff x="510353" y="4919033"/>
            <a:chExt cx="2724785" cy="1217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878" y="4928558"/>
              <a:ext cx="2704157" cy="119768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9878" y="4928558"/>
              <a:ext cx="2705735" cy="1198245"/>
            </a:xfrm>
            <a:custGeom>
              <a:avLst/>
              <a:gdLst/>
              <a:ahLst/>
              <a:cxnLst/>
              <a:rect l="l" t="t" r="r" b="b"/>
              <a:pathLst>
                <a:path w="2705735" h="1198245">
                  <a:moveTo>
                    <a:pt x="598848" y="0"/>
                  </a:moveTo>
                  <a:lnTo>
                    <a:pt x="2106801" y="0"/>
                  </a:lnTo>
                  <a:lnTo>
                    <a:pt x="2159454" y="2312"/>
                  </a:lnTo>
                  <a:lnTo>
                    <a:pt x="2211351" y="9186"/>
                  </a:lnTo>
                  <a:lnTo>
                    <a:pt x="2262214" y="20504"/>
                  </a:lnTo>
                  <a:lnTo>
                    <a:pt x="2311769" y="36154"/>
                  </a:lnTo>
                  <a:lnTo>
                    <a:pt x="2359740" y="56020"/>
                  </a:lnTo>
                  <a:lnTo>
                    <a:pt x="2405850" y="79989"/>
                  </a:lnTo>
                  <a:lnTo>
                    <a:pt x="2449824" y="107947"/>
                  </a:lnTo>
                  <a:lnTo>
                    <a:pt x="2491386" y="139778"/>
                  </a:lnTo>
                  <a:lnTo>
                    <a:pt x="2530261" y="175370"/>
                  </a:lnTo>
                  <a:lnTo>
                    <a:pt x="2565857" y="214241"/>
                  </a:lnTo>
                  <a:lnTo>
                    <a:pt x="2597694" y="255800"/>
                  </a:lnTo>
                  <a:lnTo>
                    <a:pt x="2625658" y="299772"/>
                  </a:lnTo>
                  <a:lnTo>
                    <a:pt x="2649633" y="345881"/>
                  </a:lnTo>
                  <a:lnTo>
                    <a:pt x="2669505" y="393851"/>
                  </a:lnTo>
                  <a:lnTo>
                    <a:pt x="2685161" y="443408"/>
                  </a:lnTo>
                  <a:lnTo>
                    <a:pt x="2696485" y="494273"/>
                  </a:lnTo>
                  <a:lnTo>
                    <a:pt x="2703364" y="546173"/>
                  </a:lnTo>
                  <a:lnTo>
                    <a:pt x="2705683" y="598830"/>
                  </a:lnTo>
                  <a:lnTo>
                    <a:pt x="2703366" y="651488"/>
                  </a:lnTo>
                  <a:lnTo>
                    <a:pt x="2696490" y="703388"/>
                  </a:lnTo>
                  <a:lnTo>
                    <a:pt x="2685167" y="754255"/>
                  </a:lnTo>
                  <a:lnTo>
                    <a:pt x="2669513" y="803812"/>
                  </a:lnTo>
                  <a:lnTo>
                    <a:pt x="2649642" y="851784"/>
                  </a:lnTo>
                  <a:lnTo>
                    <a:pt x="2625668" y="897896"/>
                  </a:lnTo>
                  <a:lnTo>
                    <a:pt x="2597706" y="941870"/>
                  </a:lnTo>
                  <a:lnTo>
                    <a:pt x="2565869" y="983431"/>
                  </a:lnTo>
                  <a:lnTo>
                    <a:pt x="2530273" y="1022303"/>
                  </a:lnTo>
                  <a:lnTo>
                    <a:pt x="2491398" y="1057897"/>
                  </a:lnTo>
                  <a:lnTo>
                    <a:pt x="2449835" y="1089731"/>
                  </a:lnTo>
                  <a:lnTo>
                    <a:pt x="2405860" y="1117691"/>
                  </a:lnTo>
                  <a:lnTo>
                    <a:pt x="2359748" y="1141661"/>
                  </a:lnTo>
                  <a:lnTo>
                    <a:pt x="2311776" y="1161529"/>
                  </a:lnTo>
                  <a:lnTo>
                    <a:pt x="2262219" y="1177180"/>
                  </a:lnTo>
                  <a:lnTo>
                    <a:pt x="2211354" y="1188499"/>
                  </a:lnTo>
                  <a:lnTo>
                    <a:pt x="2159455" y="1195373"/>
                  </a:lnTo>
                  <a:lnTo>
                    <a:pt x="2106801" y="1197689"/>
                  </a:lnTo>
                  <a:lnTo>
                    <a:pt x="598847" y="1197689"/>
                  </a:lnTo>
                  <a:lnTo>
                    <a:pt x="546191" y="1195372"/>
                  </a:lnTo>
                  <a:lnTo>
                    <a:pt x="494293" y="1188495"/>
                  </a:lnTo>
                  <a:lnTo>
                    <a:pt x="443429" y="1177172"/>
                  </a:lnTo>
                  <a:lnTo>
                    <a:pt x="393873" y="1161519"/>
                  </a:lnTo>
                  <a:lnTo>
                    <a:pt x="345903" y="1141648"/>
                  </a:lnTo>
                  <a:lnTo>
                    <a:pt x="299794" y="1117676"/>
                  </a:lnTo>
                  <a:lnTo>
                    <a:pt x="255821" y="1089715"/>
                  </a:lnTo>
                  <a:lnTo>
                    <a:pt x="214261" y="1057879"/>
                  </a:lnTo>
                  <a:lnTo>
                    <a:pt x="175390" y="1022285"/>
                  </a:lnTo>
                  <a:lnTo>
                    <a:pt x="139796" y="983412"/>
                  </a:lnTo>
                  <a:lnTo>
                    <a:pt x="107963" y="941851"/>
                  </a:lnTo>
                  <a:lnTo>
                    <a:pt x="80003" y="897878"/>
                  </a:lnTo>
                  <a:lnTo>
                    <a:pt x="56032" y="851769"/>
                  </a:lnTo>
                  <a:lnTo>
                    <a:pt x="36164" y="803798"/>
                  </a:lnTo>
                  <a:lnTo>
                    <a:pt x="20512" y="754243"/>
                  </a:lnTo>
                  <a:lnTo>
                    <a:pt x="9191" y="703379"/>
                  </a:lnTo>
                  <a:lnTo>
                    <a:pt x="2316" y="651482"/>
                  </a:lnTo>
                  <a:lnTo>
                    <a:pt x="0" y="598827"/>
                  </a:lnTo>
                  <a:lnTo>
                    <a:pt x="2319" y="546173"/>
                  </a:lnTo>
                  <a:lnTo>
                    <a:pt x="9197" y="494276"/>
                  </a:lnTo>
                  <a:lnTo>
                    <a:pt x="20521" y="443413"/>
                  </a:lnTo>
                  <a:lnTo>
                    <a:pt x="36175" y="393860"/>
                  </a:lnTo>
                  <a:lnTo>
                    <a:pt x="56046" y="345892"/>
                  </a:lnTo>
                  <a:lnTo>
                    <a:pt x="80019" y="299785"/>
                  </a:lnTo>
                  <a:lnTo>
                    <a:pt x="107979" y="255814"/>
                  </a:lnTo>
                  <a:lnTo>
                    <a:pt x="139814" y="214256"/>
                  </a:lnTo>
                  <a:lnTo>
                    <a:pt x="175408" y="175387"/>
                  </a:lnTo>
                  <a:lnTo>
                    <a:pt x="214279" y="139795"/>
                  </a:lnTo>
                  <a:lnTo>
                    <a:pt x="255838" y="107963"/>
                  </a:lnTo>
                  <a:lnTo>
                    <a:pt x="299809" y="80005"/>
                  </a:lnTo>
                  <a:lnTo>
                    <a:pt x="345917" y="56034"/>
                  </a:lnTo>
                  <a:lnTo>
                    <a:pt x="393885" y="36166"/>
                  </a:lnTo>
                  <a:lnTo>
                    <a:pt x="443438" y="20514"/>
                  </a:lnTo>
                  <a:lnTo>
                    <a:pt x="494300" y="9193"/>
                  </a:lnTo>
                  <a:lnTo>
                    <a:pt x="546196" y="2317"/>
                  </a:lnTo>
                  <a:lnTo>
                    <a:pt x="598848" y="0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81748" y="5331610"/>
            <a:ext cx="250952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F4F4F4"/>
                </a:solidFill>
                <a:latin typeface="Lucida Sans Unicode"/>
                <a:cs typeface="Lucida Sans Unicode"/>
              </a:rPr>
              <a:t>KPI</a:t>
            </a:r>
            <a:r>
              <a:rPr dirty="0" sz="2000" spc="3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F4F4F4"/>
                </a:solidFill>
                <a:latin typeface="Lucida Sans Unicode"/>
                <a:cs typeface="Lucida Sans Unicode"/>
              </a:rPr>
              <a:t>CARDS</a:t>
            </a:r>
            <a:r>
              <a:rPr dirty="0" sz="2000" spc="3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Lucida Sans Unicode"/>
                <a:cs typeface="Lucida Sans Unicode"/>
              </a:rPr>
              <a:t>DISPLAY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66487" y="4928559"/>
            <a:ext cx="5360035" cy="838200"/>
          </a:xfrm>
          <a:custGeom>
            <a:avLst/>
            <a:gdLst/>
            <a:ahLst/>
            <a:cxnLst/>
            <a:rect l="l" t="t" r="r" b="b"/>
            <a:pathLst>
              <a:path w="5360034" h="838200">
                <a:moveTo>
                  <a:pt x="361485" y="838130"/>
                </a:moveTo>
                <a:lnTo>
                  <a:pt x="279296" y="818282"/>
                </a:lnTo>
                <a:lnTo>
                  <a:pt x="236093" y="800017"/>
                </a:lnTo>
                <a:lnTo>
                  <a:pt x="195504" y="777240"/>
                </a:lnTo>
                <a:lnTo>
                  <a:pt x="157845" y="750268"/>
                </a:lnTo>
                <a:lnTo>
                  <a:pt x="123432" y="719418"/>
                </a:lnTo>
                <a:lnTo>
                  <a:pt x="92582" y="685005"/>
                </a:lnTo>
                <a:lnTo>
                  <a:pt x="65610" y="647347"/>
                </a:lnTo>
                <a:lnTo>
                  <a:pt x="42834" y="606758"/>
                </a:lnTo>
                <a:lnTo>
                  <a:pt x="24568" y="563555"/>
                </a:lnTo>
                <a:lnTo>
                  <a:pt x="11130" y="518054"/>
                </a:lnTo>
                <a:lnTo>
                  <a:pt x="2835" y="470572"/>
                </a:lnTo>
                <a:lnTo>
                  <a:pt x="0" y="421425"/>
                </a:lnTo>
                <a:lnTo>
                  <a:pt x="2835" y="372278"/>
                </a:lnTo>
                <a:lnTo>
                  <a:pt x="11130" y="324796"/>
                </a:lnTo>
                <a:lnTo>
                  <a:pt x="24568" y="279296"/>
                </a:lnTo>
                <a:lnTo>
                  <a:pt x="42834" y="236093"/>
                </a:lnTo>
                <a:lnTo>
                  <a:pt x="65610" y="195504"/>
                </a:lnTo>
                <a:lnTo>
                  <a:pt x="92582" y="157845"/>
                </a:lnTo>
                <a:lnTo>
                  <a:pt x="123432" y="123432"/>
                </a:lnTo>
                <a:lnTo>
                  <a:pt x="157845" y="92582"/>
                </a:lnTo>
                <a:lnTo>
                  <a:pt x="195504" y="65610"/>
                </a:lnTo>
                <a:lnTo>
                  <a:pt x="236093" y="42834"/>
                </a:lnTo>
                <a:lnTo>
                  <a:pt x="279296" y="24568"/>
                </a:lnTo>
                <a:lnTo>
                  <a:pt x="324796" y="11130"/>
                </a:lnTo>
                <a:lnTo>
                  <a:pt x="372278" y="2835"/>
                </a:lnTo>
                <a:lnTo>
                  <a:pt x="421425" y="0"/>
                </a:lnTo>
                <a:lnTo>
                  <a:pt x="4938310" y="0"/>
                </a:lnTo>
                <a:lnTo>
                  <a:pt x="4987457" y="2835"/>
                </a:lnTo>
                <a:lnTo>
                  <a:pt x="5034939" y="11129"/>
                </a:lnTo>
                <a:lnTo>
                  <a:pt x="5080439" y="24568"/>
                </a:lnTo>
                <a:lnTo>
                  <a:pt x="5123642" y="42833"/>
                </a:lnTo>
                <a:lnTo>
                  <a:pt x="5164231" y="65610"/>
                </a:lnTo>
                <a:lnTo>
                  <a:pt x="5201890" y="92582"/>
                </a:lnTo>
                <a:lnTo>
                  <a:pt x="5236303" y="123432"/>
                </a:lnTo>
                <a:lnTo>
                  <a:pt x="5267153" y="157845"/>
                </a:lnTo>
                <a:lnTo>
                  <a:pt x="5294125" y="195504"/>
                </a:lnTo>
                <a:lnTo>
                  <a:pt x="5316902" y="236093"/>
                </a:lnTo>
                <a:lnTo>
                  <a:pt x="5335167" y="279296"/>
                </a:lnTo>
                <a:lnTo>
                  <a:pt x="5348605" y="324796"/>
                </a:lnTo>
                <a:lnTo>
                  <a:pt x="5356900" y="372278"/>
                </a:lnTo>
                <a:lnTo>
                  <a:pt x="5359862" y="421433"/>
                </a:lnTo>
                <a:lnTo>
                  <a:pt x="5356900" y="470572"/>
                </a:lnTo>
                <a:lnTo>
                  <a:pt x="5348605" y="518054"/>
                </a:lnTo>
                <a:lnTo>
                  <a:pt x="5335167" y="563555"/>
                </a:lnTo>
                <a:lnTo>
                  <a:pt x="5316902" y="606757"/>
                </a:lnTo>
                <a:lnTo>
                  <a:pt x="5294125" y="647347"/>
                </a:lnTo>
                <a:lnTo>
                  <a:pt x="5267153" y="685006"/>
                </a:lnTo>
                <a:lnTo>
                  <a:pt x="5236303" y="719418"/>
                </a:lnTo>
                <a:lnTo>
                  <a:pt x="5201890" y="750269"/>
                </a:lnTo>
                <a:lnTo>
                  <a:pt x="5164231" y="777240"/>
                </a:lnTo>
                <a:lnTo>
                  <a:pt x="5123642" y="800017"/>
                </a:lnTo>
                <a:lnTo>
                  <a:pt x="5080439" y="818283"/>
                </a:lnTo>
                <a:lnTo>
                  <a:pt x="5034939" y="831721"/>
                </a:lnTo>
                <a:lnTo>
                  <a:pt x="4998250" y="838130"/>
                </a:lnTo>
              </a:path>
            </a:pathLst>
          </a:custGeom>
          <a:ln w="19049">
            <a:solidFill>
              <a:srgbClr val="F4F4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75823" y="5042202"/>
            <a:ext cx="4541520" cy="551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2155" marR="5080" indent="-720090">
              <a:lnSpc>
                <a:spcPct val="115100"/>
              </a:lnSpc>
              <a:spcBef>
                <a:spcPts val="95"/>
              </a:spcBef>
            </a:pP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DEPARTMENT,</a:t>
            </a:r>
            <a:r>
              <a:rPr dirty="0" sz="1500" spc="-2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GENDER,</a:t>
            </a:r>
            <a:r>
              <a:rPr dirty="0" sz="1500" spc="-1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MONTHLY</a:t>
            </a:r>
            <a:r>
              <a:rPr dirty="0" sz="1500" spc="-1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Lucida Sans Unicode"/>
                <a:cs typeface="Lucida Sans Unicode"/>
              </a:rPr>
              <a:t>ADMISSIONS, </a:t>
            </a: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REVENUE,</a:t>
            </a:r>
            <a:r>
              <a:rPr dirty="0" sz="1500" spc="11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AND</a:t>
            </a:r>
            <a:r>
              <a:rPr dirty="0" sz="1500" spc="11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4F4F4"/>
                </a:solidFill>
                <a:latin typeface="Lucida Sans Unicode"/>
                <a:cs typeface="Lucida Sans Unicode"/>
              </a:rPr>
              <a:t>DISEASE</a:t>
            </a:r>
            <a:r>
              <a:rPr dirty="0" sz="1500" spc="11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4F4F4"/>
                </a:solidFill>
                <a:latin typeface="Lucida Sans Unicode"/>
                <a:cs typeface="Lucida Sans Unicode"/>
              </a:rPr>
              <a:t>TRENDS.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5757" y="6210063"/>
            <a:ext cx="6617334" cy="838200"/>
          </a:xfrm>
          <a:custGeom>
            <a:avLst/>
            <a:gdLst/>
            <a:ahLst/>
            <a:cxnLst/>
            <a:rect l="l" t="t" r="r" b="b"/>
            <a:pathLst>
              <a:path w="6617334" h="838200">
                <a:moveTo>
                  <a:pt x="6616974" y="436276"/>
                </a:moveTo>
                <a:lnTo>
                  <a:pt x="6606701" y="518054"/>
                </a:lnTo>
                <a:lnTo>
                  <a:pt x="6593263" y="563555"/>
                </a:lnTo>
                <a:lnTo>
                  <a:pt x="6574997" y="606758"/>
                </a:lnTo>
                <a:lnTo>
                  <a:pt x="6552220" y="647347"/>
                </a:lnTo>
                <a:lnTo>
                  <a:pt x="6525249" y="685006"/>
                </a:lnTo>
                <a:lnTo>
                  <a:pt x="6494398" y="719419"/>
                </a:lnTo>
                <a:lnTo>
                  <a:pt x="6459985" y="750269"/>
                </a:lnTo>
                <a:lnTo>
                  <a:pt x="6422326" y="777240"/>
                </a:lnTo>
                <a:lnTo>
                  <a:pt x="6381737" y="800017"/>
                </a:lnTo>
                <a:lnTo>
                  <a:pt x="6338534" y="818283"/>
                </a:lnTo>
                <a:lnTo>
                  <a:pt x="6293034" y="831721"/>
                </a:lnTo>
                <a:lnTo>
                  <a:pt x="6256343" y="838130"/>
                </a:lnTo>
              </a:path>
              <a:path w="6617334" h="838200">
                <a:moveTo>
                  <a:pt x="361488" y="838131"/>
                </a:moveTo>
                <a:lnTo>
                  <a:pt x="279296" y="818282"/>
                </a:lnTo>
                <a:lnTo>
                  <a:pt x="236093" y="800017"/>
                </a:lnTo>
                <a:lnTo>
                  <a:pt x="195504" y="777240"/>
                </a:lnTo>
                <a:lnTo>
                  <a:pt x="157845" y="750268"/>
                </a:lnTo>
                <a:lnTo>
                  <a:pt x="123432" y="719418"/>
                </a:lnTo>
                <a:lnTo>
                  <a:pt x="92582" y="685005"/>
                </a:lnTo>
                <a:lnTo>
                  <a:pt x="65610" y="647347"/>
                </a:lnTo>
                <a:lnTo>
                  <a:pt x="42834" y="606758"/>
                </a:lnTo>
                <a:lnTo>
                  <a:pt x="24568" y="563555"/>
                </a:lnTo>
                <a:lnTo>
                  <a:pt x="11130" y="518054"/>
                </a:lnTo>
                <a:lnTo>
                  <a:pt x="2835" y="470572"/>
                </a:lnTo>
                <a:lnTo>
                  <a:pt x="0" y="421425"/>
                </a:lnTo>
                <a:lnTo>
                  <a:pt x="2835" y="372278"/>
                </a:lnTo>
                <a:lnTo>
                  <a:pt x="11130" y="324796"/>
                </a:lnTo>
                <a:lnTo>
                  <a:pt x="24568" y="279296"/>
                </a:lnTo>
                <a:lnTo>
                  <a:pt x="42834" y="236093"/>
                </a:lnTo>
                <a:lnTo>
                  <a:pt x="65610" y="195504"/>
                </a:lnTo>
                <a:lnTo>
                  <a:pt x="92582" y="157845"/>
                </a:lnTo>
                <a:lnTo>
                  <a:pt x="123432" y="123432"/>
                </a:lnTo>
                <a:lnTo>
                  <a:pt x="157845" y="92582"/>
                </a:lnTo>
                <a:lnTo>
                  <a:pt x="195504" y="65610"/>
                </a:lnTo>
                <a:lnTo>
                  <a:pt x="236093" y="42834"/>
                </a:lnTo>
                <a:lnTo>
                  <a:pt x="279296" y="24568"/>
                </a:lnTo>
                <a:lnTo>
                  <a:pt x="324796" y="11130"/>
                </a:lnTo>
                <a:lnTo>
                  <a:pt x="372278" y="2835"/>
                </a:lnTo>
                <a:lnTo>
                  <a:pt x="421425" y="0"/>
                </a:lnTo>
                <a:lnTo>
                  <a:pt x="6196405" y="0"/>
                </a:lnTo>
                <a:lnTo>
                  <a:pt x="6245552" y="2835"/>
                </a:lnTo>
                <a:lnTo>
                  <a:pt x="6293034" y="11129"/>
                </a:lnTo>
                <a:lnTo>
                  <a:pt x="6338534" y="24568"/>
                </a:lnTo>
                <a:lnTo>
                  <a:pt x="6381737" y="42833"/>
                </a:lnTo>
                <a:lnTo>
                  <a:pt x="6422326" y="65610"/>
                </a:lnTo>
                <a:lnTo>
                  <a:pt x="6459985" y="92582"/>
                </a:lnTo>
                <a:lnTo>
                  <a:pt x="6494398" y="123432"/>
                </a:lnTo>
                <a:lnTo>
                  <a:pt x="6525249" y="157845"/>
                </a:lnTo>
                <a:lnTo>
                  <a:pt x="6552220" y="195504"/>
                </a:lnTo>
                <a:lnTo>
                  <a:pt x="6574997" y="236093"/>
                </a:lnTo>
                <a:lnTo>
                  <a:pt x="6593263" y="279296"/>
                </a:lnTo>
                <a:lnTo>
                  <a:pt x="6606701" y="324796"/>
                </a:lnTo>
                <a:lnTo>
                  <a:pt x="6614996" y="372278"/>
                </a:lnTo>
                <a:lnTo>
                  <a:pt x="6616974" y="406574"/>
                </a:lnTo>
              </a:path>
            </a:pathLst>
          </a:custGeom>
          <a:ln w="19049">
            <a:solidFill>
              <a:srgbClr val="F4F4F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9675399" y="4793681"/>
            <a:ext cx="7460615" cy="2264410"/>
            <a:chOff x="9675399" y="4793681"/>
            <a:chExt cx="7460615" cy="22644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4925" y="4803205"/>
              <a:ext cx="2081286" cy="13436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684924" y="4803206"/>
              <a:ext cx="2081530" cy="1344295"/>
            </a:xfrm>
            <a:custGeom>
              <a:avLst/>
              <a:gdLst/>
              <a:ahLst/>
              <a:cxnLst/>
              <a:rect l="l" t="t" r="r" b="b"/>
              <a:pathLst>
                <a:path w="2081529" h="1344295">
                  <a:moveTo>
                    <a:pt x="671805" y="0"/>
                  </a:moveTo>
                  <a:lnTo>
                    <a:pt x="1409358" y="0"/>
                  </a:lnTo>
                  <a:lnTo>
                    <a:pt x="1457341" y="1678"/>
                  </a:lnTo>
                  <a:lnTo>
                    <a:pt x="1504413" y="6657"/>
                  </a:lnTo>
                  <a:lnTo>
                    <a:pt x="1550461" y="14821"/>
                  </a:lnTo>
                  <a:lnTo>
                    <a:pt x="1595371" y="26056"/>
                  </a:lnTo>
                  <a:lnTo>
                    <a:pt x="1639031" y="40249"/>
                  </a:lnTo>
                  <a:lnTo>
                    <a:pt x="1681326" y="57285"/>
                  </a:lnTo>
                  <a:lnTo>
                    <a:pt x="1722143" y="77051"/>
                  </a:lnTo>
                  <a:lnTo>
                    <a:pt x="1761367" y="99434"/>
                  </a:lnTo>
                  <a:lnTo>
                    <a:pt x="1798885" y="124320"/>
                  </a:lnTo>
                  <a:lnTo>
                    <a:pt x="1834583" y="151595"/>
                  </a:lnTo>
                  <a:lnTo>
                    <a:pt x="1868348" y="181145"/>
                  </a:lnTo>
                  <a:lnTo>
                    <a:pt x="1900065" y="212857"/>
                  </a:lnTo>
                  <a:lnTo>
                    <a:pt x="1929621" y="246618"/>
                  </a:lnTo>
                  <a:lnTo>
                    <a:pt x="1956902" y="282312"/>
                  </a:lnTo>
                  <a:lnTo>
                    <a:pt x="1981794" y="319828"/>
                  </a:lnTo>
                  <a:lnTo>
                    <a:pt x="2004184" y="359050"/>
                  </a:lnTo>
                  <a:lnTo>
                    <a:pt x="2023957" y="399866"/>
                  </a:lnTo>
                  <a:lnTo>
                    <a:pt x="2041001" y="442161"/>
                  </a:lnTo>
                  <a:lnTo>
                    <a:pt x="2055201" y="485822"/>
                  </a:lnTo>
                  <a:lnTo>
                    <a:pt x="2066443" y="530735"/>
                  </a:lnTo>
                  <a:lnTo>
                    <a:pt x="2074613" y="576787"/>
                  </a:lnTo>
                  <a:lnTo>
                    <a:pt x="2079599" y="623862"/>
                  </a:lnTo>
                  <a:lnTo>
                    <a:pt x="2081286" y="671848"/>
                  </a:lnTo>
                  <a:lnTo>
                    <a:pt x="2079598" y="719835"/>
                  </a:lnTo>
                  <a:lnTo>
                    <a:pt x="2074611" y="766910"/>
                  </a:lnTo>
                  <a:lnTo>
                    <a:pt x="2066440" y="812961"/>
                  </a:lnTo>
                  <a:lnTo>
                    <a:pt x="2055197" y="857873"/>
                  </a:lnTo>
                  <a:lnTo>
                    <a:pt x="2040997" y="901534"/>
                  </a:lnTo>
                  <a:lnTo>
                    <a:pt x="2023952" y="943829"/>
                  </a:lnTo>
                  <a:lnTo>
                    <a:pt x="2004178" y="984644"/>
                  </a:lnTo>
                  <a:lnTo>
                    <a:pt x="1981788" y="1023865"/>
                  </a:lnTo>
                  <a:lnTo>
                    <a:pt x="1956895" y="1061380"/>
                  </a:lnTo>
                  <a:lnTo>
                    <a:pt x="1929614" y="1097074"/>
                  </a:lnTo>
                  <a:lnTo>
                    <a:pt x="1900058" y="1130834"/>
                  </a:lnTo>
                  <a:lnTo>
                    <a:pt x="1868341" y="1162545"/>
                  </a:lnTo>
                  <a:lnTo>
                    <a:pt x="1834576" y="1192094"/>
                  </a:lnTo>
                  <a:lnTo>
                    <a:pt x="1798878" y="1219369"/>
                  </a:lnTo>
                  <a:lnTo>
                    <a:pt x="1761360" y="1244253"/>
                  </a:lnTo>
                  <a:lnTo>
                    <a:pt x="1722136" y="1266636"/>
                  </a:lnTo>
                  <a:lnTo>
                    <a:pt x="1681320" y="1286401"/>
                  </a:lnTo>
                  <a:lnTo>
                    <a:pt x="1639025" y="1303437"/>
                  </a:lnTo>
                  <a:lnTo>
                    <a:pt x="1595366" y="1317628"/>
                  </a:lnTo>
                  <a:lnTo>
                    <a:pt x="1550456" y="1328863"/>
                  </a:lnTo>
                  <a:lnTo>
                    <a:pt x="1504408" y="1337026"/>
                  </a:lnTo>
                  <a:lnTo>
                    <a:pt x="1457338" y="1342006"/>
                  </a:lnTo>
                  <a:lnTo>
                    <a:pt x="1409358" y="1343689"/>
                  </a:lnTo>
                  <a:lnTo>
                    <a:pt x="671804" y="1343688"/>
                  </a:lnTo>
                  <a:lnTo>
                    <a:pt x="623824" y="1341998"/>
                  </a:lnTo>
                  <a:lnTo>
                    <a:pt x="576755" y="1337011"/>
                  </a:lnTo>
                  <a:lnTo>
                    <a:pt x="530710" y="1328839"/>
                  </a:lnTo>
                  <a:lnTo>
                    <a:pt x="485804" y="1317597"/>
                  </a:lnTo>
                  <a:lnTo>
                    <a:pt x="442149" y="1303398"/>
                  </a:lnTo>
                  <a:lnTo>
                    <a:pt x="399861" y="1286356"/>
                  </a:lnTo>
                  <a:lnTo>
                    <a:pt x="359051" y="1266585"/>
                  </a:lnTo>
                  <a:lnTo>
                    <a:pt x="319834" y="1244199"/>
                  </a:lnTo>
                  <a:lnTo>
                    <a:pt x="282323" y="1219310"/>
                  </a:lnTo>
                  <a:lnTo>
                    <a:pt x="246633" y="1192034"/>
                  </a:lnTo>
                  <a:lnTo>
                    <a:pt x="212877" y="1162483"/>
                  </a:lnTo>
                  <a:lnTo>
                    <a:pt x="181167" y="1130771"/>
                  </a:lnTo>
                  <a:lnTo>
                    <a:pt x="151619" y="1097012"/>
                  </a:lnTo>
                  <a:lnTo>
                    <a:pt x="124346" y="1061320"/>
                  </a:lnTo>
                  <a:lnTo>
                    <a:pt x="99461" y="1023809"/>
                  </a:lnTo>
                  <a:lnTo>
                    <a:pt x="77078" y="984591"/>
                  </a:lnTo>
                  <a:lnTo>
                    <a:pt x="57311" y="943780"/>
                  </a:lnTo>
                  <a:lnTo>
                    <a:pt x="40273" y="901491"/>
                  </a:lnTo>
                  <a:lnTo>
                    <a:pt x="26077" y="857837"/>
                  </a:lnTo>
                  <a:lnTo>
                    <a:pt x="14839" y="812932"/>
                  </a:lnTo>
                  <a:lnTo>
                    <a:pt x="6671" y="766889"/>
                  </a:lnTo>
                  <a:lnTo>
                    <a:pt x="1686" y="719822"/>
                  </a:lnTo>
                  <a:lnTo>
                    <a:pt x="0" y="671844"/>
                  </a:lnTo>
                  <a:lnTo>
                    <a:pt x="1686" y="623867"/>
                  </a:lnTo>
                  <a:lnTo>
                    <a:pt x="6670" y="576799"/>
                  </a:lnTo>
                  <a:lnTo>
                    <a:pt x="14838" y="530756"/>
                  </a:lnTo>
                  <a:lnTo>
                    <a:pt x="26077" y="485851"/>
                  </a:lnTo>
                  <a:lnTo>
                    <a:pt x="40272" y="442197"/>
                  </a:lnTo>
                  <a:lnTo>
                    <a:pt x="57310" y="399907"/>
                  </a:lnTo>
                  <a:lnTo>
                    <a:pt x="77077" y="359097"/>
                  </a:lnTo>
                  <a:lnTo>
                    <a:pt x="99460" y="319879"/>
                  </a:lnTo>
                  <a:lnTo>
                    <a:pt x="124345" y="282367"/>
                  </a:lnTo>
                  <a:lnTo>
                    <a:pt x="151619" y="246675"/>
                  </a:lnTo>
                  <a:lnTo>
                    <a:pt x="181167" y="212916"/>
                  </a:lnTo>
                  <a:lnTo>
                    <a:pt x="212876" y="181204"/>
                  </a:lnTo>
                  <a:lnTo>
                    <a:pt x="246633" y="151653"/>
                  </a:lnTo>
                  <a:lnTo>
                    <a:pt x="282323" y="124376"/>
                  </a:lnTo>
                  <a:lnTo>
                    <a:pt x="319834" y="99488"/>
                  </a:lnTo>
                  <a:lnTo>
                    <a:pt x="359051" y="77101"/>
                  </a:lnTo>
                  <a:lnTo>
                    <a:pt x="399861" y="57330"/>
                  </a:lnTo>
                  <a:lnTo>
                    <a:pt x="442150" y="40288"/>
                  </a:lnTo>
                  <a:lnTo>
                    <a:pt x="485805" y="26089"/>
                  </a:lnTo>
                  <a:lnTo>
                    <a:pt x="530712" y="14847"/>
                  </a:lnTo>
                  <a:lnTo>
                    <a:pt x="576757" y="6675"/>
                  </a:lnTo>
                  <a:lnTo>
                    <a:pt x="623826" y="1688"/>
                  </a:lnTo>
                  <a:lnTo>
                    <a:pt x="671805" y="0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685337" y="6210063"/>
              <a:ext cx="7440930" cy="838200"/>
            </a:xfrm>
            <a:custGeom>
              <a:avLst/>
              <a:gdLst/>
              <a:ahLst/>
              <a:cxnLst/>
              <a:rect l="l" t="t" r="r" b="b"/>
              <a:pathLst>
                <a:path w="7440930" h="838200">
                  <a:moveTo>
                    <a:pt x="361487" y="838131"/>
                  </a:moveTo>
                  <a:lnTo>
                    <a:pt x="279295" y="818282"/>
                  </a:lnTo>
                  <a:lnTo>
                    <a:pt x="236093" y="800017"/>
                  </a:lnTo>
                  <a:lnTo>
                    <a:pt x="195504" y="777240"/>
                  </a:lnTo>
                  <a:lnTo>
                    <a:pt x="157845" y="750268"/>
                  </a:lnTo>
                  <a:lnTo>
                    <a:pt x="123432" y="719418"/>
                  </a:lnTo>
                  <a:lnTo>
                    <a:pt x="92582" y="685005"/>
                  </a:lnTo>
                  <a:lnTo>
                    <a:pt x="65610" y="647346"/>
                  </a:lnTo>
                  <a:lnTo>
                    <a:pt x="42834" y="606757"/>
                  </a:lnTo>
                  <a:lnTo>
                    <a:pt x="24568" y="563555"/>
                  </a:lnTo>
                  <a:lnTo>
                    <a:pt x="11130" y="518054"/>
                  </a:lnTo>
                  <a:lnTo>
                    <a:pt x="2835" y="470572"/>
                  </a:lnTo>
                  <a:lnTo>
                    <a:pt x="0" y="421425"/>
                  </a:lnTo>
                  <a:lnTo>
                    <a:pt x="2835" y="372278"/>
                  </a:lnTo>
                  <a:lnTo>
                    <a:pt x="11130" y="324796"/>
                  </a:lnTo>
                  <a:lnTo>
                    <a:pt x="24568" y="279296"/>
                  </a:lnTo>
                  <a:lnTo>
                    <a:pt x="42834" y="236093"/>
                  </a:lnTo>
                  <a:lnTo>
                    <a:pt x="65610" y="195504"/>
                  </a:lnTo>
                  <a:lnTo>
                    <a:pt x="92582" y="157845"/>
                  </a:lnTo>
                  <a:lnTo>
                    <a:pt x="123432" y="123432"/>
                  </a:lnTo>
                  <a:lnTo>
                    <a:pt x="157845" y="92582"/>
                  </a:lnTo>
                  <a:lnTo>
                    <a:pt x="195504" y="65611"/>
                  </a:lnTo>
                  <a:lnTo>
                    <a:pt x="236093" y="42834"/>
                  </a:lnTo>
                  <a:lnTo>
                    <a:pt x="279295" y="24568"/>
                  </a:lnTo>
                  <a:lnTo>
                    <a:pt x="324796" y="11130"/>
                  </a:lnTo>
                  <a:lnTo>
                    <a:pt x="372278" y="2835"/>
                  </a:lnTo>
                  <a:lnTo>
                    <a:pt x="421425" y="0"/>
                  </a:lnTo>
                  <a:lnTo>
                    <a:pt x="7019357" y="0"/>
                  </a:lnTo>
                  <a:lnTo>
                    <a:pt x="7068504" y="2835"/>
                  </a:lnTo>
                  <a:lnTo>
                    <a:pt x="7115986" y="11129"/>
                  </a:lnTo>
                  <a:lnTo>
                    <a:pt x="7161486" y="24568"/>
                  </a:lnTo>
                  <a:lnTo>
                    <a:pt x="7204689" y="42833"/>
                  </a:lnTo>
                  <a:lnTo>
                    <a:pt x="7245278" y="65610"/>
                  </a:lnTo>
                  <a:lnTo>
                    <a:pt x="7282937" y="92581"/>
                  </a:lnTo>
                  <a:lnTo>
                    <a:pt x="7317350" y="123432"/>
                  </a:lnTo>
                  <a:lnTo>
                    <a:pt x="7348201" y="157844"/>
                  </a:lnTo>
                  <a:lnTo>
                    <a:pt x="7375172" y="195503"/>
                  </a:lnTo>
                  <a:lnTo>
                    <a:pt x="7397949" y="236092"/>
                  </a:lnTo>
                  <a:lnTo>
                    <a:pt x="7416215" y="279295"/>
                  </a:lnTo>
                  <a:lnTo>
                    <a:pt x="7429653" y="324796"/>
                  </a:lnTo>
                  <a:lnTo>
                    <a:pt x="7437948" y="372278"/>
                  </a:lnTo>
                  <a:lnTo>
                    <a:pt x="7440783" y="421425"/>
                  </a:lnTo>
                  <a:lnTo>
                    <a:pt x="7437948" y="470572"/>
                  </a:lnTo>
                  <a:lnTo>
                    <a:pt x="7429653" y="518055"/>
                  </a:lnTo>
                  <a:lnTo>
                    <a:pt x="7416215" y="563555"/>
                  </a:lnTo>
                  <a:lnTo>
                    <a:pt x="7397949" y="606758"/>
                  </a:lnTo>
                  <a:lnTo>
                    <a:pt x="7375172" y="647347"/>
                  </a:lnTo>
                  <a:lnTo>
                    <a:pt x="7348201" y="685006"/>
                  </a:lnTo>
                  <a:lnTo>
                    <a:pt x="7317350" y="719419"/>
                  </a:lnTo>
                  <a:lnTo>
                    <a:pt x="7282937" y="750269"/>
                  </a:lnTo>
                  <a:lnTo>
                    <a:pt x="7245278" y="777241"/>
                  </a:lnTo>
                  <a:lnTo>
                    <a:pt x="7204689" y="800017"/>
                  </a:lnTo>
                  <a:lnTo>
                    <a:pt x="7161486" y="818283"/>
                  </a:lnTo>
                  <a:lnTo>
                    <a:pt x="7115986" y="831721"/>
                  </a:lnTo>
                  <a:lnTo>
                    <a:pt x="7079295" y="838130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495494" y="6369408"/>
            <a:ext cx="4739005" cy="577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dirty="0" sz="1550" spc="-80">
                <a:solidFill>
                  <a:srgbClr val="F4F4F4"/>
                </a:solidFill>
                <a:latin typeface="Lucida Sans Unicode"/>
                <a:cs typeface="Lucida Sans Unicode"/>
              </a:rPr>
              <a:t>Explore</a:t>
            </a:r>
            <a:r>
              <a:rPr dirty="0" sz="1550" spc="-18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7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r>
              <a:rPr dirty="0" sz="1550" spc="-17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0">
                <a:solidFill>
                  <a:srgbClr val="F4F4F4"/>
                </a:solidFill>
                <a:latin typeface="Lucida Sans Unicode"/>
                <a:cs typeface="Lucida Sans Unicode"/>
              </a:rPr>
              <a:t>based</a:t>
            </a:r>
            <a:r>
              <a:rPr dirty="0" sz="1550" spc="-18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>
                <a:solidFill>
                  <a:srgbClr val="F4F4F4"/>
                </a:solidFill>
                <a:latin typeface="Lucida Sans Unicode"/>
                <a:cs typeface="Lucida Sans Unicode"/>
              </a:rPr>
              <a:t>on</a:t>
            </a:r>
            <a:r>
              <a:rPr dirty="0" sz="1550" spc="-18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Lucida Sans Unicode"/>
                <a:cs typeface="Lucida Sans Unicode"/>
              </a:rPr>
              <a:t>department,</a:t>
            </a:r>
            <a:r>
              <a:rPr dirty="0" sz="1550" spc="-17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35">
                <a:solidFill>
                  <a:srgbClr val="F4F4F4"/>
                </a:solidFill>
                <a:latin typeface="Lucida Sans Unicode"/>
                <a:cs typeface="Lucida Sans Unicode"/>
              </a:rPr>
              <a:t>gender,</a:t>
            </a:r>
            <a:r>
              <a:rPr dirty="0" sz="1550" spc="-18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10">
                <a:solidFill>
                  <a:srgbClr val="F4F4F4"/>
                </a:solidFill>
                <a:latin typeface="Lucida Sans Unicode"/>
                <a:cs typeface="Lucida Sans Unicode"/>
              </a:rPr>
              <a:t>doctor, admission</a:t>
            </a:r>
            <a:r>
              <a:rPr dirty="0" sz="1550" spc="-17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45">
                <a:solidFill>
                  <a:srgbClr val="F4F4F4"/>
                </a:solidFill>
                <a:latin typeface="Lucida Sans Unicode"/>
                <a:cs typeface="Lucida Sans Unicode"/>
              </a:rPr>
              <a:t>type,</a:t>
            </a:r>
            <a:r>
              <a:rPr dirty="0" sz="1550" spc="-17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65">
                <a:solidFill>
                  <a:srgbClr val="F4F4F4"/>
                </a:solidFill>
                <a:latin typeface="Lucida Sans Unicode"/>
                <a:cs typeface="Lucida Sans Unicode"/>
              </a:rPr>
              <a:t>and</a:t>
            </a:r>
            <a:r>
              <a:rPr dirty="0" sz="1550" spc="-17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-20">
                <a:solidFill>
                  <a:srgbClr val="F4F4F4"/>
                </a:solidFill>
                <a:latin typeface="Lucida Sans Unicode"/>
                <a:cs typeface="Lucida Sans Unicode"/>
              </a:rPr>
              <a:t>date.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0354" y="6200538"/>
            <a:ext cx="2724785" cy="1379220"/>
            <a:chOff x="510354" y="6200538"/>
            <a:chExt cx="2724785" cy="137922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878" y="6210063"/>
              <a:ext cx="2703833" cy="13598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9879" y="6210063"/>
              <a:ext cx="2705735" cy="1360170"/>
            </a:xfrm>
            <a:custGeom>
              <a:avLst/>
              <a:gdLst/>
              <a:ahLst/>
              <a:cxnLst/>
              <a:rect l="l" t="t" r="r" b="b"/>
              <a:pathLst>
                <a:path w="2705735" h="1360170">
                  <a:moveTo>
                    <a:pt x="679951" y="0"/>
                  </a:moveTo>
                  <a:lnTo>
                    <a:pt x="2025698" y="0"/>
                  </a:lnTo>
                  <a:lnTo>
                    <a:pt x="2074666" y="1759"/>
                  </a:lnTo>
                  <a:lnTo>
                    <a:pt x="2123097" y="7001"/>
                  </a:lnTo>
                  <a:lnTo>
                    <a:pt x="2170819" y="15654"/>
                  </a:lnTo>
                  <a:lnTo>
                    <a:pt x="2217661" y="27645"/>
                  </a:lnTo>
                  <a:lnTo>
                    <a:pt x="2263451" y="42904"/>
                  </a:lnTo>
                  <a:lnTo>
                    <a:pt x="2308018" y="61360"/>
                  </a:lnTo>
                  <a:lnTo>
                    <a:pt x="2351190" y="82943"/>
                  </a:lnTo>
                  <a:lnTo>
                    <a:pt x="2392796" y="107581"/>
                  </a:lnTo>
                  <a:lnTo>
                    <a:pt x="2432664" y="135203"/>
                  </a:lnTo>
                  <a:lnTo>
                    <a:pt x="2470622" y="165738"/>
                  </a:lnTo>
                  <a:lnTo>
                    <a:pt x="2506499" y="199115"/>
                  </a:lnTo>
                  <a:lnTo>
                    <a:pt x="2539882" y="234988"/>
                  </a:lnTo>
                  <a:lnTo>
                    <a:pt x="2570423" y="272943"/>
                  </a:lnTo>
                  <a:lnTo>
                    <a:pt x="2598051" y="312808"/>
                  </a:lnTo>
                  <a:lnTo>
                    <a:pt x="2622695" y="354412"/>
                  </a:lnTo>
                  <a:lnTo>
                    <a:pt x="2644285" y="397583"/>
                  </a:lnTo>
                  <a:lnTo>
                    <a:pt x="2662748" y="442150"/>
                  </a:lnTo>
                  <a:lnTo>
                    <a:pt x="2678014" y="487941"/>
                  </a:lnTo>
                  <a:lnTo>
                    <a:pt x="2690011" y="534785"/>
                  </a:lnTo>
                  <a:lnTo>
                    <a:pt x="2698670" y="582510"/>
                  </a:lnTo>
                  <a:lnTo>
                    <a:pt x="2703917" y="630945"/>
                  </a:lnTo>
                  <a:lnTo>
                    <a:pt x="2705684" y="679918"/>
                  </a:lnTo>
                  <a:lnTo>
                    <a:pt x="2703921" y="728891"/>
                  </a:lnTo>
                  <a:lnTo>
                    <a:pt x="2698676" y="777326"/>
                  </a:lnTo>
                  <a:lnTo>
                    <a:pt x="2690021" y="825053"/>
                  </a:lnTo>
                  <a:lnTo>
                    <a:pt x="2678026" y="871898"/>
                  </a:lnTo>
                  <a:lnTo>
                    <a:pt x="2662763" y="917691"/>
                  </a:lnTo>
                  <a:lnTo>
                    <a:pt x="2644302" y="962261"/>
                  </a:lnTo>
                  <a:lnTo>
                    <a:pt x="2622714" y="1005434"/>
                  </a:lnTo>
                  <a:lnTo>
                    <a:pt x="2598072" y="1047041"/>
                  </a:lnTo>
                  <a:lnTo>
                    <a:pt x="2570445" y="1086909"/>
                  </a:lnTo>
                  <a:lnTo>
                    <a:pt x="2539904" y="1124867"/>
                  </a:lnTo>
                  <a:lnTo>
                    <a:pt x="2506522" y="1160743"/>
                  </a:lnTo>
                  <a:lnTo>
                    <a:pt x="2470644" y="1194124"/>
                  </a:lnTo>
                  <a:lnTo>
                    <a:pt x="2432685" y="1224663"/>
                  </a:lnTo>
                  <a:lnTo>
                    <a:pt x="2392816" y="1252288"/>
                  </a:lnTo>
                  <a:lnTo>
                    <a:pt x="2351209" y="1276928"/>
                  </a:lnTo>
                  <a:lnTo>
                    <a:pt x="2308035" y="1298513"/>
                  </a:lnTo>
                  <a:lnTo>
                    <a:pt x="2263465" y="1316972"/>
                  </a:lnTo>
                  <a:lnTo>
                    <a:pt x="2217672" y="1332233"/>
                  </a:lnTo>
                  <a:lnTo>
                    <a:pt x="2170827" y="1344226"/>
                  </a:lnTo>
                  <a:lnTo>
                    <a:pt x="2123102" y="1352879"/>
                  </a:lnTo>
                  <a:lnTo>
                    <a:pt x="2074668" y="1358122"/>
                  </a:lnTo>
                  <a:lnTo>
                    <a:pt x="2025698" y="1359884"/>
                  </a:lnTo>
                  <a:lnTo>
                    <a:pt x="679949" y="1359885"/>
                  </a:lnTo>
                  <a:lnTo>
                    <a:pt x="630978" y="1358121"/>
                  </a:lnTo>
                  <a:lnTo>
                    <a:pt x="582544" y="1352876"/>
                  </a:lnTo>
                  <a:lnTo>
                    <a:pt x="534819" y="1344220"/>
                  </a:lnTo>
                  <a:lnTo>
                    <a:pt x="487975" y="1332225"/>
                  </a:lnTo>
                  <a:lnTo>
                    <a:pt x="442183" y="1316961"/>
                  </a:lnTo>
                  <a:lnTo>
                    <a:pt x="397616" y="1298500"/>
                  </a:lnTo>
                  <a:lnTo>
                    <a:pt x="354443" y="1276913"/>
                  </a:lnTo>
                  <a:lnTo>
                    <a:pt x="312838" y="1252271"/>
                  </a:lnTo>
                  <a:lnTo>
                    <a:pt x="272971" y="1224645"/>
                  </a:lnTo>
                  <a:lnTo>
                    <a:pt x="235015" y="1194105"/>
                  </a:lnTo>
                  <a:lnTo>
                    <a:pt x="199140" y="1160724"/>
                  </a:lnTo>
                  <a:lnTo>
                    <a:pt x="165760" y="1124848"/>
                  </a:lnTo>
                  <a:lnTo>
                    <a:pt x="135222" y="1086890"/>
                  </a:lnTo>
                  <a:lnTo>
                    <a:pt x="107598" y="1047022"/>
                  </a:lnTo>
                  <a:lnTo>
                    <a:pt x="82958" y="1005416"/>
                  </a:lnTo>
                  <a:lnTo>
                    <a:pt x="61373" y="962244"/>
                  </a:lnTo>
                  <a:lnTo>
                    <a:pt x="42914" y="917676"/>
                  </a:lnTo>
                  <a:lnTo>
                    <a:pt x="27652" y="871885"/>
                  </a:lnTo>
                  <a:lnTo>
                    <a:pt x="15659" y="825041"/>
                  </a:lnTo>
                  <a:lnTo>
                    <a:pt x="7005" y="777317"/>
                  </a:lnTo>
                  <a:lnTo>
                    <a:pt x="1762" y="728884"/>
                  </a:lnTo>
                  <a:lnTo>
                    <a:pt x="0" y="679914"/>
                  </a:lnTo>
                  <a:lnTo>
                    <a:pt x="1766" y="630944"/>
                  </a:lnTo>
                  <a:lnTo>
                    <a:pt x="7013" y="582512"/>
                  </a:lnTo>
                  <a:lnTo>
                    <a:pt x="15671" y="534789"/>
                  </a:lnTo>
                  <a:lnTo>
                    <a:pt x="27668" y="487947"/>
                  </a:lnTo>
                  <a:lnTo>
                    <a:pt x="42933" y="442159"/>
                  </a:lnTo>
                  <a:lnTo>
                    <a:pt x="61394" y="397594"/>
                  </a:lnTo>
                  <a:lnTo>
                    <a:pt x="82982" y="354424"/>
                  </a:lnTo>
                  <a:lnTo>
                    <a:pt x="107624" y="312822"/>
                  </a:lnTo>
                  <a:lnTo>
                    <a:pt x="135250" y="272958"/>
                  </a:lnTo>
                  <a:lnTo>
                    <a:pt x="165789" y="235004"/>
                  </a:lnTo>
                  <a:lnTo>
                    <a:pt x="199169" y="199132"/>
                  </a:lnTo>
                  <a:lnTo>
                    <a:pt x="235044" y="165755"/>
                  </a:lnTo>
                  <a:lnTo>
                    <a:pt x="273000" y="135219"/>
                  </a:lnTo>
                  <a:lnTo>
                    <a:pt x="312865" y="107597"/>
                  </a:lnTo>
                  <a:lnTo>
                    <a:pt x="354468" y="82958"/>
                  </a:lnTo>
                  <a:lnTo>
                    <a:pt x="397638" y="61374"/>
                  </a:lnTo>
                  <a:lnTo>
                    <a:pt x="442203" y="42917"/>
                  </a:lnTo>
                  <a:lnTo>
                    <a:pt x="487992" y="27655"/>
                  </a:lnTo>
                  <a:lnTo>
                    <a:pt x="534832" y="15662"/>
                  </a:lnTo>
                  <a:lnTo>
                    <a:pt x="582553" y="7008"/>
                  </a:lnTo>
                  <a:lnTo>
                    <a:pt x="630984" y="1764"/>
                  </a:lnTo>
                  <a:lnTo>
                    <a:pt x="679951" y="0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03717" y="6387269"/>
            <a:ext cx="1938020" cy="932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6599"/>
              </a:lnSpc>
              <a:spcBef>
                <a:spcPts val="95"/>
              </a:spcBef>
            </a:pPr>
            <a:r>
              <a:rPr dirty="0" sz="1700">
                <a:solidFill>
                  <a:srgbClr val="F4F4F4"/>
                </a:solidFill>
                <a:latin typeface="Lucida Sans Unicode"/>
                <a:cs typeface="Lucida Sans Unicode"/>
              </a:rPr>
              <a:t>DYNAMIC</a:t>
            </a:r>
            <a:r>
              <a:rPr dirty="0" sz="1700" spc="27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>
                <a:solidFill>
                  <a:srgbClr val="F4F4F4"/>
                </a:solidFill>
                <a:latin typeface="Lucida Sans Unicode"/>
                <a:cs typeface="Lucida Sans Unicode"/>
              </a:rPr>
              <a:t>FILTERS </a:t>
            </a:r>
            <a:r>
              <a:rPr dirty="0" sz="1700">
                <a:solidFill>
                  <a:srgbClr val="F4F4F4"/>
                </a:solidFill>
                <a:latin typeface="Lucida Sans Unicode"/>
                <a:cs typeface="Lucida Sans Unicode"/>
              </a:rPr>
              <a:t>ALLOW</a:t>
            </a:r>
            <a:r>
              <a:rPr dirty="0" sz="1700" spc="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70">
                <a:solidFill>
                  <a:srgbClr val="F4F4F4"/>
                </a:solidFill>
                <a:latin typeface="Lucida Sans Unicode"/>
                <a:cs typeface="Lucida Sans Unicode"/>
              </a:rPr>
              <a:t>USERS</a:t>
            </a:r>
            <a:r>
              <a:rPr dirty="0" sz="1700" spc="5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>
                <a:solidFill>
                  <a:srgbClr val="F4F4F4"/>
                </a:solidFill>
                <a:latin typeface="Lucida Sans Unicode"/>
                <a:cs typeface="Lucida Sans Unicode"/>
              </a:rPr>
              <a:t>TO </a:t>
            </a:r>
            <a:r>
              <a:rPr dirty="0" sz="1700">
                <a:solidFill>
                  <a:srgbClr val="F4F4F4"/>
                </a:solidFill>
                <a:latin typeface="Lucida Sans Unicode"/>
                <a:cs typeface="Lucida Sans Unicode"/>
              </a:rPr>
              <a:t>EXPLORE</a:t>
            </a:r>
            <a:r>
              <a:rPr dirty="0" sz="1700" spc="15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0">
                <a:solidFill>
                  <a:srgbClr val="F4F4F4"/>
                </a:solidFill>
                <a:latin typeface="Lucida Sans Unicode"/>
                <a:cs typeface="Lucida Sans Unicode"/>
              </a:rPr>
              <a:t>DATA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36135" y="6370174"/>
            <a:ext cx="4495800" cy="548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95"/>
              </a:spcBef>
            </a:pPr>
            <a:r>
              <a:rPr dirty="0" sz="1450">
                <a:solidFill>
                  <a:srgbClr val="F4F4F4"/>
                </a:solidFill>
                <a:latin typeface="Lucida Sans Unicode"/>
                <a:cs typeface="Lucida Sans Unicode"/>
              </a:rPr>
              <a:t>used</a:t>
            </a:r>
            <a:r>
              <a:rPr dirty="0" sz="1450" spc="-16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Lucida Sans Unicode"/>
                <a:cs typeface="Lucida Sans Unicode"/>
              </a:rPr>
              <a:t>to</a:t>
            </a:r>
            <a:r>
              <a:rPr dirty="0" sz="1450" spc="-16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>
                <a:solidFill>
                  <a:srgbClr val="F4F4F4"/>
                </a:solidFill>
                <a:latin typeface="Lucida Sans Unicode"/>
                <a:cs typeface="Lucida Sans Unicode"/>
              </a:rPr>
              <a:t>estimate</a:t>
            </a:r>
            <a:r>
              <a:rPr dirty="0" sz="1450" spc="-16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50">
                <a:solidFill>
                  <a:srgbClr val="F4F4F4"/>
                </a:solidFill>
                <a:latin typeface="Lucida Sans Unicode"/>
                <a:cs typeface="Lucida Sans Unicode"/>
              </a:rPr>
              <a:t>future</a:t>
            </a:r>
            <a:r>
              <a:rPr dirty="0" sz="1450" spc="-16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Lucida Sans Unicode"/>
                <a:cs typeface="Lucida Sans Unicode"/>
              </a:rPr>
              <a:t>patient</a:t>
            </a:r>
            <a:r>
              <a:rPr dirty="0" sz="1450" spc="-15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Lucida Sans Unicode"/>
                <a:cs typeface="Lucida Sans Unicode"/>
              </a:rPr>
              <a:t>admission</a:t>
            </a:r>
            <a:r>
              <a:rPr dirty="0" sz="1450" spc="-16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30">
                <a:solidFill>
                  <a:srgbClr val="F4F4F4"/>
                </a:solidFill>
                <a:latin typeface="Lucida Sans Unicode"/>
                <a:cs typeface="Lucida Sans Unicode"/>
              </a:rPr>
              <a:t>trends</a:t>
            </a:r>
            <a:r>
              <a:rPr dirty="0" sz="1450" spc="-16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25">
                <a:solidFill>
                  <a:srgbClr val="F4F4F4"/>
                </a:solidFill>
                <a:latin typeface="Lucida Sans Unicode"/>
                <a:cs typeface="Lucida Sans Unicode"/>
              </a:rPr>
              <a:t>for better</a:t>
            </a:r>
            <a:r>
              <a:rPr dirty="0" sz="1450" spc="-14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10">
                <a:solidFill>
                  <a:srgbClr val="F4F4F4"/>
                </a:solidFill>
                <a:latin typeface="Lucida Sans Unicode"/>
                <a:cs typeface="Lucida Sans Unicode"/>
              </a:rPr>
              <a:t>planning.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75400" y="6104179"/>
            <a:ext cx="2100580" cy="1052195"/>
            <a:chOff x="9675400" y="6104179"/>
            <a:chExt cx="2100580" cy="105219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4924" y="6113704"/>
              <a:ext cx="2079426" cy="10356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684925" y="6113704"/>
              <a:ext cx="2081530" cy="1033144"/>
            </a:xfrm>
            <a:custGeom>
              <a:avLst/>
              <a:gdLst/>
              <a:ahLst/>
              <a:cxnLst/>
              <a:rect l="l" t="t" r="r" b="b"/>
              <a:pathLst>
                <a:path w="2081529" h="1033145">
                  <a:moveTo>
                    <a:pt x="466630" y="1033041"/>
                  </a:moveTo>
                  <a:lnTo>
                    <a:pt x="416303" y="1025617"/>
                  </a:lnTo>
                  <a:lnTo>
                    <a:pt x="367195" y="1013272"/>
                  </a:lnTo>
                  <a:lnTo>
                    <a:pt x="319633" y="996234"/>
                  </a:lnTo>
                  <a:lnTo>
                    <a:pt x="273958" y="974645"/>
                  </a:lnTo>
                  <a:lnTo>
                    <a:pt x="230509" y="948644"/>
                  </a:lnTo>
                  <a:lnTo>
                    <a:pt x="189625" y="918373"/>
                  </a:lnTo>
                  <a:lnTo>
                    <a:pt x="151646" y="883972"/>
                  </a:lnTo>
                  <a:lnTo>
                    <a:pt x="117250" y="845988"/>
                  </a:lnTo>
                  <a:lnTo>
                    <a:pt x="86985" y="805101"/>
                  </a:lnTo>
                  <a:lnTo>
                    <a:pt x="60990" y="761649"/>
                  </a:lnTo>
                  <a:lnTo>
                    <a:pt x="39407" y="715974"/>
                  </a:lnTo>
                  <a:lnTo>
                    <a:pt x="22376" y="668413"/>
                  </a:lnTo>
                  <a:lnTo>
                    <a:pt x="10037" y="619307"/>
                  </a:lnTo>
                  <a:lnTo>
                    <a:pt x="2532" y="568995"/>
                  </a:lnTo>
                  <a:lnTo>
                    <a:pt x="0" y="517816"/>
                  </a:lnTo>
                  <a:lnTo>
                    <a:pt x="2535" y="466638"/>
                  </a:lnTo>
                  <a:lnTo>
                    <a:pt x="10043" y="416327"/>
                  </a:lnTo>
                  <a:lnTo>
                    <a:pt x="22385" y="367222"/>
                  </a:lnTo>
                  <a:lnTo>
                    <a:pt x="39418" y="319663"/>
                  </a:lnTo>
                  <a:lnTo>
                    <a:pt x="61003" y="273990"/>
                  </a:lnTo>
                  <a:lnTo>
                    <a:pt x="86999" y="230541"/>
                  </a:lnTo>
                  <a:lnTo>
                    <a:pt x="117266" y="189657"/>
                  </a:lnTo>
                  <a:lnTo>
                    <a:pt x="151662" y="151676"/>
                  </a:lnTo>
                  <a:lnTo>
                    <a:pt x="189641" y="117278"/>
                  </a:lnTo>
                  <a:lnTo>
                    <a:pt x="230525" y="87010"/>
                  </a:lnTo>
                  <a:lnTo>
                    <a:pt x="273973" y="61012"/>
                  </a:lnTo>
                  <a:lnTo>
                    <a:pt x="319646" y="39424"/>
                  </a:lnTo>
                  <a:lnTo>
                    <a:pt x="367205" y="22389"/>
                  </a:lnTo>
                  <a:lnTo>
                    <a:pt x="416311" y="10045"/>
                  </a:lnTo>
                  <a:lnTo>
                    <a:pt x="466623" y="2535"/>
                  </a:lnTo>
                  <a:lnTo>
                    <a:pt x="517802" y="0"/>
                  </a:lnTo>
                  <a:lnTo>
                    <a:pt x="1563360" y="0"/>
                  </a:lnTo>
                  <a:lnTo>
                    <a:pt x="1614542" y="2520"/>
                  </a:lnTo>
                  <a:lnTo>
                    <a:pt x="1664859" y="10019"/>
                  </a:lnTo>
                  <a:lnTo>
                    <a:pt x="1713971" y="22353"/>
                  </a:lnTo>
                  <a:lnTo>
                    <a:pt x="1761538" y="39380"/>
                  </a:lnTo>
                  <a:lnTo>
                    <a:pt x="1807221" y="60960"/>
                  </a:lnTo>
                  <a:lnTo>
                    <a:pt x="1850680" y="86953"/>
                  </a:lnTo>
                  <a:lnTo>
                    <a:pt x="1891575" y="117219"/>
                  </a:lnTo>
                  <a:lnTo>
                    <a:pt x="1929566" y="151616"/>
                  </a:lnTo>
                  <a:lnTo>
                    <a:pt x="1963974" y="189599"/>
                  </a:lnTo>
                  <a:lnTo>
                    <a:pt x="1994252" y="230488"/>
                  </a:lnTo>
                  <a:lnTo>
                    <a:pt x="2020258" y="273943"/>
                  </a:lnTo>
                  <a:lnTo>
                    <a:pt x="2041852" y="319624"/>
                  </a:lnTo>
                  <a:lnTo>
                    <a:pt x="2058892" y="367193"/>
                  </a:lnTo>
                  <a:lnTo>
                    <a:pt x="2071239" y="416309"/>
                  </a:lnTo>
                  <a:lnTo>
                    <a:pt x="2078750" y="466632"/>
                  </a:lnTo>
                  <a:lnTo>
                    <a:pt x="2081285" y="517822"/>
                  </a:lnTo>
                  <a:lnTo>
                    <a:pt x="2078751" y="569013"/>
                  </a:lnTo>
                  <a:lnTo>
                    <a:pt x="2071241" y="619336"/>
                  </a:lnTo>
                  <a:lnTo>
                    <a:pt x="2058896" y="668453"/>
                  </a:lnTo>
                  <a:lnTo>
                    <a:pt x="2041856" y="716022"/>
                  </a:lnTo>
                  <a:lnTo>
                    <a:pt x="2020263" y="761705"/>
                  </a:lnTo>
                  <a:lnTo>
                    <a:pt x="1994257" y="805161"/>
                  </a:lnTo>
                  <a:lnTo>
                    <a:pt x="1963980" y="846051"/>
                  </a:lnTo>
                  <a:lnTo>
                    <a:pt x="1929572" y="884035"/>
                  </a:lnTo>
                  <a:lnTo>
                    <a:pt x="1891580" y="918434"/>
                  </a:lnTo>
                  <a:lnTo>
                    <a:pt x="1850685" y="948701"/>
                  </a:lnTo>
                  <a:lnTo>
                    <a:pt x="1807225" y="974696"/>
                  </a:lnTo>
                  <a:lnTo>
                    <a:pt x="1761541" y="996277"/>
                  </a:lnTo>
                  <a:lnTo>
                    <a:pt x="1713972" y="1013305"/>
                  </a:lnTo>
                  <a:lnTo>
                    <a:pt x="1664859" y="1025638"/>
                  </a:lnTo>
                  <a:lnTo>
                    <a:pt x="1614538" y="1033045"/>
                  </a:lnTo>
                </a:path>
              </a:pathLst>
            </a:custGeom>
            <a:ln w="19049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756464" y="4860928"/>
            <a:ext cx="1938020" cy="2087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15900"/>
              </a:lnSpc>
              <a:spcBef>
                <a:spcPts val="95"/>
              </a:spcBef>
            </a:pPr>
            <a:r>
              <a:rPr dirty="0" sz="1600" spc="-10">
                <a:solidFill>
                  <a:srgbClr val="F4F4F4"/>
                </a:solidFill>
                <a:latin typeface="Lucida Sans Unicode"/>
                <a:cs typeface="Lucida Sans Unicode"/>
              </a:rPr>
              <a:t>INTERACTIVE </a:t>
            </a:r>
            <a:r>
              <a:rPr dirty="0" sz="1600">
                <a:solidFill>
                  <a:srgbClr val="F4F4F4"/>
                </a:solidFill>
                <a:latin typeface="Lucida Sans Unicode"/>
                <a:cs typeface="Lucida Sans Unicode"/>
              </a:rPr>
              <a:t>CHARTS</a:t>
            </a:r>
            <a:r>
              <a:rPr dirty="0" sz="1600" spc="270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10">
                <a:solidFill>
                  <a:srgbClr val="F4F4F4"/>
                </a:solidFill>
                <a:latin typeface="Lucida Sans Unicode"/>
                <a:cs typeface="Lucida Sans Unicode"/>
              </a:rPr>
              <a:t>VISUALIZE PATIENT DISTRIBUTION</a:t>
            </a:r>
            <a:endParaRPr sz="1600">
              <a:latin typeface="Lucida Sans Unicode"/>
              <a:cs typeface="Lucida Sans Unicode"/>
            </a:endParaRPr>
          </a:p>
          <a:p>
            <a:pPr algn="ctr" marL="260350" marR="324485" indent="71755">
              <a:lnSpc>
                <a:spcPct val="115100"/>
              </a:lnSpc>
              <a:spcBef>
                <a:spcPts val="1805"/>
              </a:spcBef>
            </a:pPr>
            <a:r>
              <a:rPr dirty="0" sz="2000" spc="-10">
                <a:solidFill>
                  <a:srgbClr val="F4F4F4"/>
                </a:solidFill>
                <a:latin typeface="Lucida Sans Unicode"/>
                <a:cs typeface="Lucida Sans Unicode"/>
              </a:rPr>
              <a:t>TABLEAU </a:t>
            </a:r>
            <a:r>
              <a:rPr dirty="0" sz="2000" spc="45">
                <a:solidFill>
                  <a:srgbClr val="F4F4F4"/>
                </a:solidFill>
                <a:latin typeface="Lucida Sans Unicode"/>
                <a:cs typeface="Lucida Sans Unicode"/>
              </a:rPr>
              <a:t>FORECAST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Dashbaord</a:t>
            </a:r>
            <a:r>
              <a:rPr dirty="0" spc="-1160"/>
              <a:t> </a:t>
            </a:r>
            <a:r>
              <a:rPr dirty="0" spc="-10"/>
              <a:t>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5" y="1019170"/>
            <a:ext cx="18293080" cy="8249284"/>
            <a:chOff x="-9525" y="1019170"/>
            <a:chExt cx="18293080" cy="8249284"/>
          </a:xfrm>
        </p:grpSpPr>
        <p:sp>
          <p:nvSpPr>
            <p:cNvPr id="3" name="object 3"/>
            <p:cNvSpPr/>
            <p:nvPr/>
          </p:nvSpPr>
          <p:spPr>
            <a:xfrm>
              <a:off x="4762" y="5143499"/>
              <a:ext cx="18278475" cy="0"/>
            </a:xfrm>
            <a:custGeom>
              <a:avLst/>
              <a:gdLst/>
              <a:ahLst/>
              <a:cxnLst/>
              <a:rect l="l" t="t" r="r" b="b"/>
              <a:pathLst>
                <a:path w="18278475" h="0">
                  <a:moveTo>
                    <a:pt x="0" y="0"/>
                  </a:moveTo>
                  <a:lnTo>
                    <a:pt x="18278473" y="0"/>
                  </a:lnTo>
                </a:path>
              </a:pathLst>
            </a:custGeom>
            <a:ln w="9524">
              <a:solidFill>
                <a:srgbClr val="F4F4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28699"/>
              <a:ext cx="8526985" cy="82295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8695"/>
              <a:ext cx="8526780" cy="8230234"/>
            </a:xfrm>
            <a:custGeom>
              <a:avLst/>
              <a:gdLst/>
              <a:ahLst/>
              <a:cxnLst/>
              <a:rect l="l" t="t" r="r" b="b"/>
              <a:pathLst>
                <a:path w="8526780" h="8230234">
                  <a:moveTo>
                    <a:pt x="0" y="50"/>
                  </a:moveTo>
                  <a:lnTo>
                    <a:pt x="7945853" y="0"/>
                  </a:lnTo>
                  <a:lnTo>
                    <a:pt x="7993511" y="1918"/>
                  </a:lnTo>
                  <a:lnTo>
                    <a:pt x="8040109" y="7589"/>
                  </a:lnTo>
                  <a:lnTo>
                    <a:pt x="8085498" y="16864"/>
                  </a:lnTo>
                  <a:lnTo>
                    <a:pt x="8129528" y="29594"/>
                  </a:lnTo>
                  <a:lnTo>
                    <a:pt x="8172048" y="45630"/>
                  </a:lnTo>
                  <a:lnTo>
                    <a:pt x="8212911" y="64821"/>
                  </a:lnTo>
                  <a:lnTo>
                    <a:pt x="8251964" y="87018"/>
                  </a:lnTo>
                  <a:lnTo>
                    <a:pt x="8289060" y="112072"/>
                  </a:lnTo>
                  <a:lnTo>
                    <a:pt x="8324047" y="139833"/>
                  </a:lnTo>
                  <a:lnTo>
                    <a:pt x="8356777" y="170151"/>
                  </a:lnTo>
                  <a:lnTo>
                    <a:pt x="8387100" y="202877"/>
                  </a:lnTo>
                  <a:lnTo>
                    <a:pt x="8414866" y="237862"/>
                  </a:lnTo>
                  <a:lnTo>
                    <a:pt x="8439925" y="274955"/>
                  </a:lnTo>
                  <a:lnTo>
                    <a:pt x="8462128" y="314007"/>
                  </a:lnTo>
                  <a:lnTo>
                    <a:pt x="8481325" y="354869"/>
                  </a:lnTo>
                  <a:lnTo>
                    <a:pt x="8497366" y="397390"/>
                  </a:lnTo>
                  <a:lnTo>
                    <a:pt x="8510102" y="441421"/>
                  </a:lnTo>
                  <a:lnTo>
                    <a:pt x="8519383" y="486812"/>
                  </a:lnTo>
                  <a:lnTo>
                    <a:pt x="8525060" y="533413"/>
                  </a:lnTo>
                  <a:lnTo>
                    <a:pt x="8526159" y="563482"/>
                  </a:lnTo>
                </a:path>
                <a:path w="8526780" h="8230234">
                  <a:moveTo>
                    <a:pt x="8526203" y="7666127"/>
                  </a:moveTo>
                  <a:lnTo>
                    <a:pt x="8519384" y="7742804"/>
                  </a:lnTo>
                  <a:lnTo>
                    <a:pt x="8510101" y="7788195"/>
                  </a:lnTo>
                  <a:lnTo>
                    <a:pt x="8497364" y="7832226"/>
                  </a:lnTo>
                  <a:lnTo>
                    <a:pt x="8481321" y="7874746"/>
                  </a:lnTo>
                  <a:lnTo>
                    <a:pt x="8462123" y="7915607"/>
                  </a:lnTo>
                  <a:lnTo>
                    <a:pt x="8439919" y="7954658"/>
                  </a:lnTo>
                  <a:lnTo>
                    <a:pt x="8414859" y="7991751"/>
                  </a:lnTo>
                  <a:lnTo>
                    <a:pt x="8387093" y="8026734"/>
                  </a:lnTo>
                  <a:lnTo>
                    <a:pt x="8356769" y="8059459"/>
                  </a:lnTo>
                  <a:lnTo>
                    <a:pt x="8324039" y="8089776"/>
                  </a:lnTo>
                  <a:lnTo>
                    <a:pt x="8289051" y="8117536"/>
                  </a:lnTo>
                  <a:lnTo>
                    <a:pt x="8251955" y="8142588"/>
                  </a:lnTo>
                  <a:lnTo>
                    <a:pt x="8212902" y="8164784"/>
                  </a:lnTo>
                  <a:lnTo>
                    <a:pt x="8172040" y="8183974"/>
                  </a:lnTo>
                  <a:lnTo>
                    <a:pt x="8129520" y="8200008"/>
                  </a:lnTo>
                  <a:lnTo>
                    <a:pt x="8085491" y="8212737"/>
                  </a:lnTo>
                  <a:lnTo>
                    <a:pt x="8040103" y="8222011"/>
                  </a:lnTo>
                  <a:lnTo>
                    <a:pt x="7993506" y="8227681"/>
                  </a:lnTo>
                  <a:lnTo>
                    <a:pt x="7945853" y="8229607"/>
                  </a:lnTo>
                  <a:lnTo>
                    <a:pt x="0" y="8229557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482218" y="1817910"/>
            <a:ext cx="5563870" cy="12179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800"/>
              <a:t>Key</a:t>
            </a:r>
            <a:r>
              <a:rPr dirty="0" sz="7800" spc="-1025"/>
              <a:t> </a:t>
            </a:r>
            <a:r>
              <a:rPr dirty="0" sz="7800" spc="-155"/>
              <a:t>Insights</a:t>
            </a:r>
            <a:endParaRPr sz="7800"/>
          </a:p>
        </p:txBody>
      </p:sp>
      <p:sp>
        <p:nvSpPr>
          <p:cNvPr id="7" name="object 7"/>
          <p:cNvSpPr txBox="1"/>
          <p:nvPr/>
        </p:nvSpPr>
        <p:spPr>
          <a:xfrm>
            <a:off x="9482218" y="2759197"/>
            <a:ext cx="5046980" cy="2159000"/>
          </a:xfrm>
          <a:prstGeom prst="rect">
            <a:avLst/>
          </a:prstGeom>
        </p:spPr>
        <p:txBody>
          <a:bodyPr wrap="square" lIns="0" tIns="262890" rIns="0" bIns="0" rtlCol="0" vert="horz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2070"/>
              </a:spcBef>
            </a:pPr>
            <a:r>
              <a:rPr dirty="0" sz="7800" spc="484">
                <a:solidFill>
                  <a:srgbClr val="F4F4F4"/>
                </a:solidFill>
                <a:latin typeface="Lucida Sans Unicode"/>
                <a:cs typeface="Lucida Sans Unicode"/>
              </a:rPr>
              <a:t>&amp;</a:t>
            </a:r>
            <a:r>
              <a:rPr dirty="0" sz="7800" spc="-1095">
                <a:solidFill>
                  <a:srgbClr val="F4F4F4"/>
                </a:solidFill>
                <a:latin typeface="Lucida Sans Unicode"/>
                <a:cs typeface="Lucida Sans Unicode"/>
              </a:rPr>
              <a:t> </a:t>
            </a:r>
            <a:r>
              <a:rPr dirty="0" sz="7800" spc="-70">
                <a:solidFill>
                  <a:srgbClr val="F4F4F4"/>
                </a:solidFill>
                <a:latin typeface="Lucida Sans Unicode"/>
                <a:cs typeface="Lucida Sans Unicode"/>
              </a:rPr>
              <a:t>Business </a:t>
            </a:r>
            <a:r>
              <a:rPr dirty="0" sz="7800" spc="135">
                <a:solidFill>
                  <a:srgbClr val="F4F4F4"/>
                </a:solidFill>
                <a:latin typeface="Lucida Sans Unicode"/>
                <a:cs typeface="Lucida Sans Unicode"/>
              </a:rPr>
              <a:t>Impact</a:t>
            </a:r>
            <a:endParaRPr sz="780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468" y="6005436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13969" y="5853100"/>
            <a:ext cx="1912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dashboard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87495" y="5853100"/>
            <a:ext cx="5076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identifies</a:t>
            </a:r>
            <a:r>
              <a:rPr dirty="0" sz="2000" spc="39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departments</a:t>
            </a:r>
            <a:r>
              <a:rPr dirty="0" sz="2000" spc="39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with</a:t>
            </a:r>
            <a:r>
              <a:rPr dirty="0" sz="2000" spc="3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39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highest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468" y="7062711"/>
            <a:ext cx="76200" cy="761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13969" y="6157823"/>
            <a:ext cx="1894839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33679">
              <a:lnSpc>
                <a:spcPct val="115599"/>
              </a:lnSpc>
              <a:spcBef>
                <a:spcPts val="100"/>
              </a:spcBef>
              <a:tabLst>
                <a:tab pos="1087120" algn="l"/>
              </a:tabLst>
            </a:pP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patient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load,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efficiently.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1258570" algn="l"/>
              </a:tabLst>
            </a:pP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Disease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trend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09737" y="6205525"/>
            <a:ext cx="5254625" cy="1035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1108710" algn="l"/>
                <a:tab pos="2898140" algn="l"/>
                <a:tab pos="4071620" algn="l"/>
              </a:tabLst>
            </a:pP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helping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management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allocate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resources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0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tabLst>
                <a:tab pos="1247775" algn="l"/>
                <a:tab pos="2694940" algn="l"/>
                <a:tab pos="4027170" algn="l"/>
              </a:tabLst>
            </a:pP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analysis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highlights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common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medical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468" y="7767561"/>
            <a:ext cx="76200" cy="761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468" y="8472411"/>
            <a:ext cx="76200" cy="761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468" y="9177261"/>
            <a:ext cx="76200" cy="761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913969" y="7215099"/>
            <a:ext cx="7150734" cy="2492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  <a:tabLst>
                <a:tab pos="1215390" algn="l"/>
                <a:tab pos="2646680" algn="l"/>
                <a:tab pos="3835400" algn="l"/>
                <a:tab pos="5120005" algn="l"/>
                <a:tab pos="6698615" algn="l"/>
              </a:tabLst>
            </a:pP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conditions,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enabling preventive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healthcare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initiatives. Monthly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admission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analysis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supports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forecasting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improves 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hospital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capacity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planning.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  <a:tabLst>
                <a:tab pos="1483360" algn="l"/>
                <a:tab pos="2858135" algn="l"/>
                <a:tab pos="3930650" algn="l"/>
                <a:tab pos="5249545" algn="l"/>
              </a:tabLst>
            </a:pP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Revenue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analysis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helps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identify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high-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performing departments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areas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requiring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operational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improvement.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4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dashboard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enhances</a:t>
            </a:r>
            <a:r>
              <a:rPr dirty="0" sz="2000" spc="4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decision-making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by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providing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clear,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 interactive,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actionable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healthcare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insights.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6731910"/>
            <a:ext cx="5758815" cy="1328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50" spc="-90">
                <a:solidFill>
                  <a:srgbClr val="F4F4F4"/>
                </a:solidFill>
                <a:latin typeface="Lucida Sans Unicode"/>
                <a:cs typeface="Lucida Sans Unicode"/>
              </a:rPr>
              <a:t>Conclusion</a:t>
            </a:r>
            <a:endParaRPr sz="855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3907" y="5685155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64172" y="5485117"/>
            <a:ext cx="220980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735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Records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Analysis </a:t>
            </a:r>
            <a:r>
              <a:rPr dirty="0" sz="2000" spc="-20">
                <a:solidFill>
                  <a:srgbClr val="F4F4F4"/>
                </a:solidFill>
                <a:latin typeface="Verdana"/>
                <a:cs typeface="Verdana"/>
              </a:rPr>
              <a:t>patient</a:t>
            </a:r>
            <a:r>
              <a:rPr dirty="0" sz="2000" spc="43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data</a:t>
            </a:r>
            <a:r>
              <a:rPr dirty="0" sz="2000" spc="4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into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9453" y="5485117"/>
            <a:ext cx="1315085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065">
              <a:lnSpc>
                <a:spcPct val="115599"/>
              </a:lnSpc>
              <a:spcBef>
                <a:spcPts val="100"/>
              </a:spcBef>
            </a:pP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Dashboard 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meaningful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3408" y="5485117"/>
            <a:ext cx="2703195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Hospital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Patient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successfully</a:t>
            </a:r>
            <a:r>
              <a:rPr dirty="0" sz="2000" spc="17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converts 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visual</a:t>
            </a: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insights.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3907" y="6742430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3907" y="7799705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3907" y="8504555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3907" y="9209405"/>
            <a:ext cx="76200" cy="76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003408" y="6542392"/>
            <a:ext cx="6560820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The</a:t>
            </a:r>
            <a:r>
              <a:rPr dirty="0" sz="2000" spc="13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project</a:t>
            </a:r>
            <a:r>
              <a:rPr dirty="0" sz="2000" spc="13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improves</a:t>
            </a:r>
            <a:r>
              <a:rPr dirty="0" sz="2000" spc="13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understanding</a:t>
            </a:r>
            <a:r>
              <a:rPr dirty="0" sz="2000" spc="13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of</a:t>
            </a:r>
            <a:r>
              <a:rPr dirty="0" sz="2000" spc="14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patient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demographics,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F4F4F4"/>
                </a:solidFill>
                <a:latin typeface="Verdana"/>
                <a:cs typeface="Verdana"/>
              </a:rPr>
              <a:t>department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performance,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hospital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revenue.</a:t>
            </a:r>
            <a:endParaRPr sz="2000">
              <a:latin typeface="Verdana"/>
              <a:cs typeface="Verdana"/>
            </a:endParaRPr>
          </a:p>
          <a:p>
            <a:pPr algn="just" marL="12700" marR="5080">
              <a:lnSpc>
                <a:spcPct val="115599"/>
              </a:lnSpc>
            </a:pP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Interactive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dashboards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enable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faster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analysis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4F4F4"/>
                </a:solidFill>
                <a:latin typeface="Verdana"/>
                <a:cs typeface="Verdana"/>
              </a:rPr>
              <a:t>more 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informed </a:t>
            </a:r>
            <a:r>
              <a:rPr dirty="0" sz="2000" spc="-135">
                <a:solidFill>
                  <a:srgbClr val="F4F4F4"/>
                </a:solidFill>
                <a:latin typeface="Verdana"/>
                <a:cs typeface="Verdana"/>
              </a:rPr>
              <a:t>management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F4F4F4"/>
                </a:solidFill>
                <a:latin typeface="Verdana"/>
                <a:cs typeface="Verdana"/>
              </a:rPr>
              <a:t>decisions.</a:t>
            </a:r>
            <a:endParaRPr sz="2000">
              <a:latin typeface="Verdana"/>
              <a:cs typeface="Verdana"/>
            </a:endParaRPr>
          </a:p>
          <a:p>
            <a:pPr algn="just" marL="12700" marR="5080">
              <a:lnSpc>
                <a:spcPct val="115599"/>
              </a:lnSpc>
            </a:pP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Forecasting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features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help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F4F4F4"/>
                </a:solidFill>
                <a:latin typeface="Verdana"/>
                <a:cs typeface="Verdana"/>
              </a:rPr>
              <a:t>hospitals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F4F4F4"/>
                </a:solidFill>
                <a:latin typeface="Verdana"/>
                <a:cs typeface="Verdana"/>
              </a:rPr>
              <a:t>prepare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for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future 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patient</a:t>
            </a: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0">
                <a:solidFill>
                  <a:srgbClr val="F4F4F4"/>
                </a:solidFill>
                <a:latin typeface="Verdana"/>
                <a:cs typeface="Verdana"/>
              </a:rPr>
              <a:t>admissions</a:t>
            </a: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105">
                <a:solidFill>
                  <a:srgbClr val="F4F4F4"/>
                </a:solidFill>
                <a:latin typeface="Verdana"/>
                <a:cs typeface="Verdana"/>
              </a:rPr>
              <a:t>and</a:t>
            </a: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resource</a:t>
            </a:r>
            <a:r>
              <a:rPr dirty="0" sz="2000" spc="-114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requirements.</a:t>
            </a:r>
            <a:endParaRPr sz="20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375"/>
              </a:spcBef>
            </a:pPr>
            <a:r>
              <a:rPr dirty="0" sz="2000" spc="-120">
                <a:solidFill>
                  <a:srgbClr val="F4F4F4"/>
                </a:solidFill>
                <a:latin typeface="Verdana"/>
                <a:cs typeface="Verdana"/>
              </a:rPr>
              <a:t>Overall,</a:t>
            </a:r>
            <a:r>
              <a:rPr dirty="0" sz="2000" spc="-5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60">
                <a:solidFill>
                  <a:srgbClr val="F4F4F4"/>
                </a:solidFill>
                <a:latin typeface="Verdana"/>
                <a:cs typeface="Verdana"/>
              </a:rPr>
              <a:t>this</a:t>
            </a:r>
            <a:r>
              <a:rPr dirty="0" sz="2000" spc="-11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project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demonstrates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F4F4F4"/>
                </a:solidFill>
                <a:latin typeface="Verdana"/>
                <a:cs typeface="Verdana"/>
              </a:rPr>
              <a:t>how</a:t>
            </a:r>
            <a:r>
              <a:rPr dirty="0" sz="2000" spc="-9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Tableau</a:t>
            </a:r>
            <a:r>
              <a:rPr dirty="0" sz="2000" spc="-8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can</a:t>
            </a:r>
            <a:r>
              <a:rPr dirty="0" sz="2000" spc="-8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F4F4F4"/>
                </a:solidFill>
                <a:latin typeface="Verdana"/>
                <a:cs typeface="Verdana"/>
              </a:rPr>
              <a:t>be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03408" y="9361792"/>
            <a:ext cx="656082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used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to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20">
                <a:solidFill>
                  <a:srgbClr val="F4F4F4"/>
                </a:solidFill>
                <a:latin typeface="Verdana"/>
                <a:cs typeface="Verdana"/>
              </a:rPr>
              <a:t>support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F4F4F4"/>
                </a:solidFill>
                <a:latin typeface="Verdana"/>
                <a:cs typeface="Verdana"/>
              </a:rPr>
              <a:t>efficient</a:t>
            </a:r>
            <a:r>
              <a:rPr dirty="0" sz="2000" spc="-75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hospital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40">
                <a:solidFill>
                  <a:srgbClr val="F4F4F4"/>
                </a:solidFill>
                <a:latin typeface="Verdana"/>
                <a:cs typeface="Verdana"/>
              </a:rPr>
              <a:t>operations</a:t>
            </a:r>
            <a:r>
              <a:rPr dirty="0" sz="2000" spc="-70">
                <a:solidFill>
                  <a:srgbClr val="F4F4F4"/>
                </a:solidFill>
                <a:latin typeface="Verdana"/>
                <a:cs typeface="Verdana"/>
              </a:rPr>
              <a:t>  </a:t>
            </a:r>
            <a:r>
              <a:rPr dirty="0" sz="2000" spc="-25">
                <a:solidFill>
                  <a:srgbClr val="F4F4F4"/>
                </a:solidFill>
                <a:latin typeface="Verdana"/>
                <a:cs typeface="Verdana"/>
              </a:rPr>
              <a:t>and </a:t>
            </a:r>
            <a:r>
              <a:rPr dirty="0" sz="2000" spc="-125">
                <a:solidFill>
                  <a:srgbClr val="F4F4F4"/>
                </a:solidFill>
                <a:latin typeface="Verdana"/>
                <a:cs typeface="Verdana"/>
              </a:rPr>
              <a:t>improve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F4F4F4"/>
                </a:solidFill>
                <a:latin typeface="Verdana"/>
                <a:cs typeface="Verdana"/>
              </a:rPr>
              <a:t>patient</a:t>
            </a:r>
            <a:r>
              <a:rPr dirty="0" sz="2000" spc="-1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F4F4F4"/>
                </a:solidFill>
                <a:latin typeface="Verdana"/>
                <a:cs typeface="Verdana"/>
              </a:rPr>
              <a:t>care.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Ezhilarasi Saraswathi</dc:creator>
  <cp:keywords>DAHO3Z365tM,BAF1UqrMqs4,0</cp:keywords>
  <dc:title>HOSPITAL PATIENT RECORDS DASHBOARD</dc:title>
  <dcterms:created xsi:type="dcterms:W3CDTF">2026-07-09T06:59:16Z</dcterms:created>
  <dcterms:modified xsi:type="dcterms:W3CDTF">2026-07-09T06:59:16Z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2026-07-09T00:00:00Z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2026-07-09T00:00:00Z</vt:filetime>
  </property>
  <property fmtid="{D5CDD505-2E9C-101B-9397-08002B2CF9AE}" pid="6" name="Producer">
    <vt:lpwstr>Canva</vt:lpwstr>
  </property>
</Properties>
</file>