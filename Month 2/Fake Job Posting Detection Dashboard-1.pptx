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7A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1E-49D7-ADB9-FF5E5F099167}"/>
              </c:ext>
            </c:extLst>
          </c:dPt>
          <c:dPt>
            <c:idx val="1"/>
            <c:bubble3D val="0"/>
            <c:spPr>
              <a:solidFill>
                <a:srgbClr val="9900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1E-49D7-ADB9-FF5E5F099167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61E-49D7-ADB9-FF5E5F099167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61E-49D7-ADB9-FF5E5F099167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Genuine</c:v>
                </c:pt>
                <c:pt idx="1">
                  <c:v>Fraudulent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1E-49D7-ADB9-FF5E5F0991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Fraudulent Postings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Unknown / Unlisted</c:v>
                </c:pt>
                <c:pt idx="1">
                  <c:v>Information Technology</c:v>
                </c:pt>
                <c:pt idx="2">
                  <c:v>Internet</c:v>
                </c:pt>
                <c:pt idx="3">
                  <c:v>Financial Services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418</c:v>
                </c:pt>
                <c:pt idx="1">
                  <c:v>147</c:v>
                </c:pt>
                <c:pt idx="2">
                  <c:v>83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88-4625-AFFE-24D4141EF9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B6B6B"/>
                    </a:solidFill>
                    <a:latin typeface="Arial"/>
                  </a:rPr>
                  <a:t>Fraudulent Postings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Part-time</c:v>
                </c:pt>
                <c:pt idx="1">
                  <c:v>Contract</c:v>
                </c:pt>
                <c:pt idx="2">
                  <c:v>Full-time</c:v>
                </c:pt>
                <c:pt idx="3">
                  <c:v>Other</c:v>
                </c:pt>
                <c:pt idx="4">
                  <c:v>Unknown</c:v>
                </c:pt>
                <c:pt idx="5">
                  <c:v>Temporary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6.5</c:v>
                </c:pt>
                <c:pt idx="1">
                  <c:v>7.4</c:v>
                </c:pt>
                <c:pt idx="2">
                  <c:v>7.6</c:v>
                </c:pt>
                <c:pt idx="3">
                  <c:v>7.8</c:v>
                </c:pt>
                <c:pt idx="4">
                  <c:v>8</c:v>
                </c:pt>
                <c:pt idx="5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3D-4D7E-935D-CB59C611B1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B6B6B"/>
                    </a:solidFill>
                    <a:latin typeface="Arial"/>
                  </a:rPr>
                  <a:t>Fraud Rate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Entry level</c:v>
                </c:pt>
                <c:pt idx="1">
                  <c:v>Executive</c:v>
                </c:pt>
                <c:pt idx="2">
                  <c:v>Associate</c:v>
                </c:pt>
                <c:pt idx="3">
                  <c:v>Unknown</c:v>
                </c:pt>
                <c:pt idx="4">
                  <c:v>Mid-Senior level</c:v>
                </c:pt>
                <c:pt idx="5">
                  <c:v>Internship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7.7</c:v>
                </c:pt>
                <c:pt idx="1">
                  <c:v>7.8</c:v>
                </c:pt>
                <c:pt idx="2">
                  <c:v>8.1</c:v>
                </c:pt>
                <c:pt idx="3">
                  <c:v>8.1</c:v>
                </c:pt>
                <c:pt idx="4">
                  <c:v>8.1999999999999993</c:v>
                </c:pt>
                <c:pt idx="5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9F-495D-93F0-1B1D26686D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B6B6B"/>
                    </a:solidFill>
                    <a:latin typeface="Arial"/>
                  </a:rPr>
                  <a:t>Fraud Rate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39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99001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F3C7E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ANALYTICS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Job Posting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Dashboard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on 17,880 job postings — how fraud shows up by industry, employment type, experience level, and geography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internal fraud-analytics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 through the fraud-detection dashboard, section by section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87452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09160" y="1874520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 and the overall genuine vs. fraudulent split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1106424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87752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587752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by Industry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2587752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carry the most fraudulent postings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00984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300984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by Employment Type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3300984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fraud rate varies across full-time, part-time, and more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1106424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14216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014216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by Required Experience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4014216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fraud rate varies by seniority level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72584"/>
            <a:ext cx="1106424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72744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4727448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Hotspots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09160" y="4727448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sharpest anomalies and the geographic pattern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385816"/>
            <a:ext cx="1106424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44068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63040" y="544068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09160" y="5440680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detection and review effort next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Posting Detection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volume and fraud incidence across the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201168" cy="2011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013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POSTINGS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17,880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03320" y="1828800"/>
            <a:ext cx="201168" cy="201168"/>
          </a:xfrm>
          <a:prstGeom prst="ellipse">
            <a:avLst/>
          </a:prstGeom>
          <a:solidFill>
            <a:srgbClr val="2C7A3F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8013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POSTINGS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0332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16,450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40080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29400" y="1828800"/>
            <a:ext cx="201168" cy="20116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8013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POSTINGS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1,430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932688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55480" y="1828800"/>
            <a:ext cx="201168" cy="20116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0" y="18013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5548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vs. Fraudulent Split</a:t>
            </a:r>
            <a:endParaRPr lang="en-US" sz="16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548640" y="4251960"/>
          <a:ext cx="4206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5074920" y="4251960"/>
            <a:ext cx="6583680" cy="2286000"/>
          </a:xfrm>
          <a:prstGeom prst="roundRect">
            <a:avLst>
              <a:gd name="adj" fmla="val 3200"/>
            </a:avLst>
          </a:prstGeom>
          <a:solidFill>
            <a:srgbClr val="2F3C7E"/>
          </a:solidFill>
          <a:ln/>
        </p:spPr>
      </p:sp>
      <p:sp>
        <p:nvSpPr>
          <p:cNvPr id="23" name="Text 20"/>
          <p:cNvSpPr/>
          <p:nvPr/>
        </p:nvSpPr>
        <p:spPr>
          <a:xfrm>
            <a:off x="5394960" y="4434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394960" y="48463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concentrated, not widespread: </a:t>
            </a: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 in 12 postings (8.0%) is fraudulent.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394960" y="5349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16,450 postings </a:t>
            </a: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verified genuine, giving the model a clear majority baseline to detect against.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394960" y="585216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1,430 fraudulent postings </a:t>
            </a: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true positive pool for pattern analysis across industry, role, and geography.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Posting Detection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Concentration by Industry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fraudulent postings by listed industry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6304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72400" y="2203704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5"/>
          <p:cNvSpPr/>
          <p:nvPr/>
        </p:nvSpPr>
        <p:spPr>
          <a:xfrm>
            <a:off x="7973568" y="2093976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with an unlisted or unknown industry account for the single largest fraud segment — nearly 3x the next category.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0" y="3163824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7"/>
          <p:cNvSpPr/>
          <p:nvPr/>
        </p:nvSpPr>
        <p:spPr>
          <a:xfrm>
            <a:off x="7973568" y="3054096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(147) and Internet (83) roles are common targets, likely due to high applicant volume and remote-work appeal.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0" y="4123944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9"/>
          <p:cNvSpPr/>
          <p:nvPr/>
        </p:nvSpPr>
        <p:spPr>
          <a:xfrm>
            <a:off x="7973568" y="4014216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(50) rounds out the top segments, alongside smaller counts in Computer Software, Marketing &amp; Advertising, and Education Management.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Posting Detection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Rate by Employment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fraud incidence shifts across full-time, part-time, contract, and other roles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6304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72400" y="2203704"/>
            <a:ext cx="82296" cy="8229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5"/>
          <p:cNvSpPr/>
          <p:nvPr/>
        </p:nvSpPr>
        <p:spPr>
          <a:xfrm>
            <a:off x="7973568" y="2093976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roles have the lowest fraud rate (6.5%) — scammers appear to favor postings that look like bigger commitments.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0" y="3163824"/>
            <a:ext cx="82296" cy="8229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7"/>
          <p:cNvSpPr/>
          <p:nvPr/>
        </p:nvSpPr>
        <p:spPr>
          <a:xfrm>
            <a:off x="7973568" y="3054096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and Unknown employment types sit highest (8.0-8.2%), suggesting looser or unclear terms correlate with more fraud.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0" y="4123944"/>
            <a:ext cx="82296" cy="8229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9"/>
          <p:cNvSpPr/>
          <p:nvPr/>
        </p:nvSpPr>
        <p:spPr>
          <a:xfrm>
            <a:off x="7973568" y="4014216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and Contract fall in the middle (7.4-7.6%), close to the overall 8.0% baseline.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Posting Detection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Rate by Required Experience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fraud incidence shifts across seniority levels, from internship to executive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6304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72400" y="2203704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5"/>
          <p:cNvSpPr/>
          <p:nvPr/>
        </p:nvSpPr>
        <p:spPr>
          <a:xfrm>
            <a:off x="7973568" y="2093976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postings carry the highest fraud rate at 9.2% — entry-level applicants with less experience spotting scams are the most targeted group.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0" y="3163824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7"/>
          <p:cNvSpPr/>
          <p:nvPr/>
        </p:nvSpPr>
        <p:spPr>
          <a:xfrm>
            <a:off x="7973568" y="3054096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Mid-Senior level (8.2%), Unknown (8.1%), and Associate (8.1%) cluster just above the 8.0% overall baseline.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0" y="4123944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9"/>
          <p:cNvSpPr/>
          <p:nvPr/>
        </p:nvSpPr>
        <p:spPr>
          <a:xfrm>
            <a:off x="7973568" y="4014216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level (7.7%) and Executive (7.8%) run slightly below baseline, the lowest of the six experience tiers.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Posting Detection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Hotspots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sharpest fraud signals appear when experience and role type intersect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990011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for Director-level roles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as "Other" employment type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416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roles under "Other" employment type — the second-highest cell in the experience × employment-type matrix.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5623560" cy="4114800"/>
          </a:xfrm>
          <a:prstGeom prst="roundRect">
            <a:avLst>
              <a:gd name="adj" fmla="val 2222"/>
            </a:avLst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Spread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2203704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207568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postings appear across nearly every region on the map — this is a global pattern, not one confined to a few countries.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3255264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6556248" y="312724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3,000 fraudulent postings carry no specific location ("unknown"), making location-masking itself a fraud signal worth flagging.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4306824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48" y="417880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fraud is geographically dispersed, location alone is a weak filter — industry, role, and experience signals carry more weight.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Posting Detection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detection and review effort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17647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missing industry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224028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with no industry listed drive the largest fraud segment (418 cases) — require industry selection or auto-flag blanks for review.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6916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06640" y="17647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IT &amp; Internet roles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06640" y="224028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and Internet postings show elevated fraud counts (147 and 83); apply extra verification for these categories.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160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91640" y="42336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Scrutinize "Other" employment type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470916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(20.0%) and Internship (12.3%) postings tagged "Other" show outsized fraud rates — treat this field as a high-risk combination.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4160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06640" y="42336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rely on location filtering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06640" y="470916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spans nearly all regions and 3K+ postings hide their location — weight content and role signals over geography.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Posting Detection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</Words>
  <Application>Microsoft Office PowerPoint</Application>
  <PresentationFormat>Widescreen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Ezhilarasi K</cp:lastModifiedBy>
  <cp:revision>1</cp:revision>
  <dcterms:created xsi:type="dcterms:W3CDTF">2026-08-04T04:31:47Z</dcterms:created>
  <dcterms:modified xsi:type="dcterms:W3CDTF">2026-09-03T05:54:45Z</dcterms:modified>
</cp:coreProperties>
</file>